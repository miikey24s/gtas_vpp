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283f66e2b24528" /><Relationship Type="http://schemas.openxmlformats.org/officeDocument/2006/relationships/extended-properties" Target="/docProps/app.xml" Id="R493a6ac4039f43da" /><Relationship Type="http://schemas.openxmlformats.org/officeDocument/2006/relationships/officeDocument" Target="/ppt/presentation.xml" Id="R11d7e5a4f42543ac" /></Relationships>
</file>

<file path=ppt/presentation.xml><?xml version="1.0" encoding="utf-8"?>
<p:presentation xmlns:p="http://schemas.openxmlformats.org/presentationml/2006/main">
  <p:sldMasterIdLst>
    <p:sldMasterId xmlns:r="http://schemas.openxmlformats.org/officeDocument/2006/relationships" id="2147483648" r:id="Rf8637f6e63dc4523"/>
  </p:sldMasterIdLst>
  <p:notesMasterIdLst>
    <p:notesMasterId xmlns:r="http://schemas.openxmlformats.org/officeDocument/2006/relationships" r:id="R4254e13ca9d942a3"/>
  </p:notesMasterIdLst>
  <p:sldIdLst>
    <p:sldId xmlns:r="http://schemas.openxmlformats.org/officeDocument/2006/relationships" id="256" r:id="R29624843130346b8"/>
    <p:sldId xmlns:r="http://schemas.openxmlformats.org/officeDocument/2006/relationships" id="257" r:id="R7c2699240b484912"/>
    <p:sldId xmlns:r="http://schemas.openxmlformats.org/officeDocument/2006/relationships" id="258" r:id="R4dec33ebee934836"/>
    <p:sldId xmlns:r="http://schemas.openxmlformats.org/officeDocument/2006/relationships" id="259" r:id="R59e5533ac02d48b8"/>
    <p:sldId xmlns:r="http://schemas.openxmlformats.org/officeDocument/2006/relationships" id="260" r:id="R9738297f955c4103"/>
    <p:sldId xmlns:r="http://schemas.openxmlformats.org/officeDocument/2006/relationships" id="261" r:id="Rf448272097be4909"/>
    <p:sldId xmlns:r="http://schemas.openxmlformats.org/officeDocument/2006/relationships" id="262" r:id="R661142db44154803"/>
    <p:sldId xmlns:r="http://schemas.openxmlformats.org/officeDocument/2006/relationships" id="263" r:id="R07356ecc303f47ca"/>
    <p:sldId xmlns:r="http://schemas.openxmlformats.org/officeDocument/2006/relationships" id="264" r:id="R9eb56d8cc2754c3d"/>
    <p:sldId xmlns:r="http://schemas.openxmlformats.org/officeDocument/2006/relationships" id="265" r:id="R95c07d86c0844763"/>
    <p:sldId xmlns:r="http://schemas.openxmlformats.org/officeDocument/2006/relationships" id="266" r:id="R31aee0c67aaa4eb4"/>
    <p:sldId xmlns:r="http://schemas.openxmlformats.org/officeDocument/2006/relationships" id="267" r:id="Rb93c9fce88a84cde"/>
    <p:sldId xmlns:r="http://schemas.openxmlformats.org/officeDocument/2006/relationships" id="268" r:id="R0d2972ceb7fe4dae"/>
    <p:sldId xmlns:r="http://schemas.openxmlformats.org/officeDocument/2006/relationships" id="269" r:id="R7c7174eee4dc4eae"/>
    <p:sldId xmlns:r="http://schemas.openxmlformats.org/officeDocument/2006/relationships" id="270" r:id="R323ba320e3f744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82af0dbd8441d7" /><Relationship Type="http://schemas.openxmlformats.org/officeDocument/2006/relationships/slideMaster" Target="/ppt/slideMasters/slideMaster1.xml" Id="Rf8637f6e63dc4523" /><Relationship Type="http://schemas.openxmlformats.org/officeDocument/2006/relationships/notesMaster" Target="/ppt/notesMasters/notesMaster1.xml" Id="R4254e13ca9d942a3" /><Relationship Type="http://schemas.openxmlformats.org/officeDocument/2006/relationships/presProps" Target="/ppt/presProps.xml" Id="Rd0c349397621423e" /><Relationship Type="http://schemas.openxmlformats.org/officeDocument/2006/relationships/tableStyles" Target="/ppt/tableStyles.xml" Id="R31fcc88557234f82" /><Relationship Type="http://schemas.openxmlformats.org/officeDocument/2006/relationships/slide" Target="/ppt/slides/slide1.xml" Id="R29624843130346b8" /><Relationship Type="http://schemas.openxmlformats.org/officeDocument/2006/relationships/slide" Target="/ppt/slides/slide2.xml" Id="R7c2699240b484912" /><Relationship Type="http://schemas.openxmlformats.org/officeDocument/2006/relationships/slide" Target="/ppt/slides/slide3.xml" Id="R4dec33ebee934836" /><Relationship Type="http://schemas.openxmlformats.org/officeDocument/2006/relationships/slide" Target="/ppt/slides/slide4.xml" Id="R59e5533ac02d48b8" /><Relationship Type="http://schemas.openxmlformats.org/officeDocument/2006/relationships/slide" Target="/ppt/slides/slide5.xml" Id="R9738297f955c4103" /><Relationship Type="http://schemas.openxmlformats.org/officeDocument/2006/relationships/slide" Target="/ppt/slides/slide6.xml" Id="Rf448272097be4909" /><Relationship Type="http://schemas.openxmlformats.org/officeDocument/2006/relationships/slide" Target="/ppt/slides/slide7.xml" Id="R661142db44154803" /><Relationship Type="http://schemas.openxmlformats.org/officeDocument/2006/relationships/slide" Target="/ppt/slides/slide8.xml" Id="R07356ecc303f47ca" /><Relationship Type="http://schemas.openxmlformats.org/officeDocument/2006/relationships/slide" Target="/ppt/slides/slide9.xml" Id="R9eb56d8cc2754c3d" /><Relationship Type="http://schemas.openxmlformats.org/officeDocument/2006/relationships/slide" Target="/ppt/slides/slide10.xml" Id="R95c07d86c0844763" /><Relationship Type="http://schemas.openxmlformats.org/officeDocument/2006/relationships/slide" Target="/ppt/slides/slide11.xml" Id="R31aee0c67aaa4eb4" /><Relationship Type="http://schemas.openxmlformats.org/officeDocument/2006/relationships/slide" Target="/ppt/slides/slide12.xml" Id="Rb93c9fce88a84cde" /><Relationship Type="http://schemas.openxmlformats.org/officeDocument/2006/relationships/slide" Target="/ppt/slides/slide13.xml" Id="R0d2972ceb7fe4dae" /><Relationship Type="http://schemas.openxmlformats.org/officeDocument/2006/relationships/slide" Target="/ppt/slides/slide14.xml" Id="R7c7174eee4dc4eae" /><Relationship Type="http://schemas.openxmlformats.org/officeDocument/2006/relationships/slide" Target="/ppt/slides/slide15.xml" Id="R323ba320e3f744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6e8a45f7994b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072cee43dc40ab" /><Relationship Type="http://schemas.openxmlformats.org/officeDocument/2006/relationships/notesMaster" Target="/ppt/notesMasters/notesMaster1.xml" Id="Rd38af9d4a2dc4b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9effef00364b81" /><Relationship Type="http://schemas.openxmlformats.org/officeDocument/2006/relationships/notesMaster" Target="/ppt/notesMasters/notesMaster1.xml" Id="R925aee8e9b4249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e93caf7d70471c" /><Relationship Type="http://schemas.openxmlformats.org/officeDocument/2006/relationships/notesMaster" Target="/ppt/notesMasters/notesMaster1.xml" Id="Rc1467ea61b8c46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b61e886f6a4eac" /><Relationship Type="http://schemas.openxmlformats.org/officeDocument/2006/relationships/notesMaster" Target="/ppt/notesMasters/notesMaster1.xml" Id="R53cd8bdb5a304d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7608f9918043aa" /><Relationship Type="http://schemas.openxmlformats.org/officeDocument/2006/relationships/notesMaster" Target="/ppt/notesMasters/notesMaster1.xml" Id="R593fef35636041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5e1add14ab454a" /><Relationship Type="http://schemas.openxmlformats.org/officeDocument/2006/relationships/notesMaster" Target="/ppt/notesMasters/notesMaster1.xml" Id="Rcbec687a33d046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cd7825d4804772" /><Relationship Type="http://schemas.openxmlformats.org/officeDocument/2006/relationships/notesMaster" Target="/ppt/notesMasters/notesMaster1.xml" Id="R45c7a13f636d4f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a06de7a6c8489f" /><Relationship Type="http://schemas.openxmlformats.org/officeDocument/2006/relationships/notesMaster" Target="/ppt/notesMasters/notesMaster1.xml" Id="R0053db83eb1d42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310039de1e41ca" /><Relationship Type="http://schemas.openxmlformats.org/officeDocument/2006/relationships/notesMaster" Target="/ppt/notesMasters/notesMaster1.xml" Id="R0306322e4b9946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7de5ae3ded430f" /><Relationship Type="http://schemas.openxmlformats.org/officeDocument/2006/relationships/notesMaster" Target="/ppt/notesMasters/notesMaster1.xml" Id="Rc0c614ecbdc344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cb917cb8dd4cf7" /><Relationship Type="http://schemas.openxmlformats.org/officeDocument/2006/relationships/notesMaster" Target="/ppt/notesMasters/notesMaster1.xml" Id="R8b66c1aeb62b4f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2b692835564e95" /><Relationship Type="http://schemas.openxmlformats.org/officeDocument/2006/relationships/notesMaster" Target="/ppt/notesMasters/notesMaster1.xml" Id="R0f72476bfa2243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c36463fe99419f" /><Relationship Type="http://schemas.openxmlformats.org/officeDocument/2006/relationships/notesMaster" Target="/ppt/notesMasters/notesMaster1.xml" Id="R4c7ca43c0b3a4f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b369d726594fb6" /><Relationship Type="http://schemas.openxmlformats.org/officeDocument/2006/relationships/notesMaster" Target="/ppt/notesMasters/notesMaster1.xml" Id="Rd2f2fdb173c3479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bdf544b27349f8" /><Relationship Type="http://schemas.openxmlformats.org/officeDocument/2006/relationships/notesMaster" Target="/ppt/notesMasters/notesMaster1.xml" Id="R1de5a98922a044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Giới thiệu ngắn đề tài, tên sinh viên và giảng viên hướng dẫn.</a:t>
            </a:r>
          </a:p>
          <a:p xmlns:a="http://schemas.openxmlformats.org/drawingml/2006/main">
            <a:r>
              <a:t>- Thông điệp mở đầu: hệ thống số hóa trọn quy trình yêu cầu văn phòng phẩm theo kỳ.</a:t>
            </a:r>
          </a:p>
          <a:p xmlns:a="http://schemas.openxmlformats.org/drawingml/2006/main">
            <a:r>
              <a:t/>
            </a:r>
          </a:p>
          <a:p xmlns:a="http://schemas.openxmlformats.org/drawingml/2006/main">
            <a:r>
              <a:t>[Sources]</a:t>
            </a:r>
          </a:p>
          <a:p xmlns:a="http://schemas.openxmlformats.org/drawingml/2006/main">
            <a:r>
              <a:t>- D:/WORK/gtas_vpp/LVTN/NguyenAnNam_DH52201078.docx — trang bìa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Nhấn mạnh bài toán là chuỗi nghiệp vụ có ràng buộc, không phải CRUD đơn giản.</a:t>
            </a:r>
          </a:p>
          <a:p xmlns:a="http://schemas.openxmlformats.org/drawingml/2006/main">
            <a:r>
              <a:t>- Nêu ví dụ: cùng một mặt hàng nhưng giá và quyền xem có thể khác theo thời điểm và vai trò.</a:t>
            </a:r>
          </a:p>
          <a:p xmlns:a="http://schemas.openxmlformats.org/drawingml/2006/main">
            <a:r>
              <a:t/>
            </a:r>
          </a:p>
          <a:p xmlns:a="http://schemas.openxmlformats.org/drawingml/2006/main">
            <a:r>
              <a:t>[Sources]</a:t>
            </a:r>
          </a:p>
          <a:p xmlns:a="http://schemas.openxmlformats.org/drawingml/2006/main">
            <a:r>
              <a:t>- D:/WORK/gtas_vpp/LVTN/NguyenAnNam_DH52201078.docx — mục 1.1 và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Giới hạn rõ phạm vi để hội đồng không hiểu đề tài là hệ thống ERP hoặc bán hàng.</a:t>
            </a:r>
          </a:p>
          <a:p xmlns:a="http://schemas.openxmlformats.org/drawingml/2006/main">
            <a:r>
              <a:t>- Ba vai trò được dùng xuyên suốt phần demo và kiểm thử.</a:t>
            </a:r>
          </a:p>
          <a:p xmlns:a="http://schemas.openxmlformats.org/drawingml/2006/main">
            <a:r>
              <a:t/>
            </a:r>
          </a:p>
          <a:p xmlns:a="http://schemas.openxmlformats.org/drawingml/2006/main">
            <a:r>
              <a:t>[Sources]</a:t>
            </a:r>
          </a:p>
          <a:p xmlns:a="http://schemas.openxmlformats.org/drawingml/2006/main">
            <a:r>
              <a:t>- D:/WORK/gtas_vpp/LVTN/NguyenAnNam_DH52201078.docx — mục 1.3, 1.4 và bảng vai trò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Giải thích quy tắc ngày 5 trước, sau đó đi qua bốn trạng thái của kỳ.</a:t>
            </a:r>
          </a:p>
          <a:p xmlns:a="http://schemas.openxmlformats.org/drawingml/2006/main">
            <a:r>
              <a:t>- Nhấn mạnh đơn bổ sung là nhánh ngoại lệ có phê duyệt, không phải sửa trực tiếp đơn cũ.</a:t>
            </a:r>
          </a:p>
          <a:p xmlns:a="http://schemas.openxmlformats.org/drawingml/2006/main">
            <a:r>
              <a:t/>
            </a:r>
          </a:p>
          <a:p xmlns:a="http://schemas.openxmlformats.org/drawingml/2006/main">
            <a:r>
              <a:t>[Sources]</a:t>
            </a:r>
          </a:p>
          <a:p xmlns:a="http://schemas.openxmlformats.org/drawingml/2006/main">
            <a:r>
              <a:t>- D:/WORK/gtas_vpp/LVTN/NguyenAnNam_DH52201078.docx — mục 1.2.1, 1.2.3 và 2.3.1.5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Đi theo mũi tên từ trình duyệt đến Nginx, frontend, backend và cơ sở dữ liệu.</a:t>
            </a:r>
          </a:p>
          <a:p xmlns:a="http://schemas.openxmlformats.org/drawingml/2006/main">
            <a:r>
              <a:t>- Migrator chạy migration và seed trước khi hệ thống phục vụ.</a:t>
            </a:r>
          </a:p>
          <a:p xmlns:a="http://schemas.openxmlformats.org/drawingml/2006/main">
            <a:r>
              <a:t/>
            </a:r>
          </a:p>
          <a:p xmlns:a="http://schemas.openxmlformats.org/drawingml/2006/main">
            <a:r>
              <a:t>[Sources]</a:t>
            </a:r>
          </a:p>
          <a:p xmlns:a="http://schemas.openxmlformats.org/drawingml/2006/main">
            <a:r>
              <a:t>- D:/WORK/gtas_vpp/LVTN/diagrams/ch02/architecture-overview.png</a:t>
            </a:r>
          </a:p>
          <a:p xmlns:a="http://schemas.openxmlformats.org/drawingml/2006/main">
            <a:r>
              <a:t>- D:/WORK/gtas_vpp/LVTN/NguyenAnNam_DH52201078.docx — mục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này giúp trình bày source theo thư mục, tránh giải thích từng file rời rạc.</a:t>
            </a:r>
          </a:p>
          <a:p xmlns:a="http://schemas.openxmlformats.org/drawingml/2006/main">
            <a:r>
              <a:t>- Khi demo một chức năng, đi theo đúng chuỗi Route → API → Application → Domain → Database.</a:t>
            </a:r>
          </a:p>
          <a:p xmlns:a="http://schemas.openxmlformats.org/drawingml/2006/main">
            <a:r>
              <a:t/>
            </a:r>
          </a:p>
          <a:p xmlns:a="http://schemas.openxmlformats.org/drawingml/2006/main">
            <a:r>
              <a:t>[Sources]</a:t>
            </a:r>
          </a:p>
          <a:p xmlns:a="http://schemas.openxmlformats.org/drawingml/2006/main">
            <a:r>
              <a:t>- D:/WORK/gtas_vpp/src/Backend/</a:t>
            </a:r>
          </a:p>
          <a:p xmlns:a="http://schemas.openxmlformats.org/drawingml/2006/main">
            <a:r>
              <a:t>- D:/WORK/gtas_vpp/src/Frontend/Blazor/</a:t>
            </a:r>
          </a:p>
          <a:p xmlns:a="http://schemas.openxmlformats.org/drawingml/2006/main">
            <a:r>
              <a:t>- D:/WORK/gtas_vpp/AGENTS.md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Giải thích ngắn từng thuật ngữ bằng ví dụ thực tế, không đi sâu mã nguồn ở slide này.</a:t>
            </a:r>
          </a:p>
          <a:p xmlns:a="http://schemas.openxmlformats.org/drawingml/2006/main">
            <a:r>
              <a:t>- Kết luận: bảo vệ dữ liệu được thực hiện ở cả service lẫn database.</a:t>
            </a:r>
          </a:p>
          <a:p xmlns:a="http://schemas.openxmlformats.org/drawingml/2006/main">
            <a:r>
              <a:t/>
            </a:r>
          </a:p>
          <a:p xmlns:a="http://schemas.openxmlformats.org/drawingml/2006/main">
            <a:r>
              <a:t>[Sources]</a:t>
            </a:r>
          </a:p>
          <a:p xmlns:a="http://schemas.openxmlformats.org/drawingml/2006/main">
            <a:r>
              <a:t>- D:/WORK/gtas_vpp/LVTN/NguyenAnNam_DH52201078.docx — mục 1.2.2, 1.2.4, 1.2.7 và 3.1.3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Bắt đầu từ màn hình Đơn hàng của tôi, sau đó danh mục và lịch sử.</a:t>
            </a:r>
          </a:p>
          <a:p xmlns:a="http://schemas.openxmlformats.org/drawingml/2006/main">
            <a:r>
              <a:t>- Nhấn mạnh giao diện phản ánh điều kiện nghiệp vụ; ẩn nút không thay thế kiểm tra quyền ở backend.</a:t>
            </a:r>
          </a:p>
          <a:p xmlns:a="http://schemas.openxmlformats.org/drawingml/2006/main">
            <a:r>
              <a:t/>
            </a:r>
          </a:p>
          <a:p xmlns:a="http://schemas.openxmlformats.org/drawingml/2006/main">
            <a:r>
              <a:t>[Sources]</a:t>
            </a:r>
          </a:p>
          <a:p xmlns:a="http://schemas.openxmlformats.org/drawingml/2006/main">
            <a:r>
              <a:t>- C:/Users/MIIKEY/AppData/Local/Temp/gtas-thesis-slides-runtime/ui-dashboard-my-orders.png</a:t>
            </a:r>
          </a:p>
          <a:p xmlns:a="http://schemas.openxmlformats.org/drawingml/2006/main">
            <a:r>
              <a:t>- C:/Users/MIIKEY/AppData/Local/Temp/gtas-thesis-slides-runtime/ui-product-catalog.png</a:t>
            </a:r>
          </a:p>
          <a:p xmlns:a="http://schemas.openxmlformats.org/drawingml/2006/main">
            <a:r>
              <a:t>- C:/Users/MIIKEY/AppData/Local/Temp/gtas-thesis-slides-runtime/ui-order-history.png</a:t>
            </a:r>
          </a:p>
          <a:p xmlns:a="http://schemas.openxmlformats.org/drawingml/2006/main">
            <a:r>
              <a:t>- D:/WORK/gtas_vpp/LVTN/NguyenAnNam_DH52201078.docx — mục 3.3.2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Trình bày theo bốn bước bên phải, dùng màn hình làm bằng chứng triển khai.</a:t>
            </a:r>
          </a:p>
          <a:p xmlns:a="http://schemas.openxmlformats.org/drawingml/2006/main">
            <a:r>
              <a:t>- Nếu hội đồng hỏi đơn bổ sung: đây là hàng chờ riêng và phải xử lý hết trước khi chốt kỳ.</a:t>
            </a:r>
          </a:p>
          <a:p xmlns:a="http://schemas.openxmlformats.org/drawingml/2006/main">
            <a:r>
              <a:t/>
            </a:r>
          </a:p>
          <a:p xmlns:a="http://schemas.openxmlformats.org/drawingml/2006/main">
            <a:r>
              <a:t>[Sources]</a:t>
            </a:r>
          </a:p>
          <a:p xmlns:a="http://schemas.openxmlformats.org/drawingml/2006/main">
            <a:r>
              <a:t>- C:/Users/MIIKEY/AppData/Local/Temp/gtas-thesis-slides-runtime/ui-period-review.png</a:t>
            </a:r>
          </a:p>
          <a:p xmlns:a="http://schemas.openxmlformats.org/drawingml/2006/main">
            <a:r>
              <a:t>- D:/WORK/gtas_vpp/LVTN/NguyenAnNam_DH52201078.docx — mục 3.3.3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Dữ liệu nền được quản lý tập trung thay vì nhập lại trong từng đơn.</a:t>
            </a:r>
          </a:p>
          <a:p xmlns:a="http://schemas.openxmlformats.org/drawingml/2006/main">
            <a:r>
              <a:t>- Ba nhóm chuẩn EMPLOYEE, MANAGER và DEV được ánh xạ quyền thao tác chi tiết.</a:t>
            </a:r>
          </a:p>
          <a:p xmlns:a="http://schemas.openxmlformats.org/drawingml/2006/main">
            <a:r>
              <a:t/>
            </a:r>
          </a:p>
          <a:p xmlns:a="http://schemas.openxmlformats.org/drawingml/2006/main">
            <a:r>
              <a:t>[Sources]</a:t>
            </a:r>
          </a:p>
          <a:p xmlns:a="http://schemas.openxmlformats.org/drawingml/2006/main">
            <a:r>
              <a:t>- C:/Users/MIIKEY/AppData/Local/Temp/gtas-thesis-slides-runtime/ui-library-items.png</a:t>
            </a:r>
          </a:p>
          <a:p xmlns:a="http://schemas.openxmlformats.org/drawingml/2006/main">
            <a:r>
              <a:t>- C:/Users/MIIKEY/AppData/Local/Temp/gtas-thesis-slides-runtime/ui-price-lists.png</a:t>
            </a:r>
          </a:p>
          <a:p xmlns:a="http://schemas.openxmlformats.org/drawingml/2006/main">
            <a:r>
              <a:t>- C:/Users/MIIKEY/AppData/Local/Temp/gtas-thesis-slides-runtime/ui-permission-groups.png</a:t>
            </a:r>
          </a:p>
          <a:p xmlns:a="http://schemas.openxmlformats.org/drawingml/2006/main">
            <a:r>
              <a:t>- D:/WORK/gtas_vpp/LVTN/NguyenAnNam_DH52201078.docx — mục 3.3.4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Chỉ ra KPI trên đầu trang, bộ lọc và ba định dạng xuất ở góc phải.</a:t>
            </a:r>
          </a:p>
          <a:p xmlns:a="http://schemas.openxmlformats.org/drawingml/2006/main">
            <a:r>
              <a:t>- Báo cáo không chỉ xuất file; backend còn kiểm soát phạm vi và dữ liệu có nguy cơ thành công thức.</a:t>
            </a:r>
          </a:p>
          <a:p xmlns:a="http://schemas.openxmlformats.org/drawingml/2006/main">
            <a:r>
              <a:t/>
            </a:r>
          </a:p>
          <a:p xmlns:a="http://schemas.openxmlformats.org/drawingml/2006/main">
            <a:r>
              <a:t>[Sources]</a:t>
            </a:r>
          </a:p>
          <a:p xmlns:a="http://schemas.openxmlformats.org/drawingml/2006/main">
            <a:r>
              <a:t>- C:/Users/MIIKEY/AppData/Local/Temp/gtas-thesis-slides-runtime/ui-report.png</a:t>
            </a:r>
          </a:p>
          <a:p xmlns:a="http://schemas.openxmlformats.org/drawingml/2006/main">
            <a:r>
              <a:t>- D:/WORK/gtas_vpp/LVTN/NguyenAnNam_DH52201078.docx — mục 3.3.5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Không đọc toàn bộ 19 dòng; nêu vài nhóm chính: auth, đơn, bảng giá, chốt kỳ, quyền, báo cáo.</a:t>
            </a:r>
          </a:p>
          <a:p xmlns:a="http://schemas.openxmlformats.org/drawingml/2006/main">
            <a:r>
              <a:t>- Lượt chụp ảnh hiện tại đồng thời xác nhận shell responsive và route thật.</a:t>
            </a:r>
          </a:p>
          <a:p xmlns:a="http://schemas.openxmlformats.org/drawingml/2006/main">
            <a:r>
              <a:t/>
            </a:r>
          </a:p>
          <a:p xmlns:a="http://schemas.openxmlformats.org/drawingml/2006/main">
            <a:r>
              <a:t>[Sources]</a:t>
            </a:r>
          </a:p>
          <a:p xmlns:a="http://schemas.openxmlformats.org/drawingml/2006/main">
            <a:r>
              <a:t>- D:/WORK/gtas_vpp/LVTN/NguyenAnNam_DH52201078.docx — Chương 4, bảng 4-1</a:t>
            </a:r>
          </a:p>
          <a:p xmlns:a="http://schemas.openxmlformats.org/drawingml/2006/main">
            <a:r>
              <a:t>- D:/WORK/gtas_vpp/tests/Frontend.UiTests/Tests/ShellResponsiveTests.cs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Đây là slide tổng kết giá trị, không lặp lại chi tiết kỹ thuật.</a:t>
            </a:r>
          </a:p>
          <a:p xmlns:a="http://schemas.openxmlformats.org/drawingml/2006/main">
            <a:r>
              <a:t>- Liên kết từng kết quả với mục tiêu ban đầu để chứng minh đề tài đã hoàn thành phạm vi.</a:t>
            </a:r>
          </a:p>
          <a:p xmlns:a="http://schemas.openxmlformats.org/drawingml/2006/main">
            <a:r>
              <a:t/>
            </a:r>
          </a:p>
          <a:p xmlns:a="http://schemas.openxmlformats.org/drawingml/2006/main">
            <a:r>
              <a:t>[Sources]</a:t>
            </a:r>
          </a:p>
          <a:p xmlns:a="http://schemas.openxmlformats.org/drawingml/2006/main">
            <a:r>
              <a:t>- D:/WORK/gtas_vpp/LVTN/NguyenAnNam_DH52201078.docx — mục 5.1 và bảng đối chiếu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Thừa nhận giới hạn thực tế, nhưng giới hạn không làm mất giá trị phần lõi đã hoàn thành.</a:t>
            </a:r>
          </a:p>
          <a:p xmlns:a="http://schemas.openxmlformats.org/drawingml/2006/main">
            <a:r>
              <a:t>- Nêu thứ tự ưu tiên phát triển để thể hiện đề tài có lộ trình tiếp tục rõ ràng.</a:t>
            </a:r>
          </a:p>
          <a:p xmlns:a="http://schemas.openxmlformats.org/drawingml/2006/main">
            <a:r>
              <a:t/>
            </a:r>
          </a:p>
          <a:p xmlns:a="http://schemas.openxmlformats.org/drawingml/2006/main">
            <a:r>
              <a:t>[Sources]</a:t>
            </a:r>
          </a:p>
          <a:p xmlns:a="http://schemas.openxmlformats.org/drawingml/2006/main">
            <a:r>
              <a:t>- D:/WORK/gtas_vpp/LVTN/NguyenAnNam_DH52201078.docx — mục 5.2 và 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Kết lại bằng một câu: hệ thống đạt các mục tiêu chính trong phạm vi luận văn.</a:t>
            </a:r>
          </a:p>
          <a:p xmlns:a="http://schemas.openxmlformats.org/drawingml/2006/main">
            <a:r>
              <a:t>- Dừng và mời hội đồng đặt câu hỏi.</a:t>
            </a:r>
          </a:p>
          <a:p xmlns:a="http://schemas.openxmlformats.org/drawingml/2006/main">
            <a:r>
              <a:t/>
            </a:r>
          </a:p>
          <a:p xmlns:a="http://schemas.openxmlformats.org/drawingml/2006/main">
            <a:r>
              <a:t>[Sources]</a:t>
            </a:r>
          </a:p>
          <a:p xmlns:a="http://schemas.openxmlformats.org/drawingml/2006/main">
            <a:r>
              <a:t>- D:/WORK/gtas_vpp/LVTN/NguyenAnNam_DH52201078.docx — mục 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5549c6d79142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7d727578fc4f27" /><Relationship Type="http://schemas.openxmlformats.org/officeDocument/2006/relationships/slideLayout" Target="/ppt/slideLayouts/slideLayout1.xml" Id="Rbdad965c513a45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ad965c513a45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3d81346df24f46" /><Relationship Type="http://schemas.openxmlformats.org/officeDocument/2006/relationships/notesSlide" Target="/ppt/notesSlides/notesSlide1.xml" Id="R4a004e78021d47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cc2e9eb2914f29" /><Relationship Type="http://schemas.openxmlformats.org/officeDocument/2006/relationships/notesSlide" Target="/ppt/notesSlides/notesSlide2.xml" Id="Rbdb6e36738ab47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11587485e84bd2" /><Relationship Type="http://schemas.openxmlformats.org/officeDocument/2006/relationships/notesSlide" Target="/ppt/notesSlides/notesSlide3.xml" Id="Rafec991401c54b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cfc1a2756f4ebd" /><Relationship Type="http://schemas.openxmlformats.org/officeDocument/2006/relationships/notesSlide" Target="/ppt/notesSlides/notesSlide4.xml" Id="R4a0e3b9baaf74e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8de3d7b0464b53" /><Relationship Type="http://schemas.openxmlformats.org/officeDocument/2006/relationships/image" Target="/ppt/media/image.png" Id="Rf791c7d3131942c8" /><Relationship Type="http://schemas.openxmlformats.org/officeDocument/2006/relationships/notesSlide" Target="/ppt/notesSlides/notesSlide5.xml" Id="R078b8031776840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639223b5c148c8" /><Relationship Type="http://schemas.openxmlformats.org/officeDocument/2006/relationships/notesSlide" Target="/ppt/notesSlides/notesSlide6.xml" Id="R7c23f51fb5df4f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9518defcfc4e63" /><Relationship Type="http://schemas.openxmlformats.org/officeDocument/2006/relationships/notesSlide" Target="/ppt/notesSlides/notesSlide7.xml" Id="Rbd9f5b55c2d94f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da7ba6068d4f84" /><Relationship Type="http://schemas.openxmlformats.org/officeDocument/2006/relationships/image" Target="/ppt/media/image2.png" Id="R74c5f3cb8af14ff1" /><Relationship Type="http://schemas.openxmlformats.org/officeDocument/2006/relationships/image" Target="/ppt/media/image3.png" Id="R26610728cd4d47e4" /><Relationship Type="http://schemas.openxmlformats.org/officeDocument/2006/relationships/image" Target="/ppt/media/image4.png" Id="Rb224e9da0337413b" /><Relationship Type="http://schemas.openxmlformats.org/officeDocument/2006/relationships/notesSlide" Target="/ppt/notesSlides/notesSlide8.xml" Id="Re5029b876c4348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743ffd991c4cc7" /><Relationship Type="http://schemas.openxmlformats.org/officeDocument/2006/relationships/image" Target="/ppt/media/image5.png" Id="R197d70eca686444b" /><Relationship Type="http://schemas.openxmlformats.org/officeDocument/2006/relationships/notesSlide" Target="/ppt/notesSlides/notesSlide9.xml" Id="R2634014c9fc64a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d61ec02ad04851" /><Relationship Type="http://schemas.openxmlformats.org/officeDocument/2006/relationships/image" Target="/ppt/media/image6.png" Id="Ra67d10818eb94e18" /><Relationship Type="http://schemas.openxmlformats.org/officeDocument/2006/relationships/image" Target="/ppt/media/image7.png" Id="Rbbb77a458e364091" /><Relationship Type="http://schemas.openxmlformats.org/officeDocument/2006/relationships/image" Target="/ppt/media/image8.png" Id="Rf6b80b5c3efc4b3c" /><Relationship Type="http://schemas.openxmlformats.org/officeDocument/2006/relationships/notesSlide" Target="/ppt/notesSlides/notesSlide10.xml" Id="R1071e95dfbdf4d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4408a571a84842" /><Relationship Type="http://schemas.openxmlformats.org/officeDocument/2006/relationships/image" Target="/ppt/media/image9.png" Id="R998291a172ec4a2d" /><Relationship Type="http://schemas.openxmlformats.org/officeDocument/2006/relationships/notesSlide" Target="/ppt/notesSlides/notesSlide11.xml" Id="R617c49d67ad54c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1c8fda35e84f27" /><Relationship Type="http://schemas.openxmlformats.org/officeDocument/2006/relationships/notesSlide" Target="/ppt/notesSlides/notesSlide12.xml" Id="R4b4e354ae6b340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c6261a56ca4fa6" /><Relationship Type="http://schemas.openxmlformats.org/officeDocument/2006/relationships/notesSlide" Target="/ppt/notesSlides/notesSlide13.xml" Id="R213b053c290b4d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57ad64a51db4f52" /><Relationship Type="http://schemas.openxmlformats.org/officeDocument/2006/relationships/notesSlide" Target="/ppt/notesSlides/notesSlide14.xml" Id="Re54253336c9745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d6a8ad71d674dae" /><Relationship Type="http://schemas.openxmlformats.org/officeDocument/2006/relationships/notesSlide" Target="/ppt/notesSlides/notesSlide15.xml" Id="Rfe7384d2f86542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DEA46F-6EE8-4FD0-BE9E-8B6EE12AEE67}"/>
              </a:ext>
            </a:extLst>
          </p:cNvPr>
          <p:cNvSpPr>
            <a:spLocks xmlns:a="http://schemas.openxmlformats.org/drawingml/2006/main" noGrp="1"/>
          </p:cNvSpPr>
          <p:nvPr/>
        </p:nvSpPr>
        <p:spPr>
          <a:xfrm xmlns:a="http://schemas.openxmlformats.org/drawingml/2006/main">
            <a:off x="457200" y="32385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617089"/>
                </a:solidFill>
                <a:latin typeface="Arial"/>
                <a:ea typeface="Arial"/>
                <a:cs typeface="Arial"/>
              </a:defRPr>
            </a:pPr>
            <a:r>
              <a:rPr sz="1050" b="1" i="0">
                <a:solidFill>
                  <a:srgbClr val="617089"/>
                </a:solidFill>
                <a:latin typeface="Arial"/>
                <a:ea typeface="Arial"/>
                <a:cs typeface="Arial"/>
              </a:rPr>
              <a:t>TRƯỜNG ĐẠI HỌC CÔNG NGHỆ SÀI GÒN  ·  KHOA CÔNG NGHỆ THÔNG TIN</a:t>
            </a:r>
          </a:p>
        </p:txBody>
      </p:sp>
      <p:sp>
        <p:nvSpPr>
          <p:cNvPr id="2" name="">
            <a:extLst xmlns:a="http://schemas.openxmlformats.org/drawingml/2006/main">
              <a:ext uri="{FF2B5EF4-FFF2-40B4-BE49-F238E27FC236}">
                <a16:creationId xmlns:a16="http://schemas.microsoft.com/office/drawing/2014/main" id="{D388572E-2A31-44F4-B00C-0A0441FA8BB8}"/>
              </a:ext>
            </a:extLst>
          </p:cNvPr>
          <p:cNvSpPr>
            <a:spLocks xmlns:a="http://schemas.openxmlformats.org/drawingml/2006/main" noGrp="1"/>
          </p:cNvSpPr>
          <p:nvPr/>
        </p:nvSpPr>
        <p:spPr>
          <a:xfrm xmlns:a="http://schemas.openxmlformats.org/drawingml/2006/main">
            <a:off x="10668000" y="0"/>
            <a:ext cx="1524000" cy="6858000"/>
          </a:xfrm>
          <a:prstGeom xmlns:a="http://schemas.openxmlformats.org/drawingml/2006/main" prst="rect">
            <a:avLst/>
          </a:prstGeom>
          <a:solidFill xmlns:a="http://schemas.openxmlformats.org/drawingml/2006/main">
            <a:srgbClr val="112448"/>
          </a:solidFill>
          <a:ln xmlns:a="http://schemas.openxmlformats.org/drawingml/2006/main" w="0">
            <a:solidFill>
              <a:srgbClr val="112448"/>
            </a:solidFill>
            <a:prstDash val="solid"/>
          </a:ln>
        </p:spPr>
      </p:sp>
      <p:sp>
        <p:nvSpPr>
          <p:cNvPr id="3" name="">
            <a:extLst xmlns:a="http://schemas.openxmlformats.org/drawingml/2006/main">
              <a:ext uri="{FF2B5EF4-FFF2-40B4-BE49-F238E27FC236}">
                <a16:creationId xmlns:a16="http://schemas.microsoft.com/office/drawing/2014/main" id="{C6BDE1B7-A279-4ABA-A9A9-B128DE922D8F}"/>
              </a:ext>
            </a:extLst>
          </p:cNvPr>
          <p:cNvSpPr>
            <a:spLocks xmlns:a="http://schemas.openxmlformats.org/drawingml/2006/main" noGrp="1"/>
          </p:cNvSpPr>
          <p:nvPr/>
        </p:nvSpPr>
        <p:spPr>
          <a:xfrm xmlns:a="http://schemas.openxmlformats.org/drawingml/2006/main">
            <a:off x="10668000" y="0"/>
            <a:ext cx="114300" cy="6858000"/>
          </a:xfrm>
          <a:prstGeom xmlns:a="http://schemas.openxmlformats.org/drawingml/2006/main" prst="rect">
            <a:avLst/>
          </a:prstGeom>
          <a:solidFill xmlns:a="http://schemas.openxmlformats.org/drawingml/2006/main">
            <a:srgbClr val="0EA5E9"/>
          </a:solidFill>
          <a:ln xmlns:a="http://schemas.openxmlformats.org/drawingml/2006/main" w="0">
            <a:solidFill>
              <a:srgbClr val="0EA5E9"/>
            </a:solidFill>
            <a:prstDash val="solid"/>
          </a:ln>
        </p:spPr>
      </p:sp>
      <p:sp>
        <p:nvSpPr>
          <p:cNvPr id="4" name="">
            <a:extLst xmlns:a="http://schemas.openxmlformats.org/drawingml/2006/main">
              <a:ext uri="{FF2B5EF4-FFF2-40B4-BE49-F238E27FC236}">
                <a16:creationId xmlns:a16="http://schemas.microsoft.com/office/drawing/2014/main" id="{7A147A40-BD5E-4B19-8037-BD5037310148}"/>
              </a:ext>
            </a:extLst>
          </p:cNvPr>
          <p:cNvSpPr>
            <a:spLocks xmlns:a="http://schemas.openxmlformats.org/drawingml/2006/main" noGrp="1"/>
          </p:cNvSpPr>
          <p:nvPr/>
        </p:nvSpPr>
        <p:spPr>
          <a:xfrm xmlns:a="http://schemas.openxmlformats.org/drawingml/2006/main">
            <a:off x="457200" y="12763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078CCB"/>
                </a:solidFill>
                <a:latin typeface="Arial"/>
                <a:ea typeface="Arial"/>
                <a:cs typeface="Arial"/>
              </a:defRPr>
            </a:pPr>
            <a:r>
              <a:rPr sz="1350" b="1" i="0">
                <a:solidFill>
                  <a:srgbClr val="078CCB"/>
                </a:solidFill>
                <a:latin typeface="Arial"/>
                <a:ea typeface="Arial"/>
                <a:cs typeface="Arial"/>
              </a:rPr>
              <a:t>LUẬN VĂN TỐT NGHIỆP</a:t>
            </a:r>
          </a:p>
        </p:txBody>
      </p:sp>
      <p:sp>
        <p:nvSpPr>
          <p:cNvPr id="5" name="">
            <a:extLst xmlns:a="http://schemas.openxmlformats.org/drawingml/2006/main">
              <a:ext uri="{FF2B5EF4-FFF2-40B4-BE49-F238E27FC236}">
                <a16:creationId xmlns:a16="http://schemas.microsoft.com/office/drawing/2014/main" id="{6FA6CE4B-7DFA-4A64-A24C-80E3249FC987}"/>
              </a:ext>
            </a:extLst>
          </p:cNvPr>
          <p:cNvSpPr>
            <a:spLocks xmlns:a="http://schemas.openxmlformats.org/drawingml/2006/main" noGrp="1"/>
          </p:cNvSpPr>
          <p:nvPr/>
        </p:nvSpPr>
        <p:spPr>
          <a:xfrm xmlns:a="http://schemas.openxmlformats.org/drawingml/2006/main">
            <a:off x="457200" y="1790700"/>
            <a:ext cx="9334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i="0">
                <a:solidFill>
                  <a:srgbClr val="112448"/>
                </a:solidFill>
                <a:latin typeface="Arial"/>
                <a:ea typeface="Arial"/>
                <a:cs typeface="Arial"/>
              </a:defRPr>
            </a:pPr>
            <a:r>
              <a:rPr sz="3750" b="1" i="0">
                <a:solidFill>
                  <a:srgbClr val="112448"/>
                </a:solidFill>
                <a:latin typeface="Arial"/>
                <a:ea typeface="Arial"/>
                <a:cs typeface="Arial"/>
              </a:rPr>
              <a:t>XÂY DỰNG WEBSITE</a:t>
            </a:r>
          </a:p>
          <a:p xmlns:a="http://schemas.openxmlformats.org/drawingml/2006/main">
            <a:pPr algn="l">
              <a:defRPr sz="3750" b="1" i="0">
                <a:solidFill>
                  <a:srgbClr val="112448"/>
                </a:solidFill>
                <a:latin typeface="Arial"/>
                <a:ea typeface="Arial"/>
                <a:cs typeface="Arial"/>
              </a:defRPr>
            </a:pPr>
            <a:r>
              <a:rPr sz="3750" b="1" i="0">
                <a:solidFill>
                  <a:srgbClr val="112448"/>
                </a:solidFill>
                <a:latin typeface="Arial"/>
                <a:ea typeface="Arial"/>
                <a:cs typeface="Arial"/>
              </a:rPr>
              <a:t>QUẢN LÝ VĂN PHÒNG PHẨM</a:t>
            </a:r>
          </a:p>
          <a:p xmlns:a="http://schemas.openxmlformats.org/drawingml/2006/main">
            <a:pPr algn="l">
              <a:defRPr sz="3750" b="1" i="0">
                <a:solidFill>
                  <a:srgbClr val="112448"/>
                </a:solidFill>
                <a:latin typeface="Arial"/>
                <a:ea typeface="Arial"/>
                <a:cs typeface="Arial"/>
              </a:defRPr>
            </a:pPr>
            <a:r>
              <a:rPr sz="3750" b="1" i="0">
                <a:solidFill>
                  <a:srgbClr val="112448"/>
                </a:solidFill>
                <a:latin typeface="Arial"/>
                <a:ea typeface="Arial"/>
                <a:cs typeface="Arial"/>
              </a:rPr>
              <a:t>PHONG PHÚ</a:t>
            </a:r>
          </a:p>
        </p:txBody>
      </p:sp>
      <p:cxnSp>
        <p:nvCxnSpPr>
          <p:cNvPr id="16" name=""/>
          <p:cNvCxnSpPr/>
          <p:nvPr/>
        </p:nvCxnSpPr>
        <p:spPr>
          <a:xfrm xmlns:a="http://schemas.openxmlformats.org/drawingml/2006/main">
            <a:off x="457200" y="4505325"/>
            <a:ext cx="7429500" cy="0"/>
          </a:xfrm>
          <a:prstGeom xmlns:a="http://schemas.openxmlformats.org/drawingml/2006/main" prst="straightConnector1">
            <a:avLst/>
          </a:prstGeom>
          <a:ln xmlns:a="http://schemas.openxmlformats.org/drawingml/2006/main" w="47625">
            <a:solidFill>
              <a:srgbClr val="0EA5E9"/>
            </a:solidFill>
            <a:prstDash val="solid"/>
          </a:ln>
        </p:spPr>
      </p:cxnSp>
      <p:sp>
        <p:nvSpPr>
          <p:cNvPr id="7" name="">
            <a:extLst xmlns:a="http://schemas.openxmlformats.org/drawingml/2006/main">
              <a:ext uri="{FF2B5EF4-FFF2-40B4-BE49-F238E27FC236}">
                <a16:creationId xmlns:a16="http://schemas.microsoft.com/office/drawing/2014/main" id="{EDB24B78-13F5-414B-925A-8590890B27B8}"/>
              </a:ext>
            </a:extLst>
          </p:cNvPr>
          <p:cNvSpPr>
            <a:spLocks xmlns:a="http://schemas.openxmlformats.org/drawingml/2006/main" noGrp="1"/>
          </p:cNvSpPr>
          <p:nvPr/>
        </p:nvSpPr>
        <p:spPr>
          <a:xfrm xmlns:a="http://schemas.openxmlformats.org/drawingml/2006/main">
            <a:off x="457200" y="48577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72033"/>
                </a:solidFill>
                <a:latin typeface="Arial"/>
                <a:ea typeface="Arial"/>
                <a:cs typeface="Arial"/>
              </a:defRPr>
            </a:pPr>
            <a:r>
              <a:rPr sz="1500" b="1" i="0">
                <a:solidFill>
                  <a:srgbClr val="172033"/>
                </a:solidFill>
                <a:latin typeface="Arial"/>
                <a:ea typeface="Arial"/>
                <a:cs typeface="Arial"/>
              </a:rPr>
              <a:t>Sinh viên: NGUYỄN AN NAM  ·  MSSV: DH52201078</a:t>
            </a:r>
          </a:p>
        </p:txBody>
      </p:sp>
      <p:sp>
        <p:nvSpPr>
          <p:cNvPr id="8" name="">
            <a:extLst xmlns:a="http://schemas.openxmlformats.org/drawingml/2006/main">
              <a:ext uri="{FF2B5EF4-FFF2-40B4-BE49-F238E27FC236}">
                <a16:creationId xmlns:a16="http://schemas.microsoft.com/office/drawing/2014/main" id="{3417EFDB-FE5B-4EC1-A63E-93AA34B1637E}"/>
              </a:ext>
            </a:extLst>
          </p:cNvPr>
          <p:cNvSpPr>
            <a:spLocks xmlns:a="http://schemas.openxmlformats.org/drawingml/2006/main" noGrp="1"/>
          </p:cNvSpPr>
          <p:nvPr/>
        </p:nvSpPr>
        <p:spPr>
          <a:xfrm xmlns:a="http://schemas.openxmlformats.org/drawingml/2006/main">
            <a:off x="457200" y="52387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617089"/>
                </a:solidFill>
                <a:latin typeface="Arial"/>
                <a:ea typeface="Arial"/>
                <a:cs typeface="Arial"/>
              </a:defRPr>
            </a:pPr>
            <a:r>
              <a:rPr sz="1350" b="0" i="0">
                <a:solidFill>
                  <a:srgbClr val="617089"/>
                </a:solidFill>
                <a:latin typeface="Arial"/>
                <a:ea typeface="Arial"/>
                <a:cs typeface="Arial"/>
              </a:rPr>
              <a:t>Người hướng dẫn: ThS. VIÊN THANH NHÃ</a:t>
            </a:r>
          </a:p>
        </p:txBody>
      </p:sp>
      <p:sp>
        <p:nvSpPr>
          <p:cNvPr id="9" name="">
            <a:extLst xmlns:a="http://schemas.openxmlformats.org/drawingml/2006/main">
              <a:ext uri="{FF2B5EF4-FFF2-40B4-BE49-F238E27FC236}">
                <a16:creationId xmlns:a16="http://schemas.microsoft.com/office/drawing/2014/main" id="{AEA54406-6B0B-4343-A9DF-F1A1E673B42E}"/>
              </a:ext>
            </a:extLst>
          </p:cNvPr>
          <p:cNvSpPr>
            <a:spLocks xmlns:a="http://schemas.openxmlformats.org/drawingml/2006/main" noGrp="1"/>
          </p:cNvSpPr>
          <p:nvPr/>
        </p:nvSpPr>
        <p:spPr>
          <a:xfrm xmlns:a="http://schemas.openxmlformats.org/drawingml/2006/main">
            <a:off x="457200" y="6096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617089"/>
                </a:solidFill>
                <a:latin typeface="Arial"/>
                <a:ea typeface="Arial"/>
                <a:cs typeface="Arial"/>
              </a:defRPr>
            </a:pPr>
            <a:r>
              <a:rPr sz="1050" b="1" i="0">
                <a:solidFill>
                  <a:srgbClr val="617089"/>
                </a:solidFill>
                <a:latin typeface="Arial"/>
                <a:ea typeface="Arial"/>
                <a:cs typeface="Arial"/>
              </a:rPr>
              <a:t>TP. HỒ CHÍ MINH · 2026</a:t>
            </a:r>
          </a:p>
        </p:txBody>
      </p:sp>
      <p:sp>
        <p:nvSpPr>
          <p:cNvPr id="10" name="">
            <a:extLst xmlns:a="http://schemas.openxmlformats.org/drawingml/2006/main">
              <a:ext uri="{FF2B5EF4-FFF2-40B4-BE49-F238E27FC236}">
                <a16:creationId xmlns:a16="http://schemas.microsoft.com/office/drawing/2014/main" id="{579E6192-05F1-4689-8228-DB588A50E487}"/>
              </a:ext>
            </a:extLst>
          </p:cNvPr>
          <p:cNvSpPr>
            <a:spLocks xmlns:a="http://schemas.openxmlformats.org/drawingml/2006/main" noGrp="1"/>
          </p:cNvSpPr>
          <p:nvPr/>
        </p:nvSpPr>
        <p:spPr>
          <a:xfrm xmlns:a="http://schemas.openxmlformats.org/drawingml/2006/main">
            <a:off x="10868025" y="2695575"/>
            <a:ext cx="1123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550" b="1" i="0">
                <a:solidFill>
                  <a:srgbClr val="FFFFFF"/>
                </a:solidFill>
                <a:latin typeface="Arial"/>
                <a:ea typeface="Arial"/>
                <a:cs typeface="Arial"/>
              </a:defRPr>
            </a:pPr>
            <a:r>
              <a:rPr sz="2550" b="1" i="0">
                <a:solidFill>
                  <a:srgbClr val="FFFFFF"/>
                </a:solidFill>
                <a:latin typeface="Arial"/>
                <a:ea typeface="Arial"/>
                <a:cs typeface="Arial"/>
              </a:rPr>
              <a:t>GTAS</a:t>
            </a:r>
          </a:p>
          <a:p xmlns:a="http://schemas.openxmlformats.org/drawingml/2006/main">
            <a:pPr algn="ctr">
              <a:defRPr sz="2550" b="1" i="0">
                <a:solidFill>
                  <a:srgbClr val="FFFFFF"/>
                </a:solidFill>
                <a:latin typeface="Arial"/>
                <a:ea typeface="Arial"/>
                <a:cs typeface="Arial"/>
              </a:defRPr>
            </a:pPr>
            <a:r>
              <a:rPr sz="2550" b="1" i="0">
                <a:solidFill>
                  <a:srgbClr val="FFFFFF"/>
                </a:solidFill>
                <a:latin typeface="Arial"/>
                <a:ea typeface="Arial"/>
                <a:cs typeface="Arial"/>
              </a:rPr>
              <a:t>VPP</a:t>
            </a:r>
          </a:p>
        </p:txBody>
      </p:sp>
    </p:spTree>
    <p:extLst>
      <p:ext uri="{BB962C8B-B14F-4D97-AF65-F5344CB8AC3E}">
        <p14:creationId xmlns:p14="http://schemas.microsoft.com/office/powerpoint/2010/main" val="5402242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8579D0-C6A1-48DF-97C2-A1A680F9B55F}"/>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01 · BÀI TOÁN</a:t>
            </a:r>
          </a:p>
        </p:txBody>
      </p:sp>
      <p:sp>
        <p:nvSpPr>
          <p:cNvPr id="2" name="">
            <a:extLst xmlns:a="http://schemas.openxmlformats.org/drawingml/2006/main">
              <a:ext uri="{FF2B5EF4-FFF2-40B4-BE49-F238E27FC236}">
                <a16:creationId xmlns:a16="http://schemas.microsoft.com/office/drawing/2014/main" id="{854B7EF6-7AA6-4F6A-A5FD-5392DD53CE8A}"/>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Bài toán: không chỉ là một biểu mẫu đặt hàng</a:t>
            </a:r>
          </a:p>
        </p:txBody>
      </p:sp>
      <p:sp>
        <p:nvSpPr>
          <p:cNvPr id="3" name="">
            <a:extLst xmlns:a="http://schemas.openxmlformats.org/drawingml/2006/main">
              <a:ext uri="{FF2B5EF4-FFF2-40B4-BE49-F238E27FC236}">
                <a16:creationId xmlns:a16="http://schemas.microsoft.com/office/drawing/2014/main" id="{35AE993C-BC42-414B-A679-AA9334BFB116}"/>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783A4EC-7938-41F6-A7E0-5A98712698B0}"/>
              </a:ext>
            </a:extLst>
          </p:cNvPr>
          <p:cNvSpPr>
            <a:spLocks xmlns:a="http://schemas.openxmlformats.org/drawingml/2006/main" noGrp="1"/>
          </p:cNvSpPr>
          <p:nvPr/>
        </p:nvSpPr>
        <p:spPr>
          <a:xfrm xmlns:a="http://schemas.openxmlformats.org/drawingml/2006/main">
            <a:off x="457200" y="12573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617089"/>
                </a:solidFill>
                <a:latin typeface="Arial"/>
                <a:ea typeface="Arial"/>
                <a:cs typeface="Arial"/>
              </a:defRPr>
            </a:pPr>
            <a:r>
              <a:rPr sz="1500" b="0" i="0">
                <a:solidFill>
                  <a:srgbClr val="617089"/>
                </a:solidFill>
                <a:latin typeface="Arial"/>
                <a:ea typeface="Arial"/>
                <a:cs typeface="Arial"/>
              </a:rPr>
              <a:t>Quy trình văn phòng phẩm liên kết thời hạn, trạng thái, giá, quyền truy cập và lịch sử dữ liệu. Nếu xử lý rời rạc bằng bảng tính hoặc trao đổi thủ công, sai lệch rất khó truy vết.</a:t>
            </a:r>
          </a:p>
        </p:txBody>
      </p:sp>
      <p:sp>
        <p:nvSpPr>
          <p:cNvPr id="5" name="">
            <a:extLst xmlns:a="http://schemas.openxmlformats.org/drawingml/2006/main">
              <a:ext uri="{FF2B5EF4-FFF2-40B4-BE49-F238E27FC236}">
                <a16:creationId xmlns:a16="http://schemas.microsoft.com/office/drawing/2014/main" id="{DA114756-486D-4D21-AB2F-5E634B5B9421}"/>
              </a:ext>
            </a:extLst>
          </p:cNvPr>
          <p:cNvSpPr>
            <a:spLocks xmlns:a="http://schemas.openxmlformats.org/drawingml/2006/main" noGrp="1"/>
          </p:cNvSpPr>
          <p:nvPr/>
        </p:nvSpPr>
        <p:spPr>
          <a:xfrm xmlns:a="http://schemas.openxmlformats.org/drawingml/2006/main">
            <a:off x="552450" y="2381250"/>
            <a:ext cx="43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078CCB"/>
                </a:solidFill>
                <a:latin typeface="Arial"/>
                <a:ea typeface="Arial"/>
                <a:cs typeface="Arial"/>
              </a:defRPr>
            </a:pPr>
            <a:r>
              <a:rPr sz="1275" b="1" i="0">
                <a:solidFill>
                  <a:srgbClr val="078CC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6650FC3-A573-470E-AA40-C19E3EA44DE4}"/>
              </a:ext>
            </a:extLst>
          </p:cNvPr>
          <p:cNvSpPr>
            <a:spLocks xmlns:a="http://schemas.openxmlformats.org/drawingml/2006/main" noGrp="1"/>
          </p:cNvSpPr>
          <p:nvPr/>
        </p:nvSpPr>
        <p:spPr>
          <a:xfrm xmlns:a="http://schemas.openxmlformats.org/drawingml/2006/main">
            <a:off x="1104900" y="238125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12448"/>
                </a:solidFill>
                <a:latin typeface="Arial"/>
                <a:ea typeface="Arial"/>
                <a:cs typeface="Arial"/>
              </a:defRPr>
            </a:pPr>
            <a:r>
              <a:rPr sz="1575" b="1" i="0">
                <a:solidFill>
                  <a:srgbClr val="112448"/>
                </a:solidFill>
                <a:latin typeface="Arial"/>
                <a:ea typeface="Arial"/>
                <a:cs typeface="Arial"/>
              </a:rPr>
              <a:t>Kỳ và hạn gửi</a:t>
            </a:r>
          </a:p>
        </p:txBody>
      </p:sp>
      <p:sp>
        <p:nvSpPr>
          <p:cNvPr id="7" name="">
            <a:extLst xmlns:a="http://schemas.openxmlformats.org/drawingml/2006/main">
              <a:ext uri="{FF2B5EF4-FFF2-40B4-BE49-F238E27FC236}">
                <a16:creationId xmlns:a16="http://schemas.microsoft.com/office/drawing/2014/main" id="{2631DEC6-2141-4915-B46F-F9793B5F55DA}"/>
              </a:ext>
            </a:extLst>
          </p:cNvPr>
          <p:cNvSpPr>
            <a:spLocks xmlns:a="http://schemas.openxmlformats.org/drawingml/2006/main" noGrp="1"/>
          </p:cNvSpPr>
          <p:nvPr/>
        </p:nvSpPr>
        <p:spPr>
          <a:xfrm xmlns:a="http://schemas.openxmlformats.org/drawingml/2006/main">
            <a:off x="1104900" y="2743200"/>
            <a:ext cx="4591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Máy chủ xác định kỳ hiện tại và mốc 00:00 ngày 5; giao diện chỉ hiển thị kết quả đã tính.</a:t>
            </a:r>
          </a:p>
        </p:txBody>
      </p:sp>
      <p:sp>
        <p:nvSpPr>
          <p:cNvPr id="8" name="">
            <a:extLst xmlns:a="http://schemas.openxmlformats.org/drawingml/2006/main">
              <a:ext uri="{FF2B5EF4-FFF2-40B4-BE49-F238E27FC236}">
                <a16:creationId xmlns:a16="http://schemas.microsoft.com/office/drawing/2014/main" id="{8C937713-964C-4901-8877-67CA3B73FC93}"/>
              </a:ext>
            </a:extLst>
          </p:cNvPr>
          <p:cNvSpPr>
            <a:spLocks xmlns:a="http://schemas.openxmlformats.org/drawingml/2006/main" noGrp="1"/>
          </p:cNvSpPr>
          <p:nvPr/>
        </p:nvSpPr>
        <p:spPr>
          <a:xfrm xmlns:a="http://schemas.openxmlformats.org/drawingml/2006/main">
            <a:off x="6191250" y="2381250"/>
            <a:ext cx="43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078CCB"/>
                </a:solidFill>
                <a:latin typeface="Arial"/>
                <a:ea typeface="Arial"/>
                <a:cs typeface="Arial"/>
              </a:defRPr>
            </a:pPr>
            <a:r>
              <a:rPr sz="1275" b="1" i="0">
                <a:solidFill>
                  <a:srgbClr val="078CC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447644D-50AF-4B90-9A8A-59454E4B45AF}"/>
              </a:ext>
            </a:extLst>
          </p:cNvPr>
          <p:cNvSpPr>
            <a:spLocks xmlns:a="http://schemas.openxmlformats.org/drawingml/2006/main" noGrp="1"/>
          </p:cNvSpPr>
          <p:nvPr/>
        </p:nvSpPr>
        <p:spPr>
          <a:xfrm xmlns:a="http://schemas.openxmlformats.org/drawingml/2006/main">
            <a:off x="6743700" y="238125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12448"/>
                </a:solidFill>
                <a:latin typeface="Arial"/>
                <a:ea typeface="Arial"/>
                <a:cs typeface="Arial"/>
              </a:defRPr>
            </a:pPr>
            <a:r>
              <a:rPr sz="1575" b="1" i="0">
                <a:solidFill>
                  <a:srgbClr val="112448"/>
                </a:solidFill>
                <a:latin typeface="Arial"/>
                <a:ea typeface="Arial"/>
                <a:cs typeface="Arial"/>
              </a:rPr>
              <a:t>Đơn thường và đơn bổ sung</a:t>
            </a:r>
          </a:p>
        </p:txBody>
      </p:sp>
      <p:sp>
        <p:nvSpPr>
          <p:cNvPr id="10" name="">
            <a:extLst xmlns:a="http://schemas.openxmlformats.org/drawingml/2006/main">
              <a:ext uri="{FF2B5EF4-FFF2-40B4-BE49-F238E27FC236}">
                <a16:creationId xmlns:a16="http://schemas.microsoft.com/office/drawing/2014/main" id="{F918B771-C9BB-4B5C-A4FC-A1696B8C9CC6}"/>
              </a:ext>
            </a:extLst>
          </p:cNvPr>
          <p:cNvSpPr>
            <a:spLocks xmlns:a="http://schemas.openxmlformats.org/drawingml/2006/main" noGrp="1"/>
          </p:cNvSpPr>
          <p:nvPr/>
        </p:nvSpPr>
        <p:spPr>
          <a:xfrm xmlns:a="http://schemas.openxmlformats.org/drawingml/2006/main">
            <a:off x="6743700" y="2743200"/>
            <a:ext cx="4591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Ngăn trùng đơn; đơn bổ sung có giới hạn số lần, thời hạn và luồng duyệt riêng.</a:t>
            </a:r>
          </a:p>
        </p:txBody>
      </p:sp>
      <p:sp>
        <p:nvSpPr>
          <p:cNvPr id="11" name="">
            <a:extLst xmlns:a="http://schemas.openxmlformats.org/drawingml/2006/main">
              <a:ext uri="{FF2B5EF4-FFF2-40B4-BE49-F238E27FC236}">
                <a16:creationId xmlns:a16="http://schemas.microsoft.com/office/drawing/2014/main" id="{F916E5D2-BDE5-48EC-BBD5-4B7BF09C8CC0}"/>
              </a:ext>
            </a:extLst>
          </p:cNvPr>
          <p:cNvSpPr>
            <a:spLocks xmlns:a="http://schemas.openxmlformats.org/drawingml/2006/main" noGrp="1"/>
          </p:cNvSpPr>
          <p:nvPr/>
        </p:nvSpPr>
        <p:spPr>
          <a:xfrm xmlns:a="http://schemas.openxmlformats.org/drawingml/2006/main">
            <a:off x="552450" y="4095750"/>
            <a:ext cx="43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078CCB"/>
                </a:solidFill>
                <a:latin typeface="Arial"/>
                <a:ea typeface="Arial"/>
                <a:cs typeface="Arial"/>
              </a:defRPr>
            </a:pPr>
            <a:r>
              <a:rPr sz="1275" b="1" i="0">
                <a:solidFill>
                  <a:srgbClr val="078CCB"/>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EEDB022C-55FA-4762-9561-7763DA0EEB18}"/>
              </a:ext>
            </a:extLst>
          </p:cNvPr>
          <p:cNvSpPr>
            <a:spLocks xmlns:a="http://schemas.openxmlformats.org/drawingml/2006/main" noGrp="1"/>
          </p:cNvSpPr>
          <p:nvPr/>
        </p:nvSpPr>
        <p:spPr>
          <a:xfrm xmlns:a="http://schemas.openxmlformats.org/drawingml/2006/main">
            <a:off x="1104900" y="409575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12448"/>
                </a:solidFill>
                <a:latin typeface="Arial"/>
                <a:ea typeface="Arial"/>
                <a:cs typeface="Arial"/>
              </a:defRPr>
            </a:pPr>
            <a:r>
              <a:rPr sz="1575" b="1" i="0">
                <a:solidFill>
                  <a:srgbClr val="112448"/>
                </a:solidFill>
                <a:latin typeface="Arial"/>
                <a:ea typeface="Arial"/>
                <a:cs typeface="Arial"/>
              </a:rPr>
              <a:t>Bảng giá thay đổi theo thời điểm</a:t>
            </a:r>
          </a:p>
        </p:txBody>
      </p:sp>
      <p:sp>
        <p:nvSpPr>
          <p:cNvPr id="13" name="">
            <a:extLst xmlns:a="http://schemas.openxmlformats.org/drawingml/2006/main">
              <a:ext uri="{FF2B5EF4-FFF2-40B4-BE49-F238E27FC236}">
                <a16:creationId xmlns:a16="http://schemas.microsoft.com/office/drawing/2014/main" id="{BB82B779-A037-434E-91F9-B59EC151504B}"/>
              </a:ext>
            </a:extLst>
          </p:cNvPr>
          <p:cNvSpPr>
            <a:spLocks xmlns:a="http://schemas.openxmlformats.org/drawingml/2006/main" noGrp="1"/>
          </p:cNvSpPr>
          <p:nvPr/>
        </p:nvSpPr>
        <p:spPr>
          <a:xfrm xmlns:a="http://schemas.openxmlformats.org/drawingml/2006/main">
            <a:off x="1104900" y="4457700"/>
            <a:ext cx="4591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Khi chốt kỳ phải giữ lại đơn giá đã áp dụng để dữ liệu lịch sử không bị thay đổi về sau.</a:t>
            </a:r>
          </a:p>
        </p:txBody>
      </p:sp>
      <p:sp>
        <p:nvSpPr>
          <p:cNvPr id="14" name="">
            <a:extLst xmlns:a="http://schemas.openxmlformats.org/drawingml/2006/main">
              <a:ext uri="{FF2B5EF4-FFF2-40B4-BE49-F238E27FC236}">
                <a16:creationId xmlns:a16="http://schemas.microsoft.com/office/drawing/2014/main" id="{F7F0384D-217F-43CC-B6CD-3A5E46ABFA86}"/>
              </a:ext>
            </a:extLst>
          </p:cNvPr>
          <p:cNvSpPr>
            <a:spLocks xmlns:a="http://schemas.openxmlformats.org/drawingml/2006/main" noGrp="1"/>
          </p:cNvSpPr>
          <p:nvPr/>
        </p:nvSpPr>
        <p:spPr>
          <a:xfrm xmlns:a="http://schemas.openxmlformats.org/drawingml/2006/main">
            <a:off x="6191250" y="4095750"/>
            <a:ext cx="43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078CCB"/>
                </a:solidFill>
                <a:latin typeface="Arial"/>
                <a:ea typeface="Arial"/>
                <a:cs typeface="Arial"/>
              </a:defRPr>
            </a:pPr>
            <a:r>
              <a:rPr sz="1275" b="1" i="0">
                <a:solidFill>
                  <a:srgbClr val="078CCB"/>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28D5706C-4CA3-42E0-B9DC-3D6704905561}"/>
              </a:ext>
            </a:extLst>
          </p:cNvPr>
          <p:cNvSpPr>
            <a:spLocks xmlns:a="http://schemas.openxmlformats.org/drawingml/2006/main" noGrp="1"/>
          </p:cNvSpPr>
          <p:nvPr/>
        </p:nvSpPr>
        <p:spPr>
          <a:xfrm xmlns:a="http://schemas.openxmlformats.org/drawingml/2006/main">
            <a:off x="6743700" y="4095750"/>
            <a:ext cx="459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12448"/>
                </a:solidFill>
                <a:latin typeface="Arial"/>
                <a:ea typeface="Arial"/>
                <a:cs typeface="Arial"/>
              </a:defRPr>
            </a:pPr>
            <a:r>
              <a:rPr sz="1575" b="1" i="0">
                <a:solidFill>
                  <a:srgbClr val="112448"/>
                </a:solidFill>
                <a:latin typeface="Arial"/>
                <a:ea typeface="Arial"/>
                <a:cs typeface="Arial"/>
              </a:rPr>
              <a:t>Phân quyền và truy vết</a:t>
            </a:r>
          </a:p>
        </p:txBody>
      </p:sp>
      <p:sp>
        <p:nvSpPr>
          <p:cNvPr id="16" name="">
            <a:extLst xmlns:a="http://schemas.openxmlformats.org/drawingml/2006/main">
              <a:ext uri="{FF2B5EF4-FFF2-40B4-BE49-F238E27FC236}">
                <a16:creationId xmlns:a16="http://schemas.microsoft.com/office/drawing/2014/main" id="{0303B854-D695-40E4-98AD-C19F784730F8}"/>
              </a:ext>
            </a:extLst>
          </p:cNvPr>
          <p:cNvSpPr>
            <a:spLocks xmlns:a="http://schemas.openxmlformats.org/drawingml/2006/main" noGrp="1"/>
          </p:cNvSpPr>
          <p:nvPr/>
        </p:nvSpPr>
        <p:spPr>
          <a:xfrm xmlns:a="http://schemas.openxmlformats.org/drawingml/2006/main">
            <a:off x="6743700" y="4457700"/>
            <a:ext cx="4591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Mỗi thao tác phải đúng phạm vi, đúng quyền và có nhật ký để kiểm tra lại.</a:t>
            </a:r>
          </a:p>
        </p:txBody>
      </p:sp>
    </p:spTree>
    <p:extLst>
      <p:ext uri="{BB962C8B-B14F-4D97-AF65-F5344CB8AC3E}">
        <p14:creationId xmlns:p14="http://schemas.microsoft.com/office/powerpoint/2010/main" val="15199876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35D4D1A-1E42-4F53-AA00-4D04A308133A}"/>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01 · BÀI TOÁN</a:t>
            </a:r>
          </a:p>
        </p:txBody>
      </p:sp>
      <p:sp>
        <p:nvSpPr>
          <p:cNvPr id="2" name="">
            <a:extLst xmlns:a="http://schemas.openxmlformats.org/drawingml/2006/main">
              <a:ext uri="{FF2B5EF4-FFF2-40B4-BE49-F238E27FC236}">
                <a16:creationId xmlns:a16="http://schemas.microsoft.com/office/drawing/2014/main" id="{65DDC93C-4A2F-45F4-89CF-7392FF3FF4C5}"/>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Mục tiêu và phạm vi thực hiện</a:t>
            </a:r>
          </a:p>
        </p:txBody>
      </p:sp>
      <p:sp>
        <p:nvSpPr>
          <p:cNvPr id="3" name="">
            <a:extLst xmlns:a="http://schemas.openxmlformats.org/drawingml/2006/main">
              <a:ext uri="{FF2B5EF4-FFF2-40B4-BE49-F238E27FC236}">
                <a16:creationId xmlns:a16="http://schemas.microsoft.com/office/drawing/2014/main" id="{3682F3B2-3B78-41BD-A6DA-2C92F0532A03}"/>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083937DF-5930-42C1-869C-88F4ED603053}"/>
              </a:ext>
            </a:extLst>
          </p:cNvPr>
          <p:cNvSpPr>
            <a:spLocks xmlns:a="http://schemas.openxmlformats.org/drawingml/2006/main" noGrp="1"/>
          </p:cNvSpPr>
          <p:nvPr/>
        </p:nvSpPr>
        <p:spPr>
          <a:xfrm xmlns:a="http://schemas.openxmlformats.org/drawingml/2006/main">
            <a:off x="552450" y="1428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12448"/>
                </a:solidFill>
                <a:latin typeface="Arial"/>
                <a:ea typeface="Arial"/>
                <a:cs typeface="Arial"/>
              </a:defRPr>
            </a:pPr>
            <a:r>
              <a:rPr sz="1650" b="1" i="0">
                <a:solidFill>
                  <a:srgbClr val="112448"/>
                </a:solidFill>
                <a:latin typeface="Arial"/>
                <a:ea typeface="Arial"/>
                <a:cs typeface="Arial"/>
              </a:rPr>
              <a:t>Mục tiêu</a:t>
            </a:r>
          </a:p>
        </p:txBody>
      </p:sp>
      <p:sp>
        <p:nvSpPr>
          <p:cNvPr id="5" name="">
            <a:extLst xmlns:a="http://schemas.openxmlformats.org/drawingml/2006/main">
              <a:ext uri="{FF2B5EF4-FFF2-40B4-BE49-F238E27FC236}">
                <a16:creationId xmlns:a16="http://schemas.microsoft.com/office/drawing/2014/main" id="{44BAB42E-8844-4CB3-A1FE-395C439D4630}"/>
              </a:ext>
            </a:extLst>
          </p:cNvPr>
          <p:cNvSpPr>
            <a:spLocks xmlns:a="http://schemas.openxmlformats.org/drawingml/2006/main" noGrp="1"/>
          </p:cNvSpPr>
          <p:nvPr/>
        </p:nvSpPr>
        <p:spPr>
          <a:xfrm xmlns:a="http://schemas.openxmlformats.org/drawingml/2006/main">
            <a:off x="590550" y="2038350"/>
            <a:ext cx="266700" cy="2667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6" name="">
            <a:extLst xmlns:a="http://schemas.openxmlformats.org/drawingml/2006/main">
              <a:ext uri="{FF2B5EF4-FFF2-40B4-BE49-F238E27FC236}">
                <a16:creationId xmlns:a16="http://schemas.microsoft.com/office/drawing/2014/main" id="{679F3727-BD60-4E50-9BC6-D783FC1FB0F2}"/>
              </a:ext>
            </a:extLst>
          </p:cNvPr>
          <p:cNvSpPr>
            <a:spLocks xmlns:a="http://schemas.openxmlformats.org/drawingml/2006/main" noGrp="1"/>
          </p:cNvSpPr>
          <p:nvPr/>
        </p:nvSpPr>
        <p:spPr>
          <a:xfrm xmlns:a="http://schemas.openxmlformats.org/drawingml/2006/main">
            <a:off x="590550" y="20478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A53E26CB-0E23-414D-9D83-89566C531BD4}"/>
              </a:ext>
            </a:extLst>
          </p:cNvPr>
          <p:cNvSpPr>
            <a:spLocks xmlns:a="http://schemas.openxmlformats.org/drawingml/2006/main" noGrp="1"/>
          </p:cNvSpPr>
          <p:nvPr/>
        </p:nvSpPr>
        <p:spPr>
          <a:xfrm xmlns:a="http://schemas.openxmlformats.org/drawingml/2006/main">
            <a:off x="1009650" y="20193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12448"/>
                </a:solidFill>
                <a:latin typeface="Arial"/>
                <a:ea typeface="Arial"/>
                <a:cs typeface="Arial"/>
              </a:defRPr>
            </a:pPr>
            <a:r>
              <a:rPr sz="1500" b="1" i="0">
                <a:solidFill>
                  <a:srgbClr val="112448"/>
                </a:solidFill>
                <a:latin typeface="Arial"/>
                <a:ea typeface="Arial"/>
                <a:cs typeface="Arial"/>
              </a:rPr>
              <a:t>Quản lý theo kỳ</a:t>
            </a:r>
          </a:p>
        </p:txBody>
      </p:sp>
      <p:sp>
        <p:nvSpPr>
          <p:cNvPr id="8" name="">
            <a:extLst xmlns:a="http://schemas.openxmlformats.org/drawingml/2006/main">
              <a:ext uri="{FF2B5EF4-FFF2-40B4-BE49-F238E27FC236}">
                <a16:creationId xmlns:a16="http://schemas.microsoft.com/office/drawing/2014/main" id="{D05AF690-9DAA-42D3-B305-5E006F75D06A}"/>
              </a:ext>
            </a:extLst>
          </p:cNvPr>
          <p:cNvSpPr>
            <a:spLocks xmlns:a="http://schemas.openxmlformats.org/drawingml/2006/main" noGrp="1"/>
          </p:cNvSpPr>
          <p:nvPr/>
        </p:nvSpPr>
        <p:spPr>
          <a:xfrm xmlns:a="http://schemas.openxmlformats.org/drawingml/2006/main">
            <a:off x="1009650" y="2352675"/>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Tạo, sửa, hủy, sao chép, theo dõi lịch sử và xử lý đơn bổ sung.</a:t>
            </a:r>
          </a:p>
        </p:txBody>
      </p:sp>
      <p:sp>
        <p:nvSpPr>
          <p:cNvPr id="9" name="">
            <a:extLst xmlns:a="http://schemas.openxmlformats.org/drawingml/2006/main">
              <a:ext uri="{FF2B5EF4-FFF2-40B4-BE49-F238E27FC236}">
                <a16:creationId xmlns:a16="http://schemas.microsoft.com/office/drawing/2014/main" id="{0E11F388-9A20-45E0-8CDB-1AE0F3AD3185}"/>
              </a:ext>
            </a:extLst>
          </p:cNvPr>
          <p:cNvSpPr>
            <a:spLocks xmlns:a="http://schemas.openxmlformats.org/drawingml/2006/main" noGrp="1"/>
          </p:cNvSpPr>
          <p:nvPr/>
        </p:nvSpPr>
        <p:spPr>
          <a:xfrm xmlns:a="http://schemas.openxmlformats.org/drawingml/2006/main">
            <a:off x="590550" y="3143250"/>
            <a:ext cx="266700" cy="2667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10" name="">
            <a:extLst xmlns:a="http://schemas.openxmlformats.org/drawingml/2006/main">
              <a:ext uri="{FF2B5EF4-FFF2-40B4-BE49-F238E27FC236}">
                <a16:creationId xmlns:a16="http://schemas.microsoft.com/office/drawing/2014/main" id="{996F0534-8264-40D7-A5EB-B6A9E4376C4C}"/>
              </a:ext>
            </a:extLst>
          </p:cNvPr>
          <p:cNvSpPr>
            <a:spLocks xmlns:a="http://schemas.openxmlformats.org/drawingml/2006/main" noGrp="1"/>
          </p:cNvSpPr>
          <p:nvPr/>
        </p:nvSpPr>
        <p:spPr>
          <a:xfrm xmlns:a="http://schemas.openxmlformats.org/drawingml/2006/main">
            <a:off x="590550" y="3152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0E160AAC-03E0-484C-8019-D648114A3E79}"/>
              </a:ext>
            </a:extLst>
          </p:cNvPr>
          <p:cNvSpPr>
            <a:spLocks xmlns:a="http://schemas.openxmlformats.org/drawingml/2006/main" noGrp="1"/>
          </p:cNvSpPr>
          <p:nvPr/>
        </p:nvSpPr>
        <p:spPr>
          <a:xfrm xmlns:a="http://schemas.openxmlformats.org/drawingml/2006/main">
            <a:off x="1009650" y="31242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12448"/>
                </a:solidFill>
                <a:latin typeface="Arial"/>
                <a:ea typeface="Arial"/>
                <a:cs typeface="Arial"/>
              </a:defRPr>
            </a:pPr>
            <a:r>
              <a:rPr sz="1500" b="1" i="0">
                <a:solidFill>
                  <a:srgbClr val="112448"/>
                </a:solidFill>
                <a:latin typeface="Arial"/>
                <a:ea typeface="Arial"/>
                <a:cs typeface="Arial"/>
              </a:rPr>
              <a:t>Kiểm soát dữ liệu</a:t>
            </a:r>
          </a:p>
        </p:txBody>
      </p:sp>
      <p:sp>
        <p:nvSpPr>
          <p:cNvPr id="12" name="">
            <a:extLst xmlns:a="http://schemas.openxmlformats.org/drawingml/2006/main">
              <a:ext uri="{FF2B5EF4-FFF2-40B4-BE49-F238E27FC236}">
                <a16:creationId xmlns:a16="http://schemas.microsoft.com/office/drawing/2014/main" id="{A97F1A8B-9537-47E5-A6B1-77307F66E789}"/>
              </a:ext>
            </a:extLst>
          </p:cNvPr>
          <p:cNvSpPr>
            <a:spLocks xmlns:a="http://schemas.openxmlformats.org/drawingml/2006/main" noGrp="1"/>
          </p:cNvSpPr>
          <p:nvPr/>
        </p:nvSpPr>
        <p:spPr>
          <a:xfrm xmlns:a="http://schemas.openxmlformats.org/drawingml/2006/main">
            <a:off x="1009650" y="3457575"/>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Danh mục, nhà cung cấp, bảng giá, phân quyền và chốt kỳ có kiểm soát.</a:t>
            </a:r>
          </a:p>
        </p:txBody>
      </p:sp>
      <p:sp>
        <p:nvSpPr>
          <p:cNvPr id="13" name="">
            <a:extLst xmlns:a="http://schemas.openxmlformats.org/drawingml/2006/main">
              <a:ext uri="{FF2B5EF4-FFF2-40B4-BE49-F238E27FC236}">
                <a16:creationId xmlns:a16="http://schemas.microsoft.com/office/drawing/2014/main" id="{34232D39-965C-4876-8FAE-EB5D5EBA91D2}"/>
              </a:ext>
            </a:extLst>
          </p:cNvPr>
          <p:cNvSpPr>
            <a:spLocks xmlns:a="http://schemas.openxmlformats.org/drawingml/2006/main" noGrp="1"/>
          </p:cNvSpPr>
          <p:nvPr/>
        </p:nvSpPr>
        <p:spPr>
          <a:xfrm xmlns:a="http://schemas.openxmlformats.org/drawingml/2006/main">
            <a:off x="590550" y="4248150"/>
            <a:ext cx="266700" cy="2667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14" name="">
            <a:extLst xmlns:a="http://schemas.openxmlformats.org/drawingml/2006/main">
              <a:ext uri="{FF2B5EF4-FFF2-40B4-BE49-F238E27FC236}">
                <a16:creationId xmlns:a16="http://schemas.microsoft.com/office/drawing/2014/main" id="{0A578379-E902-4414-8197-48B46E41FF2F}"/>
              </a:ext>
            </a:extLst>
          </p:cNvPr>
          <p:cNvSpPr>
            <a:spLocks xmlns:a="http://schemas.openxmlformats.org/drawingml/2006/main" noGrp="1"/>
          </p:cNvSpPr>
          <p:nvPr/>
        </p:nvSpPr>
        <p:spPr>
          <a:xfrm xmlns:a="http://schemas.openxmlformats.org/drawingml/2006/main">
            <a:off x="590550" y="42576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AA794E97-FC69-47DC-8B47-FE289B37C43F}"/>
              </a:ext>
            </a:extLst>
          </p:cNvPr>
          <p:cNvSpPr>
            <a:spLocks xmlns:a="http://schemas.openxmlformats.org/drawingml/2006/main" noGrp="1"/>
          </p:cNvSpPr>
          <p:nvPr/>
        </p:nvSpPr>
        <p:spPr>
          <a:xfrm xmlns:a="http://schemas.openxmlformats.org/drawingml/2006/main">
            <a:off x="1009650" y="42291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12448"/>
                </a:solidFill>
                <a:latin typeface="Arial"/>
                <a:ea typeface="Arial"/>
                <a:cs typeface="Arial"/>
              </a:defRPr>
            </a:pPr>
            <a:r>
              <a:rPr sz="1500" b="1" i="0">
                <a:solidFill>
                  <a:srgbClr val="112448"/>
                </a:solidFill>
                <a:latin typeface="Arial"/>
                <a:ea typeface="Arial"/>
                <a:cs typeface="Arial"/>
              </a:rPr>
              <a:t>Báo cáo có phạm vi</a:t>
            </a:r>
          </a:p>
        </p:txBody>
      </p:sp>
      <p:sp>
        <p:nvSpPr>
          <p:cNvPr id="16" name="">
            <a:extLst xmlns:a="http://schemas.openxmlformats.org/drawingml/2006/main">
              <a:ext uri="{FF2B5EF4-FFF2-40B4-BE49-F238E27FC236}">
                <a16:creationId xmlns:a16="http://schemas.microsoft.com/office/drawing/2014/main" id="{6C63EC7C-2B9E-444A-A127-3A81FB980ABC}"/>
              </a:ext>
            </a:extLst>
          </p:cNvPr>
          <p:cNvSpPr>
            <a:spLocks xmlns:a="http://schemas.openxmlformats.org/drawingml/2006/main" noGrp="1"/>
          </p:cNvSpPr>
          <p:nvPr/>
        </p:nvSpPr>
        <p:spPr>
          <a:xfrm xmlns:a="http://schemas.openxmlformats.org/drawingml/2006/main">
            <a:off x="1009650" y="4562475"/>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KPI, xu hướng và xuất PDF/XLSX/CSV theo quyền được cấp.</a:t>
            </a:r>
          </a:p>
        </p:txBody>
      </p:sp>
      <p:sp>
        <p:nvSpPr>
          <p:cNvPr id="17" name="">
            <a:extLst xmlns:a="http://schemas.openxmlformats.org/drawingml/2006/main">
              <a:ext uri="{FF2B5EF4-FFF2-40B4-BE49-F238E27FC236}">
                <a16:creationId xmlns:a16="http://schemas.microsoft.com/office/drawing/2014/main" id="{AAFDC031-E01A-4D8D-A44B-BB512C749364}"/>
              </a:ext>
            </a:extLst>
          </p:cNvPr>
          <p:cNvSpPr>
            <a:spLocks xmlns:a="http://schemas.openxmlformats.org/drawingml/2006/main" noGrp="1"/>
          </p:cNvSpPr>
          <p:nvPr/>
        </p:nvSpPr>
        <p:spPr>
          <a:xfrm xmlns:a="http://schemas.openxmlformats.org/drawingml/2006/main">
            <a:off x="5810250" y="1428750"/>
            <a:ext cx="5829300" cy="3886200"/>
          </a:xfrm>
          <a:prstGeom xmlns:a="http://schemas.openxmlformats.org/drawingml/2006/main" prst="roundRect">
            <a:avLst>
              <a:gd name="adj" fmla="val 2941"/>
            </a:avLst>
          </a:prstGeom>
          <a:solidFill xmlns:a="http://schemas.openxmlformats.org/drawingml/2006/main">
            <a:srgbClr val="F4F7FA"/>
          </a:solidFill>
          <a:ln xmlns:a="http://schemas.openxmlformats.org/drawingml/2006/main" w="9525">
            <a:solidFill>
              <a:srgbClr val="D7DEE8"/>
            </a:solidFill>
            <a:prstDash val="solid"/>
          </a:ln>
        </p:spPr>
      </p:sp>
      <p:sp>
        <p:nvSpPr>
          <p:cNvPr id="18" name="">
            <a:extLst xmlns:a="http://schemas.openxmlformats.org/drawingml/2006/main">
              <a:ext uri="{FF2B5EF4-FFF2-40B4-BE49-F238E27FC236}">
                <a16:creationId xmlns:a16="http://schemas.microsoft.com/office/drawing/2014/main" id="{AC164926-DBFB-48FB-B0EE-80A487EFCE45}"/>
              </a:ext>
            </a:extLst>
          </p:cNvPr>
          <p:cNvSpPr>
            <a:spLocks xmlns:a="http://schemas.openxmlformats.org/drawingml/2006/main" noGrp="1"/>
          </p:cNvSpPr>
          <p:nvPr/>
        </p:nvSpPr>
        <p:spPr>
          <a:xfrm xmlns:a="http://schemas.openxmlformats.org/drawingml/2006/main">
            <a:off x="6153150" y="17526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i="0">
                <a:solidFill>
                  <a:srgbClr val="112448"/>
                </a:solidFill>
                <a:latin typeface="Arial"/>
                <a:ea typeface="Arial"/>
                <a:cs typeface="Arial"/>
              </a:defRPr>
            </a:pPr>
            <a:r>
              <a:rPr sz="1800" b="1" i="0">
                <a:solidFill>
                  <a:srgbClr val="112448"/>
                </a:solidFill>
                <a:latin typeface="Arial"/>
                <a:ea typeface="Arial"/>
                <a:cs typeface="Arial"/>
              </a:rPr>
              <a:t>Phạm vi hệ thống nội bộ</a:t>
            </a:r>
          </a:p>
        </p:txBody>
      </p:sp>
      <p:sp>
        <p:nvSpPr>
          <p:cNvPr id="19" name="">
            <a:extLst xmlns:a="http://schemas.openxmlformats.org/drawingml/2006/main">
              <a:ext uri="{FF2B5EF4-FFF2-40B4-BE49-F238E27FC236}">
                <a16:creationId xmlns:a16="http://schemas.microsoft.com/office/drawing/2014/main" id="{2A1898E5-5EE0-4FB3-9628-81CBE86B28A4}"/>
              </a:ext>
            </a:extLst>
          </p:cNvPr>
          <p:cNvSpPr>
            <a:spLocks xmlns:a="http://schemas.openxmlformats.org/drawingml/2006/main" noGrp="1"/>
          </p:cNvSpPr>
          <p:nvPr/>
        </p:nvSpPr>
        <p:spPr>
          <a:xfrm xmlns:a="http://schemas.openxmlformats.org/drawingml/2006/main">
            <a:off x="615315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BA VAI TRÒ CHÍNH</a:t>
            </a:r>
          </a:p>
        </p:txBody>
      </p:sp>
      <p:sp>
        <p:nvSpPr>
          <p:cNvPr id="20" name="">
            <a:extLst xmlns:a="http://schemas.openxmlformats.org/drawingml/2006/main">
              <a:ext uri="{FF2B5EF4-FFF2-40B4-BE49-F238E27FC236}">
                <a16:creationId xmlns:a16="http://schemas.microsoft.com/office/drawing/2014/main" id="{ED0488F3-9848-4CDA-85B7-AC84A72E2D89}"/>
              </a:ext>
            </a:extLst>
          </p:cNvPr>
          <p:cNvSpPr>
            <a:spLocks xmlns:a="http://schemas.openxmlformats.org/drawingml/2006/main" noGrp="1"/>
          </p:cNvSpPr>
          <p:nvPr/>
        </p:nvSpPr>
        <p:spPr>
          <a:xfrm xmlns:a="http://schemas.openxmlformats.org/drawingml/2006/main">
            <a:off x="6153150" y="2714625"/>
            <a:ext cx="1905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1C8F3"/>
            </a:solidFill>
            <a:prstDash val="solid"/>
          </a:ln>
        </p:spPr>
      </p:sp>
      <p:sp>
        <p:nvSpPr>
          <p:cNvPr id="21" name="">
            <a:extLst xmlns:a="http://schemas.openxmlformats.org/drawingml/2006/main">
              <a:ext uri="{FF2B5EF4-FFF2-40B4-BE49-F238E27FC236}">
                <a16:creationId xmlns:a16="http://schemas.microsoft.com/office/drawing/2014/main" id="{34CBD576-C241-42EE-8575-3ED6944783AB}"/>
              </a:ext>
            </a:extLst>
          </p:cNvPr>
          <p:cNvSpPr>
            <a:spLocks xmlns:a="http://schemas.openxmlformats.org/drawingml/2006/main" noGrp="1"/>
          </p:cNvSpPr>
          <p:nvPr/>
        </p:nvSpPr>
        <p:spPr>
          <a:xfrm xmlns:a="http://schemas.openxmlformats.org/drawingml/2006/main">
            <a:off x="6248400" y="27717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112448"/>
                </a:solidFill>
                <a:latin typeface="Arial"/>
                <a:ea typeface="Arial"/>
                <a:cs typeface="Arial"/>
              </a:defRPr>
            </a:pPr>
            <a:r>
              <a:rPr sz="1125" b="1" i="0">
                <a:solidFill>
                  <a:srgbClr val="112448"/>
                </a:solidFill>
                <a:latin typeface="Arial"/>
                <a:ea typeface="Arial"/>
                <a:cs typeface="Arial"/>
              </a:rPr>
              <a:t>EMPLOYEE · Nhân viên</a:t>
            </a:r>
          </a:p>
        </p:txBody>
      </p:sp>
      <p:sp>
        <p:nvSpPr>
          <p:cNvPr id="22" name="">
            <a:extLst xmlns:a="http://schemas.openxmlformats.org/drawingml/2006/main">
              <a:ext uri="{FF2B5EF4-FFF2-40B4-BE49-F238E27FC236}">
                <a16:creationId xmlns:a16="http://schemas.microsoft.com/office/drawing/2014/main" id="{64695D2D-DF78-4FE7-AEE9-967F0C5E96D2}"/>
              </a:ext>
            </a:extLst>
          </p:cNvPr>
          <p:cNvSpPr>
            <a:spLocks xmlns:a="http://schemas.openxmlformats.org/drawingml/2006/main" noGrp="1"/>
          </p:cNvSpPr>
          <p:nvPr/>
        </p:nvSpPr>
        <p:spPr>
          <a:xfrm xmlns:a="http://schemas.openxmlformats.org/drawingml/2006/main">
            <a:off x="8229600" y="2714625"/>
            <a:ext cx="1809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1C8F3"/>
            </a:solidFill>
            <a:prstDash val="solid"/>
          </a:ln>
        </p:spPr>
      </p:sp>
      <p:sp>
        <p:nvSpPr>
          <p:cNvPr id="23" name="">
            <a:extLst xmlns:a="http://schemas.openxmlformats.org/drawingml/2006/main">
              <a:ext uri="{FF2B5EF4-FFF2-40B4-BE49-F238E27FC236}">
                <a16:creationId xmlns:a16="http://schemas.microsoft.com/office/drawing/2014/main" id="{D01BD418-7050-457B-B600-49D1EEED2002}"/>
              </a:ext>
            </a:extLst>
          </p:cNvPr>
          <p:cNvSpPr>
            <a:spLocks xmlns:a="http://schemas.openxmlformats.org/drawingml/2006/main" noGrp="1"/>
          </p:cNvSpPr>
          <p:nvPr/>
        </p:nvSpPr>
        <p:spPr>
          <a:xfrm xmlns:a="http://schemas.openxmlformats.org/drawingml/2006/main">
            <a:off x="8324850" y="277177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112448"/>
                </a:solidFill>
                <a:latin typeface="Arial"/>
                <a:ea typeface="Arial"/>
                <a:cs typeface="Arial"/>
              </a:defRPr>
            </a:pPr>
            <a:r>
              <a:rPr sz="1125" b="1" i="0">
                <a:solidFill>
                  <a:srgbClr val="112448"/>
                </a:solidFill>
                <a:latin typeface="Arial"/>
                <a:ea typeface="Arial"/>
                <a:cs typeface="Arial"/>
              </a:rPr>
              <a:t>MANAGER · Quản lý</a:t>
            </a:r>
          </a:p>
        </p:txBody>
      </p:sp>
      <p:sp>
        <p:nvSpPr>
          <p:cNvPr id="24" name="">
            <a:extLst xmlns:a="http://schemas.openxmlformats.org/drawingml/2006/main">
              <a:ext uri="{FF2B5EF4-FFF2-40B4-BE49-F238E27FC236}">
                <a16:creationId xmlns:a16="http://schemas.microsoft.com/office/drawing/2014/main" id="{A51A1630-0677-4804-9663-DB9CDF96BA8D}"/>
              </a:ext>
            </a:extLst>
          </p:cNvPr>
          <p:cNvSpPr>
            <a:spLocks xmlns:a="http://schemas.openxmlformats.org/drawingml/2006/main" noGrp="1"/>
          </p:cNvSpPr>
          <p:nvPr/>
        </p:nvSpPr>
        <p:spPr>
          <a:xfrm xmlns:a="http://schemas.openxmlformats.org/drawingml/2006/main">
            <a:off x="10191750" y="2714625"/>
            <a:ext cx="12382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1C8F3"/>
            </a:solidFill>
            <a:prstDash val="solid"/>
          </a:ln>
        </p:spPr>
      </p:sp>
      <p:sp>
        <p:nvSpPr>
          <p:cNvPr id="25" name="">
            <a:extLst xmlns:a="http://schemas.openxmlformats.org/drawingml/2006/main">
              <a:ext uri="{FF2B5EF4-FFF2-40B4-BE49-F238E27FC236}">
                <a16:creationId xmlns:a16="http://schemas.microsoft.com/office/drawing/2014/main" id="{074FBD27-2948-410E-91CB-96C99F5D8777}"/>
              </a:ext>
            </a:extLst>
          </p:cNvPr>
          <p:cNvSpPr>
            <a:spLocks xmlns:a="http://schemas.openxmlformats.org/drawingml/2006/main" noGrp="1"/>
          </p:cNvSpPr>
          <p:nvPr/>
        </p:nvSpPr>
        <p:spPr>
          <a:xfrm xmlns:a="http://schemas.openxmlformats.org/drawingml/2006/main">
            <a:off x="10287000" y="27717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112448"/>
                </a:solidFill>
                <a:latin typeface="Arial"/>
                <a:ea typeface="Arial"/>
                <a:cs typeface="Arial"/>
              </a:defRPr>
            </a:pPr>
            <a:r>
              <a:rPr sz="1050" b="1" i="0">
                <a:solidFill>
                  <a:srgbClr val="112448"/>
                </a:solidFill>
                <a:latin typeface="Arial"/>
                <a:ea typeface="Arial"/>
                <a:cs typeface="Arial"/>
              </a:rPr>
              <a:t>DEV · Quản trị</a:t>
            </a:r>
          </a:p>
        </p:txBody>
      </p:sp>
      <p:sp>
        <p:nvSpPr>
          <p:cNvPr id="26" name="">
            <a:extLst xmlns:a="http://schemas.openxmlformats.org/drawingml/2006/main">
              <a:ext uri="{FF2B5EF4-FFF2-40B4-BE49-F238E27FC236}">
                <a16:creationId xmlns:a16="http://schemas.microsoft.com/office/drawing/2014/main" id="{8D465248-D57E-4618-BE06-C6D5A644BD26}"/>
              </a:ext>
            </a:extLst>
          </p:cNvPr>
          <p:cNvSpPr>
            <a:spLocks xmlns:a="http://schemas.openxmlformats.org/drawingml/2006/main" noGrp="1"/>
          </p:cNvSpPr>
          <p:nvPr/>
        </p:nvSpPr>
        <p:spPr>
          <a:xfrm xmlns:a="http://schemas.openxmlformats.org/drawingml/2006/main">
            <a:off x="6153150" y="33813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0F8A6A"/>
                </a:solidFill>
                <a:latin typeface="Arial"/>
                <a:ea typeface="Arial"/>
                <a:cs typeface="Arial"/>
              </a:defRPr>
            </a:pPr>
            <a:r>
              <a:rPr sz="1275" b="1" i="0">
                <a:solidFill>
                  <a:srgbClr val="0F8A6A"/>
                </a:solidFill>
                <a:latin typeface="Arial"/>
                <a:ea typeface="Arial"/>
                <a:cs typeface="Arial"/>
              </a:rPr>
              <a:t>Trong phạm vi</a:t>
            </a:r>
          </a:p>
        </p:txBody>
      </p:sp>
      <p:sp>
        <p:nvSpPr>
          <p:cNvPr id="27" name="">
            <a:extLst xmlns:a="http://schemas.openxmlformats.org/drawingml/2006/main">
              <a:ext uri="{FF2B5EF4-FFF2-40B4-BE49-F238E27FC236}">
                <a16:creationId xmlns:a16="http://schemas.microsoft.com/office/drawing/2014/main" id="{DECC5103-0B47-4865-A7C7-D7180791E95D}"/>
              </a:ext>
            </a:extLst>
          </p:cNvPr>
          <p:cNvSpPr>
            <a:spLocks xmlns:a="http://schemas.openxmlformats.org/drawingml/2006/main" noGrp="1"/>
          </p:cNvSpPr>
          <p:nvPr/>
        </p:nvSpPr>
        <p:spPr>
          <a:xfrm xmlns:a="http://schemas.openxmlformats.org/drawingml/2006/main">
            <a:off x="6153150" y="36957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172033"/>
                </a:solidFill>
                <a:latin typeface="Arial"/>
                <a:ea typeface="Arial"/>
                <a:cs typeface="Arial"/>
              </a:defRPr>
            </a:pPr>
            <a:r>
              <a:rPr sz="1275" b="0" i="0">
                <a:solidFill>
                  <a:srgbClr val="172033"/>
                </a:solidFill>
                <a:latin typeface="Arial"/>
                <a:ea typeface="Arial"/>
                <a:cs typeface="Arial"/>
              </a:rPr>
              <a:t>Yêu cầu theo kỳ · danh mục · bảng giá · duyệt bổ sung · chốt kỳ · báo cáo · phân quyền</a:t>
            </a:r>
          </a:p>
        </p:txBody>
      </p:sp>
      <p:sp>
        <p:nvSpPr>
          <p:cNvPr id="28" name="">
            <a:extLst xmlns:a="http://schemas.openxmlformats.org/drawingml/2006/main">
              <a:ext uri="{FF2B5EF4-FFF2-40B4-BE49-F238E27FC236}">
                <a16:creationId xmlns:a16="http://schemas.microsoft.com/office/drawing/2014/main" id="{AB5EA01A-7ACA-4A8C-B2C9-4DBF4074B231}"/>
              </a:ext>
            </a:extLst>
          </p:cNvPr>
          <p:cNvSpPr>
            <a:spLocks xmlns:a="http://schemas.openxmlformats.org/drawingml/2006/main" noGrp="1"/>
          </p:cNvSpPr>
          <p:nvPr/>
        </p:nvSpPr>
        <p:spPr>
          <a:xfrm xmlns:a="http://schemas.openxmlformats.org/drawingml/2006/main">
            <a:off x="6153150" y="44958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C23B45"/>
                </a:solidFill>
                <a:latin typeface="Arial"/>
                <a:ea typeface="Arial"/>
                <a:cs typeface="Arial"/>
              </a:defRPr>
            </a:pPr>
            <a:r>
              <a:rPr sz="1275" b="1" i="0">
                <a:solidFill>
                  <a:srgbClr val="C23B45"/>
                </a:solidFill>
                <a:latin typeface="Arial"/>
                <a:ea typeface="Arial"/>
                <a:cs typeface="Arial"/>
              </a:rPr>
              <a:t>Ngoài phạm vi</a:t>
            </a:r>
          </a:p>
        </p:txBody>
      </p:sp>
      <p:sp>
        <p:nvSpPr>
          <p:cNvPr id="29" name="">
            <a:extLst xmlns:a="http://schemas.openxmlformats.org/drawingml/2006/main">
              <a:ext uri="{FF2B5EF4-FFF2-40B4-BE49-F238E27FC236}">
                <a16:creationId xmlns:a16="http://schemas.microsoft.com/office/drawing/2014/main" id="{33F95E69-9A86-4AF0-B809-BDA5B012046F}"/>
              </a:ext>
            </a:extLst>
          </p:cNvPr>
          <p:cNvSpPr>
            <a:spLocks xmlns:a="http://schemas.openxmlformats.org/drawingml/2006/main" noGrp="1"/>
          </p:cNvSpPr>
          <p:nvPr/>
        </p:nvSpPr>
        <p:spPr>
          <a:xfrm xmlns:a="http://schemas.openxmlformats.org/drawingml/2006/main">
            <a:off x="6153150" y="48101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Bán hàng công khai · thanh toán · quản lý kho · phát hành đơn mua hàng · tích hợp HR chính thức</a:t>
            </a:r>
          </a:p>
        </p:txBody>
      </p:sp>
    </p:spTree>
    <p:extLst>
      <p:ext uri="{BB962C8B-B14F-4D97-AF65-F5344CB8AC3E}">
        <p14:creationId xmlns:p14="http://schemas.microsoft.com/office/powerpoint/2010/main" val="15769703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29A7700-958D-410C-A5F1-8EB79DDDE44B}"/>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02 · GIẢI PHÁP</a:t>
            </a:r>
          </a:p>
        </p:txBody>
      </p:sp>
      <p:sp>
        <p:nvSpPr>
          <p:cNvPr id="2" name="">
            <a:extLst xmlns:a="http://schemas.openxmlformats.org/drawingml/2006/main">
              <a:ext uri="{FF2B5EF4-FFF2-40B4-BE49-F238E27FC236}">
                <a16:creationId xmlns:a16="http://schemas.microsoft.com/office/drawing/2014/main" id="{B7BAF009-8B3B-4B7F-8ABD-CF7B5386C446}"/>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Quy trình nghiệp vụ cốt lõi</a:t>
            </a:r>
          </a:p>
        </p:txBody>
      </p:sp>
      <p:sp>
        <p:nvSpPr>
          <p:cNvPr id="3" name="">
            <a:extLst xmlns:a="http://schemas.openxmlformats.org/drawingml/2006/main">
              <a:ext uri="{FF2B5EF4-FFF2-40B4-BE49-F238E27FC236}">
                <a16:creationId xmlns:a16="http://schemas.microsoft.com/office/drawing/2014/main" id="{B6B8141F-35D9-495C-998A-CABBB68E1696}"/>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38AAE87-9B26-41D5-864A-1AEBF6B903ED}"/>
              </a:ext>
            </a:extLst>
          </p:cNvPr>
          <p:cNvSpPr>
            <a:spLocks xmlns:a="http://schemas.openxmlformats.org/drawingml/2006/main" noGrp="1"/>
          </p:cNvSpPr>
          <p:nvPr/>
        </p:nvSpPr>
        <p:spPr>
          <a:xfrm xmlns:a="http://schemas.openxmlformats.org/drawingml/2006/main">
            <a:off x="552450" y="1428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i="0">
                <a:solidFill>
                  <a:srgbClr val="112448"/>
                </a:solidFill>
                <a:latin typeface="Arial"/>
                <a:ea typeface="Arial"/>
                <a:cs typeface="Arial"/>
              </a:defRPr>
            </a:pPr>
            <a:r>
              <a:rPr sz="1500" b="1" i="0">
                <a:solidFill>
                  <a:srgbClr val="112448"/>
                </a:solidFill>
                <a:latin typeface="Arial"/>
                <a:ea typeface="Arial"/>
                <a:cs typeface="Arial"/>
              </a:rPr>
              <a:t>Vòng đời kỳ</a:t>
            </a:r>
          </a:p>
        </p:txBody>
      </p:sp>
      <p:cxnSp>
        <p:nvCxnSpPr>
          <p:cNvPr id="41" name=""/>
          <p:cNvCxnSpPr/>
          <p:nvPr/>
        </p:nvCxnSpPr>
        <p:spPr>
          <a:xfrm xmlns:a="http://schemas.openxmlformats.org/drawingml/2006/main">
            <a:off x="1000125" y="2724150"/>
            <a:ext cx="9620250" cy="0"/>
          </a:xfrm>
          <a:prstGeom xmlns:a="http://schemas.openxmlformats.org/drawingml/2006/main" prst="straightConnector1">
            <a:avLst/>
          </a:prstGeom>
          <a:ln xmlns:a="http://schemas.openxmlformats.org/drawingml/2006/main" w="28575">
            <a:solidFill>
              <a:srgbClr val="D7DEE8"/>
            </a:solidFill>
            <a:prstDash val="solid"/>
          </a:ln>
        </p:spPr>
      </p:cxnSp>
      <p:sp>
        <p:nvSpPr>
          <p:cNvPr id="6" name="">
            <a:extLst xmlns:a="http://schemas.openxmlformats.org/drawingml/2006/main">
              <a:ext uri="{FF2B5EF4-FFF2-40B4-BE49-F238E27FC236}">
                <a16:creationId xmlns:a16="http://schemas.microsoft.com/office/drawing/2014/main" id="{B22D59A0-AC61-4C99-84BA-CFF23737A0C5}"/>
              </a:ext>
            </a:extLst>
          </p:cNvPr>
          <p:cNvSpPr>
            <a:spLocks xmlns:a="http://schemas.openxmlformats.org/drawingml/2006/main" noGrp="1"/>
          </p:cNvSpPr>
          <p:nvPr/>
        </p:nvSpPr>
        <p:spPr>
          <a:xfrm xmlns:a="http://schemas.openxmlformats.org/drawingml/2006/main">
            <a:off x="1428750" y="2514600"/>
            <a:ext cx="419100" cy="419100"/>
          </a:xfrm>
          <a:prstGeom xmlns:a="http://schemas.openxmlformats.org/drawingml/2006/main" prst="ellipse">
            <a:avLst/>
          </a:prstGeom>
          <a:solidFill xmlns:a="http://schemas.openxmlformats.org/drawingml/2006/main">
            <a:srgbClr val="0EA5E9"/>
          </a:solidFill>
          <a:ln xmlns:a="http://schemas.openxmlformats.org/drawingml/2006/main" w="9525">
            <a:solidFill>
              <a:srgbClr val="0EA5E9"/>
            </a:solidFill>
            <a:prstDash val="solid"/>
          </a:ln>
        </p:spPr>
      </p:sp>
      <p:sp>
        <p:nvSpPr>
          <p:cNvPr id="7" name="">
            <a:extLst xmlns:a="http://schemas.openxmlformats.org/drawingml/2006/main">
              <a:ext uri="{FF2B5EF4-FFF2-40B4-BE49-F238E27FC236}">
                <a16:creationId xmlns:a16="http://schemas.microsoft.com/office/drawing/2014/main" id="{75ACAA39-2A36-440B-9A6B-EDDE7073FA88}"/>
              </a:ext>
            </a:extLst>
          </p:cNvPr>
          <p:cNvSpPr>
            <a:spLocks xmlns:a="http://schemas.openxmlformats.org/drawingml/2006/main" noGrp="1"/>
          </p:cNvSpPr>
          <p:nvPr/>
        </p:nvSpPr>
        <p:spPr>
          <a:xfrm xmlns:a="http://schemas.openxmlformats.org/drawingml/2006/main">
            <a:off x="1428750" y="25908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D17A3E2E-CBC4-481C-8C33-309477E42C86}"/>
              </a:ext>
            </a:extLst>
          </p:cNvPr>
          <p:cNvSpPr>
            <a:spLocks xmlns:a="http://schemas.openxmlformats.org/drawingml/2006/main" noGrp="1"/>
          </p:cNvSpPr>
          <p:nvPr/>
        </p:nvSpPr>
        <p:spPr>
          <a:xfrm xmlns:a="http://schemas.openxmlformats.org/drawingml/2006/main">
            <a:off x="666750" y="3143250"/>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i="0">
                <a:solidFill>
                  <a:srgbClr val="078CCB"/>
                </a:solidFill>
                <a:latin typeface="Arial"/>
                <a:ea typeface="Arial"/>
                <a:cs typeface="Arial"/>
              </a:defRPr>
            </a:pPr>
            <a:r>
              <a:rPr sz="975" b="1" i="0">
                <a:solidFill>
                  <a:srgbClr val="078CCB"/>
                </a:solidFill>
                <a:latin typeface="Arial"/>
                <a:ea typeface="Arial"/>
                <a:cs typeface="Arial"/>
              </a:rPr>
              <a:t>OPEN</a:t>
            </a:r>
          </a:p>
        </p:txBody>
      </p:sp>
      <p:sp>
        <p:nvSpPr>
          <p:cNvPr id="9" name="">
            <a:extLst xmlns:a="http://schemas.openxmlformats.org/drawingml/2006/main">
              <a:ext uri="{FF2B5EF4-FFF2-40B4-BE49-F238E27FC236}">
                <a16:creationId xmlns:a16="http://schemas.microsoft.com/office/drawing/2014/main" id="{CDA93443-1E51-4FC7-A6B0-11799E02B74A}"/>
              </a:ext>
            </a:extLst>
          </p:cNvPr>
          <p:cNvSpPr>
            <a:spLocks xmlns:a="http://schemas.openxmlformats.org/drawingml/2006/main" noGrp="1"/>
          </p:cNvSpPr>
          <p:nvPr/>
        </p:nvSpPr>
        <p:spPr>
          <a:xfrm xmlns:a="http://schemas.openxmlformats.org/drawingml/2006/main">
            <a:off x="666750" y="34290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112448"/>
                </a:solidFill>
                <a:latin typeface="Arial"/>
                <a:ea typeface="Arial"/>
                <a:cs typeface="Arial"/>
              </a:defRPr>
            </a:pPr>
            <a:r>
              <a:rPr sz="1500" b="1" i="0">
                <a:solidFill>
                  <a:srgbClr val="112448"/>
                </a:solidFill>
                <a:latin typeface="Arial"/>
                <a:ea typeface="Arial"/>
                <a:cs typeface="Arial"/>
              </a:rPr>
              <a:t>Đang nhận đơn</a:t>
            </a:r>
          </a:p>
        </p:txBody>
      </p:sp>
      <p:sp>
        <p:nvSpPr>
          <p:cNvPr id="10" name="">
            <a:extLst xmlns:a="http://schemas.openxmlformats.org/drawingml/2006/main">
              <a:ext uri="{FF2B5EF4-FFF2-40B4-BE49-F238E27FC236}">
                <a16:creationId xmlns:a16="http://schemas.microsoft.com/office/drawing/2014/main" id="{FF2D655F-733B-40B9-AA1A-6896D68749E2}"/>
              </a:ext>
            </a:extLst>
          </p:cNvPr>
          <p:cNvSpPr>
            <a:spLocks xmlns:a="http://schemas.openxmlformats.org/drawingml/2006/main" noGrp="1"/>
          </p:cNvSpPr>
          <p:nvPr/>
        </p:nvSpPr>
        <p:spPr>
          <a:xfrm xmlns:a="http://schemas.openxmlformats.org/drawingml/2006/main">
            <a:off x="666750" y="384810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i="0">
                <a:solidFill>
                  <a:srgbClr val="617089"/>
                </a:solidFill>
                <a:latin typeface="Arial"/>
                <a:ea typeface="Arial"/>
                <a:cs typeface="Arial"/>
              </a:defRPr>
            </a:pPr>
            <a:r>
              <a:rPr sz="1125" b="0" i="0">
                <a:solidFill>
                  <a:srgbClr val="617089"/>
                </a:solidFill>
                <a:latin typeface="Arial"/>
                <a:ea typeface="Arial"/>
                <a:cs typeface="Arial"/>
              </a:rPr>
              <a:t>Nhân viên tạo hoặc cập nhật đơn</a:t>
            </a:r>
          </a:p>
        </p:txBody>
      </p:sp>
      <p:sp>
        <p:nvSpPr>
          <p:cNvPr id="11" name="">
            <a:extLst xmlns:a="http://schemas.openxmlformats.org/drawingml/2006/main">
              <a:ext uri="{FF2B5EF4-FFF2-40B4-BE49-F238E27FC236}">
                <a16:creationId xmlns:a16="http://schemas.microsoft.com/office/drawing/2014/main" id="{9A76CC8E-37F9-4931-A9CA-574882249428}"/>
              </a:ext>
            </a:extLst>
          </p:cNvPr>
          <p:cNvSpPr>
            <a:spLocks xmlns:a="http://schemas.openxmlformats.org/drawingml/2006/main" noGrp="1"/>
          </p:cNvSpPr>
          <p:nvPr/>
        </p:nvSpPr>
        <p:spPr>
          <a:xfrm xmlns:a="http://schemas.openxmlformats.org/drawingml/2006/main">
            <a:off x="4152900" y="2514600"/>
            <a:ext cx="419100" cy="419100"/>
          </a:xfrm>
          <a:prstGeom xmlns:a="http://schemas.openxmlformats.org/drawingml/2006/main" prst="ellipse">
            <a:avLst/>
          </a:prstGeom>
          <a:solidFill xmlns:a="http://schemas.openxmlformats.org/drawingml/2006/main">
            <a:srgbClr val="0EA5E9"/>
          </a:solidFill>
          <a:ln xmlns:a="http://schemas.openxmlformats.org/drawingml/2006/main" w="9525">
            <a:solidFill>
              <a:srgbClr val="0EA5E9"/>
            </a:solidFill>
            <a:prstDash val="solid"/>
          </a:ln>
        </p:spPr>
      </p:sp>
      <p:sp>
        <p:nvSpPr>
          <p:cNvPr id="12" name="">
            <a:extLst xmlns:a="http://schemas.openxmlformats.org/drawingml/2006/main">
              <a:ext uri="{FF2B5EF4-FFF2-40B4-BE49-F238E27FC236}">
                <a16:creationId xmlns:a16="http://schemas.microsoft.com/office/drawing/2014/main" id="{40D1B4AA-AB02-4F75-A553-F27092B2883D}"/>
              </a:ext>
            </a:extLst>
          </p:cNvPr>
          <p:cNvSpPr>
            <a:spLocks xmlns:a="http://schemas.openxmlformats.org/drawingml/2006/main" noGrp="1"/>
          </p:cNvSpPr>
          <p:nvPr/>
        </p:nvSpPr>
        <p:spPr>
          <a:xfrm xmlns:a="http://schemas.openxmlformats.org/drawingml/2006/main">
            <a:off x="4152900" y="25908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598ACDF6-6EC9-4F3A-9489-BC09C2C15826}"/>
              </a:ext>
            </a:extLst>
          </p:cNvPr>
          <p:cNvSpPr>
            <a:spLocks xmlns:a="http://schemas.openxmlformats.org/drawingml/2006/main" noGrp="1"/>
          </p:cNvSpPr>
          <p:nvPr/>
        </p:nvSpPr>
        <p:spPr>
          <a:xfrm xmlns:a="http://schemas.openxmlformats.org/drawingml/2006/main">
            <a:off x="3390900" y="3143250"/>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i="0">
                <a:solidFill>
                  <a:srgbClr val="078CCB"/>
                </a:solidFill>
                <a:latin typeface="Arial"/>
                <a:ea typeface="Arial"/>
                <a:cs typeface="Arial"/>
              </a:defRPr>
            </a:pPr>
            <a:r>
              <a:rPr sz="975" b="1" i="0">
                <a:solidFill>
                  <a:srgbClr val="078CCB"/>
                </a:solidFill>
                <a:latin typeface="Arial"/>
                <a:ea typeface="Arial"/>
                <a:cs typeface="Arial"/>
              </a:rPr>
              <a:t>SUBMISSION CLOSED</a:t>
            </a:r>
          </a:p>
        </p:txBody>
      </p:sp>
      <p:sp>
        <p:nvSpPr>
          <p:cNvPr id="14" name="">
            <a:extLst xmlns:a="http://schemas.openxmlformats.org/drawingml/2006/main">
              <a:ext uri="{FF2B5EF4-FFF2-40B4-BE49-F238E27FC236}">
                <a16:creationId xmlns:a16="http://schemas.microsoft.com/office/drawing/2014/main" id="{0D574BD9-234F-498F-BAEA-811756A18376}"/>
              </a:ext>
            </a:extLst>
          </p:cNvPr>
          <p:cNvSpPr>
            <a:spLocks xmlns:a="http://schemas.openxmlformats.org/drawingml/2006/main" noGrp="1"/>
          </p:cNvSpPr>
          <p:nvPr/>
        </p:nvSpPr>
        <p:spPr>
          <a:xfrm xmlns:a="http://schemas.openxmlformats.org/drawingml/2006/main">
            <a:off x="3390900" y="34290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112448"/>
                </a:solidFill>
                <a:latin typeface="Arial"/>
                <a:ea typeface="Arial"/>
                <a:cs typeface="Arial"/>
              </a:defRPr>
            </a:pPr>
            <a:r>
              <a:rPr sz="1500" b="1" i="0">
                <a:solidFill>
                  <a:srgbClr val="112448"/>
                </a:solidFill>
                <a:latin typeface="Arial"/>
                <a:ea typeface="Arial"/>
                <a:cs typeface="Arial"/>
              </a:rPr>
              <a:t>Đóng nhận đơn</a:t>
            </a:r>
          </a:p>
        </p:txBody>
      </p:sp>
      <p:sp>
        <p:nvSpPr>
          <p:cNvPr id="15" name="">
            <a:extLst xmlns:a="http://schemas.openxmlformats.org/drawingml/2006/main">
              <a:ext uri="{FF2B5EF4-FFF2-40B4-BE49-F238E27FC236}">
                <a16:creationId xmlns:a16="http://schemas.microsoft.com/office/drawing/2014/main" id="{17855A22-AA0A-4214-9488-8657217803C8}"/>
              </a:ext>
            </a:extLst>
          </p:cNvPr>
          <p:cNvSpPr>
            <a:spLocks xmlns:a="http://schemas.openxmlformats.org/drawingml/2006/main" noGrp="1"/>
          </p:cNvSpPr>
          <p:nvPr/>
        </p:nvSpPr>
        <p:spPr>
          <a:xfrm xmlns:a="http://schemas.openxmlformats.org/drawingml/2006/main">
            <a:off x="3390900" y="384810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i="0">
                <a:solidFill>
                  <a:srgbClr val="617089"/>
                </a:solidFill>
                <a:latin typeface="Arial"/>
                <a:ea typeface="Arial"/>
                <a:cs typeface="Arial"/>
              </a:defRPr>
            </a:pPr>
            <a:r>
              <a:rPr sz="1125" b="0" i="0">
                <a:solidFill>
                  <a:srgbClr val="617089"/>
                </a:solidFill>
                <a:latin typeface="Arial"/>
                <a:ea typeface="Arial"/>
                <a:cs typeface="Arial"/>
              </a:rPr>
              <a:t>Mở cửa sổ xử lý bổ sung</a:t>
            </a:r>
          </a:p>
        </p:txBody>
      </p:sp>
      <p:sp>
        <p:nvSpPr>
          <p:cNvPr id="16" name="">
            <a:extLst xmlns:a="http://schemas.openxmlformats.org/drawingml/2006/main">
              <a:ext uri="{FF2B5EF4-FFF2-40B4-BE49-F238E27FC236}">
                <a16:creationId xmlns:a16="http://schemas.microsoft.com/office/drawing/2014/main" id="{1F33113F-DD57-4D67-B3AC-226AB4D810D8}"/>
              </a:ext>
            </a:extLst>
          </p:cNvPr>
          <p:cNvSpPr>
            <a:spLocks xmlns:a="http://schemas.openxmlformats.org/drawingml/2006/main" noGrp="1"/>
          </p:cNvSpPr>
          <p:nvPr/>
        </p:nvSpPr>
        <p:spPr>
          <a:xfrm xmlns:a="http://schemas.openxmlformats.org/drawingml/2006/main">
            <a:off x="6877050" y="2514600"/>
            <a:ext cx="419100" cy="419100"/>
          </a:xfrm>
          <a:prstGeom xmlns:a="http://schemas.openxmlformats.org/drawingml/2006/main" prst="ellipse">
            <a:avLst/>
          </a:prstGeom>
          <a:solidFill xmlns:a="http://schemas.openxmlformats.org/drawingml/2006/main">
            <a:srgbClr val="0EA5E9"/>
          </a:solidFill>
          <a:ln xmlns:a="http://schemas.openxmlformats.org/drawingml/2006/main" w="9525">
            <a:solidFill>
              <a:srgbClr val="0EA5E9"/>
            </a:solidFill>
            <a:prstDash val="solid"/>
          </a:ln>
        </p:spPr>
      </p:sp>
      <p:sp>
        <p:nvSpPr>
          <p:cNvPr id="17" name="">
            <a:extLst xmlns:a="http://schemas.openxmlformats.org/drawingml/2006/main">
              <a:ext uri="{FF2B5EF4-FFF2-40B4-BE49-F238E27FC236}">
                <a16:creationId xmlns:a16="http://schemas.microsoft.com/office/drawing/2014/main" id="{ABF85CCF-FCEF-4D4E-9D2B-C166CEA58ECB}"/>
              </a:ext>
            </a:extLst>
          </p:cNvPr>
          <p:cNvSpPr>
            <a:spLocks xmlns:a="http://schemas.openxmlformats.org/drawingml/2006/main" noGrp="1"/>
          </p:cNvSpPr>
          <p:nvPr/>
        </p:nvSpPr>
        <p:spPr>
          <a:xfrm xmlns:a="http://schemas.openxmlformats.org/drawingml/2006/main">
            <a:off x="6877050" y="25908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99583CFD-FEC0-49A0-9E0B-D11746E53CB4}"/>
              </a:ext>
            </a:extLst>
          </p:cNvPr>
          <p:cNvSpPr>
            <a:spLocks xmlns:a="http://schemas.openxmlformats.org/drawingml/2006/main" noGrp="1"/>
          </p:cNvSpPr>
          <p:nvPr/>
        </p:nvSpPr>
        <p:spPr>
          <a:xfrm xmlns:a="http://schemas.openxmlformats.org/drawingml/2006/main">
            <a:off x="6115050" y="3143250"/>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i="0">
                <a:solidFill>
                  <a:srgbClr val="078CCB"/>
                </a:solidFill>
                <a:latin typeface="Arial"/>
                <a:ea typeface="Arial"/>
                <a:cs typeface="Arial"/>
              </a:defRPr>
            </a:pPr>
            <a:r>
              <a:rPr sz="975" b="1" i="0">
                <a:solidFill>
                  <a:srgbClr val="078CCB"/>
                </a:solidFill>
                <a:latin typeface="Arial"/>
                <a:ea typeface="Arial"/>
                <a:cs typeface="Arial"/>
              </a:rPr>
              <a:t>PRICING</a:t>
            </a:r>
          </a:p>
        </p:txBody>
      </p:sp>
      <p:sp>
        <p:nvSpPr>
          <p:cNvPr id="19" name="">
            <a:extLst xmlns:a="http://schemas.openxmlformats.org/drawingml/2006/main">
              <a:ext uri="{FF2B5EF4-FFF2-40B4-BE49-F238E27FC236}">
                <a16:creationId xmlns:a16="http://schemas.microsoft.com/office/drawing/2014/main" id="{B569CA9A-0813-461B-9BFF-D6C06BA7A2F4}"/>
              </a:ext>
            </a:extLst>
          </p:cNvPr>
          <p:cNvSpPr>
            <a:spLocks xmlns:a="http://schemas.openxmlformats.org/drawingml/2006/main" noGrp="1"/>
          </p:cNvSpPr>
          <p:nvPr/>
        </p:nvSpPr>
        <p:spPr>
          <a:xfrm xmlns:a="http://schemas.openxmlformats.org/drawingml/2006/main">
            <a:off x="6115050" y="34290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112448"/>
                </a:solidFill>
                <a:latin typeface="Arial"/>
                <a:ea typeface="Arial"/>
                <a:cs typeface="Arial"/>
              </a:defRPr>
            </a:pPr>
            <a:r>
              <a:rPr sz="1500" b="1" i="0">
                <a:solidFill>
                  <a:srgbClr val="112448"/>
                </a:solidFill>
                <a:latin typeface="Arial"/>
                <a:ea typeface="Arial"/>
                <a:cs typeface="Arial"/>
              </a:rPr>
              <a:t>Đang định giá</a:t>
            </a:r>
          </a:p>
        </p:txBody>
      </p:sp>
      <p:sp>
        <p:nvSpPr>
          <p:cNvPr id="20" name="">
            <a:extLst xmlns:a="http://schemas.openxmlformats.org/drawingml/2006/main">
              <a:ext uri="{FF2B5EF4-FFF2-40B4-BE49-F238E27FC236}">
                <a16:creationId xmlns:a16="http://schemas.microsoft.com/office/drawing/2014/main" id="{F4884A00-CEE6-476D-952F-F8BF4E1FA01E}"/>
              </a:ext>
            </a:extLst>
          </p:cNvPr>
          <p:cNvSpPr>
            <a:spLocks xmlns:a="http://schemas.openxmlformats.org/drawingml/2006/main" noGrp="1"/>
          </p:cNvSpPr>
          <p:nvPr/>
        </p:nvSpPr>
        <p:spPr>
          <a:xfrm xmlns:a="http://schemas.openxmlformats.org/drawingml/2006/main">
            <a:off x="6115050" y="384810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i="0">
                <a:solidFill>
                  <a:srgbClr val="617089"/>
                </a:solidFill>
                <a:latin typeface="Arial"/>
                <a:ea typeface="Arial"/>
                <a:cs typeface="Arial"/>
              </a:defRPr>
            </a:pPr>
            <a:r>
              <a:rPr sz="1125" b="0" i="0">
                <a:solidFill>
                  <a:srgbClr val="617089"/>
                </a:solidFill>
                <a:latin typeface="Arial"/>
                <a:ea typeface="Arial"/>
                <a:cs typeface="Arial"/>
              </a:rPr>
              <a:t>Chọn nhà cung cấp và bảng giá</a:t>
            </a:r>
          </a:p>
        </p:txBody>
      </p:sp>
      <p:sp>
        <p:nvSpPr>
          <p:cNvPr id="21" name="">
            <a:extLst xmlns:a="http://schemas.openxmlformats.org/drawingml/2006/main">
              <a:ext uri="{FF2B5EF4-FFF2-40B4-BE49-F238E27FC236}">
                <a16:creationId xmlns:a16="http://schemas.microsoft.com/office/drawing/2014/main" id="{B0A2B220-9FD1-43C8-B185-3115BB145BEA}"/>
              </a:ext>
            </a:extLst>
          </p:cNvPr>
          <p:cNvSpPr>
            <a:spLocks xmlns:a="http://schemas.openxmlformats.org/drawingml/2006/main" noGrp="1"/>
          </p:cNvSpPr>
          <p:nvPr/>
        </p:nvSpPr>
        <p:spPr>
          <a:xfrm xmlns:a="http://schemas.openxmlformats.org/drawingml/2006/main">
            <a:off x="9601200" y="2514600"/>
            <a:ext cx="419100" cy="419100"/>
          </a:xfrm>
          <a:prstGeom xmlns:a="http://schemas.openxmlformats.org/drawingml/2006/main" prst="ellipse">
            <a:avLst/>
          </a:prstGeom>
          <a:solidFill xmlns:a="http://schemas.openxmlformats.org/drawingml/2006/main">
            <a:srgbClr val="0F8A6A"/>
          </a:solidFill>
          <a:ln xmlns:a="http://schemas.openxmlformats.org/drawingml/2006/main" w="9525">
            <a:solidFill>
              <a:srgbClr val="0F8A6A"/>
            </a:solidFill>
            <a:prstDash val="solid"/>
          </a:ln>
        </p:spPr>
      </p:sp>
      <p:sp>
        <p:nvSpPr>
          <p:cNvPr id="22" name="">
            <a:extLst xmlns:a="http://schemas.openxmlformats.org/drawingml/2006/main">
              <a:ext uri="{FF2B5EF4-FFF2-40B4-BE49-F238E27FC236}">
                <a16:creationId xmlns:a16="http://schemas.microsoft.com/office/drawing/2014/main" id="{1734A5DC-4D4C-4E1A-B94F-C354E67B1628}"/>
              </a:ext>
            </a:extLst>
          </p:cNvPr>
          <p:cNvSpPr>
            <a:spLocks xmlns:a="http://schemas.openxmlformats.org/drawingml/2006/main" noGrp="1"/>
          </p:cNvSpPr>
          <p:nvPr/>
        </p:nvSpPr>
        <p:spPr>
          <a:xfrm xmlns:a="http://schemas.openxmlformats.org/drawingml/2006/main">
            <a:off x="9601200" y="2590800"/>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7BDD7C3F-6EA0-4704-B46A-C24F982A404D}"/>
              </a:ext>
            </a:extLst>
          </p:cNvPr>
          <p:cNvSpPr>
            <a:spLocks xmlns:a="http://schemas.openxmlformats.org/drawingml/2006/main" noGrp="1"/>
          </p:cNvSpPr>
          <p:nvPr/>
        </p:nvSpPr>
        <p:spPr>
          <a:xfrm xmlns:a="http://schemas.openxmlformats.org/drawingml/2006/main">
            <a:off x="8839200" y="3143250"/>
            <a:ext cx="1952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i="0">
                <a:solidFill>
                  <a:srgbClr val="078CCB"/>
                </a:solidFill>
                <a:latin typeface="Arial"/>
                <a:ea typeface="Arial"/>
                <a:cs typeface="Arial"/>
              </a:defRPr>
            </a:pPr>
            <a:r>
              <a:rPr sz="975" b="1" i="0">
                <a:solidFill>
                  <a:srgbClr val="078CCB"/>
                </a:solidFill>
                <a:latin typeface="Arial"/>
                <a:ea typeface="Arial"/>
                <a:cs typeface="Arial"/>
              </a:rPr>
              <a:t>SETTLED</a:t>
            </a:r>
          </a:p>
        </p:txBody>
      </p:sp>
      <p:sp>
        <p:nvSpPr>
          <p:cNvPr id="24" name="">
            <a:extLst xmlns:a="http://schemas.openxmlformats.org/drawingml/2006/main">
              <a:ext uri="{FF2B5EF4-FFF2-40B4-BE49-F238E27FC236}">
                <a16:creationId xmlns:a16="http://schemas.microsoft.com/office/drawing/2014/main" id="{B24F2BB1-96CF-41E2-B343-EE677460B53F}"/>
              </a:ext>
            </a:extLst>
          </p:cNvPr>
          <p:cNvSpPr>
            <a:spLocks xmlns:a="http://schemas.openxmlformats.org/drawingml/2006/main" noGrp="1"/>
          </p:cNvSpPr>
          <p:nvPr/>
        </p:nvSpPr>
        <p:spPr>
          <a:xfrm xmlns:a="http://schemas.openxmlformats.org/drawingml/2006/main">
            <a:off x="8839200" y="34290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i="0">
                <a:solidFill>
                  <a:srgbClr val="112448"/>
                </a:solidFill>
                <a:latin typeface="Arial"/>
                <a:ea typeface="Arial"/>
                <a:cs typeface="Arial"/>
              </a:defRPr>
            </a:pPr>
            <a:r>
              <a:rPr sz="1500" b="1" i="0">
                <a:solidFill>
                  <a:srgbClr val="112448"/>
                </a:solidFill>
                <a:latin typeface="Arial"/>
                <a:ea typeface="Arial"/>
                <a:cs typeface="Arial"/>
              </a:rPr>
              <a:t>Đã chốt</a:t>
            </a:r>
          </a:p>
        </p:txBody>
      </p:sp>
      <p:sp>
        <p:nvSpPr>
          <p:cNvPr id="25" name="">
            <a:extLst xmlns:a="http://schemas.openxmlformats.org/drawingml/2006/main">
              <a:ext uri="{FF2B5EF4-FFF2-40B4-BE49-F238E27FC236}">
                <a16:creationId xmlns:a16="http://schemas.microsoft.com/office/drawing/2014/main" id="{B9580D66-CDFB-4F78-BC7D-02D84B338AE5}"/>
              </a:ext>
            </a:extLst>
          </p:cNvPr>
          <p:cNvSpPr>
            <a:spLocks xmlns:a="http://schemas.openxmlformats.org/drawingml/2006/main" noGrp="1"/>
          </p:cNvSpPr>
          <p:nvPr/>
        </p:nvSpPr>
        <p:spPr>
          <a:xfrm xmlns:a="http://schemas.openxmlformats.org/drawingml/2006/main">
            <a:off x="8839200" y="384810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i="0">
                <a:solidFill>
                  <a:srgbClr val="617089"/>
                </a:solidFill>
                <a:latin typeface="Arial"/>
                <a:ea typeface="Arial"/>
                <a:cs typeface="Arial"/>
              </a:defRPr>
            </a:pPr>
            <a:r>
              <a:rPr sz="1125" b="0" i="0">
                <a:solidFill>
                  <a:srgbClr val="617089"/>
                </a:solidFill>
                <a:latin typeface="Arial"/>
                <a:ea typeface="Arial"/>
                <a:cs typeface="Arial"/>
              </a:rPr>
              <a:t>Lưu bản chụp dữ liệu và phân bổ chi phí</a:t>
            </a:r>
          </a:p>
        </p:txBody>
      </p:sp>
      <p:sp>
        <p:nvSpPr>
          <p:cNvPr id="26" name="">
            <a:extLst xmlns:a="http://schemas.openxmlformats.org/drawingml/2006/main">
              <a:ext uri="{FF2B5EF4-FFF2-40B4-BE49-F238E27FC236}">
                <a16:creationId xmlns:a16="http://schemas.microsoft.com/office/drawing/2014/main" id="{DB166429-5F43-4338-9AE6-7651FCC1FF7A}"/>
              </a:ext>
            </a:extLst>
          </p:cNvPr>
          <p:cNvSpPr>
            <a:spLocks xmlns:a="http://schemas.openxmlformats.org/drawingml/2006/main" noGrp="1"/>
          </p:cNvSpPr>
          <p:nvPr/>
        </p:nvSpPr>
        <p:spPr>
          <a:xfrm xmlns:a="http://schemas.openxmlformats.org/drawingml/2006/main">
            <a:off x="552450" y="4895850"/>
            <a:ext cx="11087100" cy="1104900"/>
          </a:xfrm>
          <a:prstGeom xmlns:a="http://schemas.openxmlformats.org/drawingml/2006/main" prst="roundRect">
            <a:avLst>
              <a:gd name="adj" fmla="val 10345"/>
            </a:avLst>
          </a:prstGeom>
          <a:solidFill xmlns:a="http://schemas.openxmlformats.org/drawingml/2006/main">
            <a:srgbClr val="EAF5FB"/>
          </a:solidFill>
          <a:ln xmlns:a="http://schemas.openxmlformats.org/drawingml/2006/main" w="9525">
            <a:solidFill>
              <a:srgbClr val="61C8F3"/>
            </a:solidFill>
            <a:prstDash val="solid"/>
          </a:ln>
        </p:spPr>
      </p:sp>
      <p:sp>
        <p:nvSpPr>
          <p:cNvPr id="27" name="">
            <a:extLst xmlns:a="http://schemas.openxmlformats.org/drawingml/2006/main">
              <a:ext uri="{FF2B5EF4-FFF2-40B4-BE49-F238E27FC236}">
                <a16:creationId xmlns:a16="http://schemas.microsoft.com/office/drawing/2014/main" id="{6FC3B083-1AE4-4027-91F5-E096EB157692}"/>
              </a:ext>
            </a:extLst>
          </p:cNvPr>
          <p:cNvSpPr>
            <a:spLocks xmlns:a="http://schemas.openxmlformats.org/drawingml/2006/main" noGrp="1"/>
          </p:cNvSpPr>
          <p:nvPr/>
        </p:nvSpPr>
        <p:spPr>
          <a:xfrm xmlns:a="http://schemas.openxmlformats.org/drawingml/2006/main">
            <a:off x="781050" y="5124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2448"/>
                </a:solidFill>
                <a:latin typeface="Arial"/>
                <a:ea typeface="Arial"/>
                <a:cs typeface="Arial"/>
              </a:defRPr>
            </a:pPr>
            <a:r>
              <a:rPr sz="1425" b="1" i="0">
                <a:solidFill>
                  <a:srgbClr val="112448"/>
                </a:solidFill>
                <a:latin typeface="Arial"/>
                <a:ea typeface="Arial"/>
                <a:cs typeface="Arial"/>
              </a:rPr>
              <a:t>Nhánh đơn bổ sung</a:t>
            </a:r>
          </a:p>
        </p:txBody>
      </p:sp>
      <p:sp>
        <p:nvSpPr>
          <p:cNvPr id="28" name="">
            <a:extLst xmlns:a="http://schemas.openxmlformats.org/drawingml/2006/main">
              <a:ext uri="{FF2B5EF4-FFF2-40B4-BE49-F238E27FC236}">
                <a16:creationId xmlns:a16="http://schemas.microsoft.com/office/drawing/2014/main" id="{47D9ACEE-BBBC-4398-B848-CC0376911B29}"/>
              </a:ext>
            </a:extLst>
          </p:cNvPr>
          <p:cNvSpPr>
            <a:spLocks xmlns:a="http://schemas.openxmlformats.org/drawingml/2006/main" noGrp="1"/>
          </p:cNvSpPr>
          <p:nvPr/>
        </p:nvSpPr>
        <p:spPr>
          <a:xfrm xmlns:a="http://schemas.openxmlformats.org/drawingml/2006/main">
            <a:off x="3238500" y="5105400"/>
            <a:ext cx="18097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1C8F3"/>
            </a:solidFill>
            <a:prstDash val="solid"/>
          </a:ln>
        </p:spPr>
      </p:sp>
      <p:sp>
        <p:nvSpPr>
          <p:cNvPr id="29" name="">
            <a:extLst xmlns:a="http://schemas.openxmlformats.org/drawingml/2006/main">
              <a:ext uri="{FF2B5EF4-FFF2-40B4-BE49-F238E27FC236}">
                <a16:creationId xmlns:a16="http://schemas.microsoft.com/office/drawing/2014/main" id="{0528EA59-6D06-45DE-933D-8C8A668D59A9}"/>
              </a:ext>
            </a:extLst>
          </p:cNvPr>
          <p:cNvSpPr>
            <a:spLocks xmlns:a="http://schemas.openxmlformats.org/drawingml/2006/main" noGrp="1"/>
          </p:cNvSpPr>
          <p:nvPr/>
        </p:nvSpPr>
        <p:spPr>
          <a:xfrm xmlns:a="http://schemas.openxmlformats.org/drawingml/2006/main">
            <a:off x="3333750" y="51625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112448"/>
                </a:solidFill>
                <a:latin typeface="Arial"/>
                <a:ea typeface="Arial"/>
                <a:cs typeface="Arial"/>
              </a:defRPr>
            </a:pPr>
            <a:r>
              <a:rPr sz="1125" b="1" i="0">
                <a:solidFill>
                  <a:srgbClr val="112448"/>
                </a:solidFill>
                <a:latin typeface="Arial"/>
                <a:ea typeface="Arial"/>
                <a:cs typeface="Arial"/>
              </a:rPr>
              <a:t>Pending · Chờ duyệt</a:t>
            </a:r>
          </a:p>
        </p:txBody>
      </p:sp>
      <p:sp>
        <p:nvSpPr>
          <p:cNvPr id="30" name="">
            <a:extLst xmlns:a="http://schemas.openxmlformats.org/drawingml/2006/main">
              <a:ext uri="{FF2B5EF4-FFF2-40B4-BE49-F238E27FC236}">
                <a16:creationId xmlns:a16="http://schemas.microsoft.com/office/drawing/2014/main" id="{F6729BBD-A243-4664-AB69-E28DF0DE7795}"/>
              </a:ext>
            </a:extLst>
          </p:cNvPr>
          <p:cNvSpPr>
            <a:spLocks xmlns:a="http://schemas.openxmlformats.org/drawingml/2006/main" noGrp="1"/>
          </p:cNvSpPr>
          <p:nvPr/>
        </p:nvSpPr>
        <p:spPr>
          <a:xfrm xmlns:a="http://schemas.openxmlformats.org/drawingml/2006/main">
            <a:off x="5219700" y="511492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i="0">
                <a:solidFill>
                  <a:srgbClr val="078CCB"/>
                </a:solidFill>
                <a:latin typeface="Arial"/>
                <a:ea typeface="Arial"/>
                <a:cs typeface="Arial"/>
              </a:defRPr>
            </a:pPr>
            <a:r>
              <a:rPr sz="1725" b="1" i="0">
                <a:solidFill>
                  <a:srgbClr val="078CCB"/>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26B915FB-D583-417D-86A3-330B01BD3ACD}"/>
              </a:ext>
            </a:extLst>
          </p:cNvPr>
          <p:cNvSpPr>
            <a:spLocks xmlns:a="http://schemas.openxmlformats.org/drawingml/2006/main" noGrp="1"/>
          </p:cNvSpPr>
          <p:nvPr/>
        </p:nvSpPr>
        <p:spPr>
          <a:xfrm xmlns:a="http://schemas.openxmlformats.org/drawingml/2006/main">
            <a:off x="5734050" y="5105400"/>
            <a:ext cx="1809750" cy="323850"/>
          </a:xfrm>
          <a:prstGeom xmlns:a="http://schemas.openxmlformats.org/drawingml/2006/main" prst="roundRect">
            <a:avLst>
              <a:gd name="adj" fmla="val 50000"/>
            </a:avLst>
          </a:prstGeom>
          <a:solidFill xmlns:a="http://schemas.openxmlformats.org/drawingml/2006/main">
            <a:srgbClr val="E8F7F1"/>
          </a:solidFill>
          <a:ln xmlns:a="http://schemas.openxmlformats.org/drawingml/2006/main" w="9525">
            <a:solidFill>
              <a:srgbClr val="0F8A6A"/>
            </a:solidFill>
            <a:prstDash val="solid"/>
          </a:ln>
        </p:spPr>
      </p:sp>
      <p:sp>
        <p:nvSpPr>
          <p:cNvPr id="32" name="">
            <a:extLst xmlns:a="http://schemas.openxmlformats.org/drawingml/2006/main">
              <a:ext uri="{FF2B5EF4-FFF2-40B4-BE49-F238E27FC236}">
                <a16:creationId xmlns:a16="http://schemas.microsoft.com/office/drawing/2014/main" id="{30A2E6B6-1233-4A9D-87C8-7E7F0A13C0B8}"/>
              </a:ext>
            </a:extLst>
          </p:cNvPr>
          <p:cNvSpPr>
            <a:spLocks xmlns:a="http://schemas.openxmlformats.org/drawingml/2006/main" noGrp="1"/>
          </p:cNvSpPr>
          <p:nvPr/>
        </p:nvSpPr>
        <p:spPr>
          <a:xfrm xmlns:a="http://schemas.openxmlformats.org/drawingml/2006/main">
            <a:off x="5829300" y="51625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0F8A6A"/>
                </a:solidFill>
                <a:latin typeface="Arial"/>
                <a:ea typeface="Arial"/>
                <a:cs typeface="Arial"/>
              </a:defRPr>
            </a:pPr>
            <a:r>
              <a:rPr sz="1125" b="1" i="0">
                <a:solidFill>
                  <a:srgbClr val="0F8A6A"/>
                </a:solidFill>
                <a:latin typeface="Arial"/>
                <a:ea typeface="Arial"/>
                <a:cs typeface="Arial"/>
              </a:rPr>
              <a:t>Approved · Đã duyệt</a:t>
            </a:r>
          </a:p>
        </p:txBody>
      </p:sp>
      <p:sp>
        <p:nvSpPr>
          <p:cNvPr id="33" name="">
            <a:extLst xmlns:a="http://schemas.openxmlformats.org/drawingml/2006/main">
              <a:ext uri="{FF2B5EF4-FFF2-40B4-BE49-F238E27FC236}">
                <a16:creationId xmlns:a16="http://schemas.microsoft.com/office/drawing/2014/main" id="{A8843EF3-6CEB-4985-B6EB-81B842C8E1E9}"/>
              </a:ext>
            </a:extLst>
          </p:cNvPr>
          <p:cNvSpPr>
            <a:spLocks xmlns:a="http://schemas.openxmlformats.org/drawingml/2006/main" noGrp="1"/>
          </p:cNvSpPr>
          <p:nvPr/>
        </p:nvSpPr>
        <p:spPr>
          <a:xfrm xmlns:a="http://schemas.openxmlformats.org/drawingml/2006/main">
            <a:off x="7734300" y="51720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0" i="0">
                <a:solidFill>
                  <a:srgbClr val="617089"/>
                </a:solidFill>
                <a:latin typeface="Arial"/>
                <a:ea typeface="Arial"/>
                <a:cs typeface="Arial"/>
              </a:defRPr>
            </a:pPr>
            <a:r>
              <a:rPr sz="1050" b="0" i="0">
                <a:solidFill>
                  <a:srgbClr val="617089"/>
                </a:solidFill>
                <a:latin typeface="Arial"/>
                <a:ea typeface="Arial"/>
                <a:cs typeface="Arial"/>
              </a:rPr>
              <a:t>hoặc</a:t>
            </a:r>
          </a:p>
        </p:txBody>
      </p:sp>
      <p:sp>
        <p:nvSpPr>
          <p:cNvPr id="34" name="">
            <a:extLst xmlns:a="http://schemas.openxmlformats.org/drawingml/2006/main">
              <a:ext uri="{FF2B5EF4-FFF2-40B4-BE49-F238E27FC236}">
                <a16:creationId xmlns:a16="http://schemas.microsoft.com/office/drawing/2014/main" id="{F82F854C-8AD6-4D1C-9270-AE0056D28505}"/>
              </a:ext>
            </a:extLst>
          </p:cNvPr>
          <p:cNvSpPr>
            <a:spLocks xmlns:a="http://schemas.openxmlformats.org/drawingml/2006/main" noGrp="1"/>
          </p:cNvSpPr>
          <p:nvPr/>
        </p:nvSpPr>
        <p:spPr>
          <a:xfrm xmlns:a="http://schemas.openxmlformats.org/drawingml/2006/main">
            <a:off x="8401050" y="5105400"/>
            <a:ext cx="1714500" cy="323850"/>
          </a:xfrm>
          <a:prstGeom xmlns:a="http://schemas.openxmlformats.org/drawingml/2006/main" prst="roundRect">
            <a:avLst>
              <a:gd name="adj" fmla="val 50000"/>
            </a:avLst>
          </a:prstGeom>
          <a:solidFill xmlns:a="http://schemas.openxmlformats.org/drawingml/2006/main">
            <a:srgbClr val="FCECEF"/>
          </a:solidFill>
          <a:ln xmlns:a="http://schemas.openxmlformats.org/drawingml/2006/main" w="9525">
            <a:solidFill>
              <a:srgbClr val="C23B45"/>
            </a:solidFill>
            <a:prstDash val="solid"/>
          </a:ln>
        </p:spPr>
      </p:sp>
      <p:sp>
        <p:nvSpPr>
          <p:cNvPr id="35" name="">
            <a:extLst xmlns:a="http://schemas.openxmlformats.org/drawingml/2006/main">
              <a:ext uri="{FF2B5EF4-FFF2-40B4-BE49-F238E27FC236}">
                <a16:creationId xmlns:a16="http://schemas.microsoft.com/office/drawing/2014/main" id="{465195EA-A0D0-4E0B-AE6E-A8D88EB1A640}"/>
              </a:ext>
            </a:extLst>
          </p:cNvPr>
          <p:cNvSpPr>
            <a:spLocks xmlns:a="http://schemas.openxmlformats.org/drawingml/2006/main" noGrp="1"/>
          </p:cNvSpPr>
          <p:nvPr/>
        </p:nvSpPr>
        <p:spPr>
          <a:xfrm xmlns:a="http://schemas.openxmlformats.org/drawingml/2006/main">
            <a:off x="8496300" y="51625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C23B45"/>
                </a:solidFill>
                <a:latin typeface="Arial"/>
                <a:ea typeface="Arial"/>
                <a:cs typeface="Arial"/>
              </a:defRPr>
            </a:pPr>
            <a:r>
              <a:rPr sz="1125" b="1" i="0">
                <a:solidFill>
                  <a:srgbClr val="C23B45"/>
                </a:solidFill>
                <a:latin typeface="Arial"/>
                <a:ea typeface="Arial"/>
                <a:cs typeface="Arial"/>
              </a:rPr>
              <a:t>Rejected · Từ chối</a:t>
            </a:r>
          </a:p>
        </p:txBody>
      </p:sp>
      <p:sp>
        <p:nvSpPr>
          <p:cNvPr id="36" name="">
            <a:extLst xmlns:a="http://schemas.openxmlformats.org/drawingml/2006/main">
              <a:ext uri="{FF2B5EF4-FFF2-40B4-BE49-F238E27FC236}">
                <a16:creationId xmlns:a16="http://schemas.microsoft.com/office/drawing/2014/main" id="{93EC1A8E-0E6A-4EB4-973B-6358EC754246}"/>
              </a:ext>
            </a:extLst>
          </p:cNvPr>
          <p:cNvSpPr>
            <a:spLocks xmlns:a="http://schemas.openxmlformats.org/drawingml/2006/main" noGrp="1"/>
          </p:cNvSpPr>
          <p:nvPr/>
        </p:nvSpPr>
        <p:spPr>
          <a:xfrm xmlns:a="http://schemas.openxmlformats.org/drawingml/2006/main">
            <a:off x="3238500" y="556260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Tối đa 3 đơn bổ sung/người/kỳ và không tồn tại đồng thời nhiều đơn Pending.</a:t>
            </a:r>
          </a:p>
        </p:txBody>
      </p:sp>
    </p:spTree>
    <p:extLst>
      <p:ext uri="{BB962C8B-B14F-4D97-AF65-F5344CB8AC3E}">
        <p14:creationId xmlns:p14="http://schemas.microsoft.com/office/powerpoint/2010/main" val="1271226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26D8818-5477-4895-9261-D3FC5F4496A9}"/>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02 · GIẢI PHÁP</a:t>
            </a:r>
          </a:p>
        </p:txBody>
      </p:sp>
      <p:sp>
        <p:nvSpPr>
          <p:cNvPr id="2" name="">
            <a:extLst xmlns:a="http://schemas.openxmlformats.org/drawingml/2006/main">
              <a:ext uri="{FF2B5EF4-FFF2-40B4-BE49-F238E27FC236}">
                <a16:creationId xmlns:a16="http://schemas.microsoft.com/office/drawing/2014/main" id="{9B032415-C9F1-4C9D-B35D-3FEBF07EC355}"/>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Kiến trúc triển khai tổng thể</a:t>
            </a:r>
          </a:p>
        </p:txBody>
      </p:sp>
      <p:sp>
        <p:nvSpPr>
          <p:cNvPr id="3" name="">
            <a:extLst xmlns:a="http://schemas.openxmlformats.org/drawingml/2006/main">
              <a:ext uri="{FF2B5EF4-FFF2-40B4-BE49-F238E27FC236}">
                <a16:creationId xmlns:a16="http://schemas.microsoft.com/office/drawing/2014/main" id="{6F3C04E8-34F4-47D4-988A-771AD31CA703}"/>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FCAB34F8-A17C-424A-9092-5504E866CC13}"/>
              </a:ext>
            </a:extLst>
          </p:cNvPr>
          <p:cNvSpPr>
            <a:spLocks xmlns:a="http://schemas.openxmlformats.org/drawingml/2006/main" noGrp="1"/>
          </p:cNvSpPr>
          <p:nvPr/>
        </p:nvSpPr>
        <p:spPr>
          <a:xfrm xmlns:a="http://schemas.openxmlformats.org/drawingml/2006/main">
            <a:off x="457200" y="12192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617089"/>
                </a:solidFill>
                <a:latin typeface="Arial"/>
                <a:ea typeface="Arial"/>
                <a:cs typeface="Arial"/>
              </a:defRPr>
            </a:pPr>
            <a:r>
              <a:rPr sz="1350" b="0" i="0">
                <a:solidFill>
                  <a:srgbClr val="617089"/>
                </a:solidFill>
                <a:latin typeface="Arial"/>
                <a:ea typeface="Arial"/>
                <a:cs typeface="Arial"/>
              </a:rPr>
              <a:t>Một đường truy cập thống nhất qua Nginx; Blazor xử lý giao diện tương tác, API xử lý nghiệp vụ và SQL Server lưu dữ liệu.</a:t>
            </a:r>
          </a:p>
        </p:txBody>
      </p:sp>
      <p:sp>
        <p:nvSpPr>
          <p:cNvPr id="5" name="">
            <a:extLst xmlns:a="http://schemas.openxmlformats.org/drawingml/2006/main">
              <a:ext uri="{FF2B5EF4-FFF2-40B4-BE49-F238E27FC236}">
                <a16:creationId xmlns:a16="http://schemas.microsoft.com/office/drawing/2014/main" id="{629DD878-620F-4189-BBBE-E00E565F5F13}"/>
              </a:ext>
            </a:extLst>
          </p:cNvPr>
          <p:cNvSpPr>
            <a:spLocks xmlns:a="http://schemas.openxmlformats.org/drawingml/2006/main" noGrp="1"/>
          </p:cNvSpPr>
          <p:nvPr/>
        </p:nvSpPr>
        <p:spPr>
          <a:xfrm xmlns:a="http://schemas.openxmlformats.org/drawingml/2006/main">
            <a:off x="762000" y="1809750"/>
            <a:ext cx="10668000" cy="40386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791c7d3131942c8"/>
          <a:stretch xmlns:a="http://schemas.openxmlformats.org/drawingml/2006/main"/>
        </p:blipFill>
        <p:spPr>
          <a:xfrm xmlns:a="http://schemas.openxmlformats.org/drawingml/2006/main">
            <a:off x="2438400" y="1828800"/>
            <a:ext cx="7315200" cy="4000500"/>
          </a:xfrm>
          <a:prstGeom xmlns:a="http://schemas.openxmlformats.org/drawingml/2006/main" prst="roundRect">
            <a:avLst>
              <a:gd name="adj" fmla="val 2857"/>
            </a:avLst>
          </a:prstGeom>
        </p:spPr>
      </p:pic>
      <p:sp>
        <p:nvSpPr>
          <p:cNvPr id="7" name="">
            <a:extLst xmlns:a="http://schemas.openxmlformats.org/drawingml/2006/main">
              <a:ext uri="{FF2B5EF4-FFF2-40B4-BE49-F238E27FC236}">
                <a16:creationId xmlns:a16="http://schemas.microsoft.com/office/drawing/2014/main" id="{1BB4E69A-3D5D-41F6-B0B1-7E026C45B526}"/>
              </a:ext>
            </a:extLst>
          </p:cNvPr>
          <p:cNvSpPr>
            <a:spLocks xmlns:a="http://schemas.openxmlformats.org/drawingml/2006/main" noGrp="1"/>
          </p:cNvSpPr>
          <p:nvPr/>
        </p:nvSpPr>
        <p:spPr>
          <a:xfrm xmlns:a="http://schemas.openxmlformats.org/drawingml/2006/main">
            <a:off x="1066800" y="5972175"/>
            <a:ext cx="2095500" cy="285750"/>
          </a:xfrm>
          <a:prstGeom xmlns:a="http://schemas.openxmlformats.org/drawingml/2006/main" prst="roundRect">
            <a:avLst>
              <a:gd name="adj" fmla="val 50000"/>
            </a:avLst>
          </a:prstGeom>
          <a:solidFill xmlns:a="http://schemas.openxmlformats.org/drawingml/2006/main">
            <a:srgbClr val="EAF5FB"/>
          </a:solidFill>
          <a:ln xmlns:a="http://schemas.openxmlformats.org/drawingml/2006/main" w="9525">
            <a:solidFill>
              <a:srgbClr val="61C8F3"/>
            </a:solidFill>
            <a:prstDash val="solid"/>
          </a:ln>
        </p:spPr>
      </p:sp>
      <p:sp>
        <p:nvSpPr>
          <p:cNvPr id="8" name="">
            <a:extLst xmlns:a="http://schemas.openxmlformats.org/drawingml/2006/main">
              <a:ext uri="{FF2B5EF4-FFF2-40B4-BE49-F238E27FC236}">
                <a16:creationId xmlns:a16="http://schemas.microsoft.com/office/drawing/2014/main" id="{8A6D1D64-EDDD-4D05-9AA9-3EC986A3D349}"/>
              </a:ext>
            </a:extLst>
          </p:cNvPr>
          <p:cNvSpPr>
            <a:spLocks xmlns:a="http://schemas.openxmlformats.org/drawingml/2006/main" noGrp="1"/>
          </p:cNvSpPr>
          <p:nvPr/>
        </p:nvSpPr>
        <p:spPr>
          <a:xfrm xmlns:a="http://schemas.openxmlformats.org/drawingml/2006/main">
            <a:off x="1162050" y="602932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112448"/>
                </a:solidFill>
                <a:latin typeface="Arial"/>
                <a:ea typeface="Arial"/>
                <a:cs typeface="Arial"/>
              </a:defRPr>
            </a:pPr>
            <a:r>
              <a:rPr sz="1050" b="1" i="0">
                <a:solidFill>
                  <a:srgbClr val="112448"/>
                </a:solidFill>
                <a:latin typeface="Arial"/>
                <a:ea typeface="Arial"/>
                <a:cs typeface="Arial"/>
              </a:rPr>
              <a:t>Blazor Interactive Server</a:t>
            </a:r>
          </a:p>
        </p:txBody>
      </p:sp>
      <p:sp>
        <p:nvSpPr>
          <p:cNvPr id="9" name="">
            <a:extLst xmlns:a="http://schemas.openxmlformats.org/drawingml/2006/main">
              <a:ext uri="{FF2B5EF4-FFF2-40B4-BE49-F238E27FC236}">
                <a16:creationId xmlns:a16="http://schemas.microsoft.com/office/drawing/2014/main" id="{F1FD82F4-08DA-4F73-A9FE-EF8CA4315BE2}"/>
              </a:ext>
            </a:extLst>
          </p:cNvPr>
          <p:cNvSpPr>
            <a:spLocks xmlns:a="http://schemas.openxmlformats.org/drawingml/2006/main" noGrp="1"/>
          </p:cNvSpPr>
          <p:nvPr/>
        </p:nvSpPr>
        <p:spPr>
          <a:xfrm xmlns:a="http://schemas.openxmlformats.org/drawingml/2006/main">
            <a:off x="3352800" y="5972175"/>
            <a:ext cx="2095500" cy="285750"/>
          </a:xfrm>
          <a:prstGeom xmlns:a="http://schemas.openxmlformats.org/drawingml/2006/main" prst="roundRect">
            <a:avLst>
              <a:gd name="adj" fmla="val 50000"/>
            </a:avLst>
          </a:prstGeom>
          <a:solidFill xmlns:a="http://schemas.openxmlformats.org/drawingml/2006/main">
            <a:srgbClr val="EAF5FB"/>
          </a:solidFill>
          <a:ln xmlns:a="http://schemas.openxmlformats.org/drawingml/2006/main" w="9525">
            <a:solidFill>
              <a:srgbClr val="61C8F3"/>
            </a:solidFill>
            <a:prstDash val="solid"/>
          </a:ln>
        </p:spPr>
      </p:sp>
      <p:sp>
        <p:nvSpPr>
          <p:cNvPr id="10" name="">
            <a:extLst xmlns:a="http://schemas.openxmlformats.org/drawingml/2006/main">
              <a:ext uri="{FF2B5EF4-FFF2-40B4-BE49-F238E27FC236}">
                <a16:creationId xmlns:a16="http://schemas.microsoft.com/office/drawing/2014/main" id="{1A9F1BBB-184A-46B3-A055-FB34B04E5EFE}"/>
              </a:ext>
            </a:extLst>
          </p:cNvPr>
          <p:cNvSpPr>
            <a:spLocks xmlns:a="http://schemas.openxmlformats.org/drawingml/2006/main" noGrp="1"/>
          </p:cNvSpPr>
          <p:nvPr/>
        </p:nvSpPr>
        <p:spPr>
          <a:xfrm xmlns:a="http://schemas.openxmlformats.org/drawingml/2006/main">
            <a:off x="3448050" y="6029325"/>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112448"/>
                </a:solidFill>
                <a:latin typeface="Arial"/>
                <a:ea typeface="Arial"/>
                <a:cs typeface="Arial"/>
              </a:defRPr>
            </a:pPr>
            <a:r>
              <a:rPr sz="1050" b="1" i="0">
                <a:solidFill>
                  <a:srgbClr val="112448"/>
                </a:solidFill>
                <a:latin typeface="Arial"/>
                <a:ea typeface="Arial"/>
                <a:cs typeface="Arial"/>
              </a:rPr>
              <a:t>ASP.NET Core Web API</a:t>
            </a:r>
          </a:p>
        </p:txBody>
      </p:sp>
      <p:sp>
        <p:nvSpPr>
          <p:cNvPr id="11" name="">
            <a:extLst xmlns:a="http://schemas.openxmlformats.org/drawingml/2006/main">
              <a:ext uri="{FF2B5EF4-FFF2-40B4-BE49-F238E27FC236}">
                <a16:creationId xmlns:a16="http://schemas.microsoft.com/office/drawing/2014/main" id="{37438CFC-47F0-438E-AD7F-39F4F49564A8}"/>
              </a:ext>
            </a:extLst>
          </p:cNvPr>
          <p:cNvSpPr>
            <a:spLocks xmlns:a="http://schemas.openxmlformats.org/drawingml/2006/main" noGrp="1"/>
          </p:cNvSpPr>
          <p:nvPr/>
        </p:nvSpPr>
        <p:spPr>
          <a:xfrm xmlns:a="http://schemas.openxmlformats.org/drawingml/2006/main">
            <a:off x="5638800" y="5972175"/>
            <a:ext cx="2000250" cy="285750"/>
          </a:xfrm>
          <a:prstGeom xmlns:a="http://schemas.openxmlformats.org/drawingml/2006/main" prst="roundRect">
            <a:avLst>
              <a:gd name="adj" fmla="val 50000"/>
            </a:avLst>
          </a:prstGeom>
          <a:solidFill xmlns:a="http://schemas.openxmlformats.org/drawingml/2006/main">
            <a:srgbClr val="EAF5FB"/>
          </a:solidFill>
          <a:ln xmlns:a="http://schemas.openxmlformats.org/drawingml/2006/main" w="9525">
            <a:solidFill>
              <a:srgbClr val="61C8F3"/>
            </a:solidFill>
            <a:prstDash val="solid"/>
          </a:ln>
        </p:spPr>
      </p:sp>
      <p:sp>
        <p:nvSpPr>
          <p:cNvPr id="12" name="">
            <a:extLst xmlns:a="http://schemas.openxmlformats.org/drawingml/2006/main">
              <a:ext uri="{FF2B5EF4-FFF2-40B4-BE49-F238E27FC236}">
                <a16:creationId xmlns:a16="http://schemas.microsoft.com/office/drawing/2014/main" id="{014B9639-B384-4FD3-9713-BF3AC120B627}"/>
              </a:ext>
            </a:extLst>
          </p:cNvPr>
          <p:cNvSpPr>
            <a:spLocks xmlns:a="http://schemas.openxmlformats.org/drawingml/2006/main" noGrp="1"/>
          </p:cNvSpPr>
          <p:nvPr/>
        </p:nvSpPr>
        <p:spPr>
          <a:xfrm xmlns:a="http://schemas.openxmlformats.org/drawingml/2006/main">
            <a:off x="5734050" y="60293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112448"/>
                </a:solidFill>
                <a:latin typeface="Arial"/>
                <a:ea typeface="Arial"/>
                <a:cs typeface="Arial"/>
              </a:defRPr>
            </a:pPr>
            <a:r>
              <a:rPr sz="1050" b="1" i="0">
                <a:solidFill>
                  <a:srgbClr val="112448"/>
                </a:solidFill>
                <a:latin typeface="Arial"/>
                <a:ea typeface="Arial"/>
                <a:cs typeface="Arial"/>
              </a:rPr>
              <a:t>EF Core + SQL Server</a:t>
            </a:r>
          </a:p>
        </p:txBody>
      </p:sp>
      <p:sp>
        <p:nvSpPr>
          <p:cNvPr id="13" name="">
            <a:extLst xmlns:a="http://schemas.openxmlformats.org/drawingml/2006/main">
              <a:ext uri="{FF2B5EF4-FFF2-40B4-BE49-F238E27FC236}">
                <a16:creationId xmlns:a16="http://schemas.microsoft.com/office/drawing/2014/main" id="{5ED8F5BA-1998-4F1A-8BBA-E58EF6B783E9}"/>
              </a:ext>
            </a:extLst>
          </p:cNvPr>
          <p:cNvSpPr>
            <a:spLocks xmlns:a="http://schemas.openxmlformats.org/drawingml/2006/main" noGrp="1"/>
          </p:cNvSpPr>
          <p:nvPr/>
        </p:nvSpPr>
        <p:spPr>
          <a:xfrm xmlns:a="http://schemas.openxmlformats.org/drawingml/2006/main">
            <a:off x="7829550" y="5972175"/>
            <a:ext cx="2190750" cy="285750"/>
          </a:xfrm>
          <a:prstGeom xmlns:a="http://schemas.openxmlformats.org/drawingml/2006/main" prst="roundRect">
            <a:avLst>
              <a:gd name="adj" fmla="val 50000"/>
            </a:avLst>
          </a:prstGeom>
          <a:solidFill xmlns:a="http://schemas.openxmlformats.org/drawingml/2006/main">
            <a:srgbClr val="EAF5FB"/>
          </a:solidFill>
          <a:ln xmlns:a="http://schemas.openxmlformats.org/drawingml/2006/main" w="9525">
            <a:solidFill>
              <a:srgbClr val="61C8F3"/>
            </a:solidFill>
            <a:prstDash val="solid"/>
          </a:ln>
        </p:spPr>
      </p:sp>
      <p:sp>
        <p:nvSpPr>
          <p:cNvPr id="14" name="">
            <a:extLst xmlns:a="http://schemas.openxmlformats.org/drawingml/2006/main">
              <a:ext uri="{FF2B5EF4-FFF2-40B4-BE49-F238E27FC236}">
                <a16:creationId xmlns:a16="http://schemas.microsoft.com/office/drawing/2014/main" id="{A550E9C0-CC00-41E7-96B8-9A62521AC5C7}"/>
              </a:ext>
            </a:extLst>
          </p:cNvPr>
          <p:cNvSpPr>
            <a:spLocks xmlns:a="http://schemas.openxmlformats.org/drawingml/2006/main" noGrp="1"/>
          </p:cNvSpPr>
          <p:nvPr/>
        </p:nvSpPr>
        <p:spPr>
          <a:xfrm xmlns:a="http://schemas.openxmlformats.org/drawingml/2006/main">
            <a:off x="7924800" y="602932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i="0">
                <a:solidFill>
                  <a:srgbClr val="112448"/>
                </a:solidFill>
                <a:latin typeface="Arial"/>
                <a:ea typeface="Arial"/>
                <a:cs typeface="Arial"/>
              </a:defRPr>
            </a:pPr>
            <a:r>
              <a:rPr sz="1050" b="1" i="0">
                <a:solidFill>
                  <a:srgbClr val="112448"/>
                </a:solidFill>
                <a:latin typeface="Arial"/>
                <a:ea typeface="Arial"/>
                <a:cs typeface="Arial"/>
              </a:rPr>
              <a:t>Docker Compose + Nginx</a:t>
            </a:r>
          </a:p>
        </p:txBody>
      </p:sp>
    </p:spTree>
    <p:extLst>
      <p:ext uri="{BB962C8B-B14F-4D97-AF65-F5344CB8AC3E}">
        <p14:creationId xmlns:p14="http://schemas.microsoft.com/office/powerpoint/2010/main" val="9330505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56A545D-CED4-401C-B15E-6638B71984F7}"/>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02 · GIẢI PHÁP</a:t>
            </a:r>
          </a:p>
        </p:txBody>
      </p:sp>
      <p:sp>
        <p:nvSpPr>
          <p:cNvPr id="2" name="">
            <a:extLst xmlns:a="http://schemas.openxmlformats.org/drawingml/2006/main">
              <a:ext uri="{FF2B5EF4-FFF2-40B4-BE49-F238E27FC236}">
                <a16:creationId xmlns:a16="http://schemas.microsoft.com/office/drawing/2014/main" id="{A64E29A6-1944-45FD-AFAF-602BC300D4F8}"/>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Cách đọc source code theo luồng trách nhiệm</a:t>
            </a:r>
          </a:p>
        </p:txBody>
      </p:sp>
      <p:sp>
        <p:nvSpPr>
          <p:cNvPr id="3" name="">
            <a:extLst xmlns:a="http://schemas.openxmlformats.org/drawingml/2006/main">
              <a:ext uri="{FF2B5EF4-FFF2-40B4-BE49-F238E27FC236}">
                <a16:creationId xmlns:a16="http://schemas.microsoft.com/office/drawing/2014/main" id="{15C3561A-7787-46F7-A58A-1DB52D254A8D}"/>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D80DEDC6-99A0-4C8E-8B08-6183D25FDEE5}"/>
              </a:ext>
            </a:extLst>
          </p:cNvPr>
          <p:cNvSpPr>
            <a:spLocks xmlns:a="http://schemas.openxmlformats.org/drawingml/2006/main" noGrp="1"/>
          </p:cNvSpPr>
          <p:nvPr/>
        </p:nvSpPr>
        <p:spPr>
          <a:xfrm xmlns:a="http://schemas.openxmlformats.org/drawingml/2006/main">
            <a:off x="552450" y="14097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12448"/>
                </a:solidFill>
                <a:latin typeface="Arial"/>
                <a:ea typeface="Arial"/>
                <a:cs typeface="Arial"/>
              </a:defRPr>
            </a:pPr>
            <a:r>
              <a:rPr sz="1650" b="1" i="0">
                <a:solidFill>
                  <a:srgbClr val="112448"/>
                </a:solidFill>
                <a:latin typeface="Arial"/>
                <a:ea typeface="Arial"/>
                <a:cs typeface="Arial"/>
              </a:rPr>
              <a:t>Backend</a:t>
            </a:r>
          </a:p>
        </p:txBody>
      </p:sp>
      <p:sp>
        <p:nvSpPr>
          <p:cNvPr id="5" name="">
            <a:extLst xmlns:a="http://schemas.openxmlformats.org/drawingml/2006/main">
              <a:ext uri="{FF2B5EF4-FFF2-40B4-BE49-F238E27FC236}">
                <a16:creationId xmlns:a16="http://schemas.microsoft.com/office/drawing/2014/main" id="{B5D445B4-FFFB-48F5-A5AF-C48238179213}"/>
              </a:ext>
            </a:extLst>
          </p:cNvPr>
          <p:cNvSpPr>
            <a:spLocks xmlns:a="http://schemas.openxmlformats.org/drawingml/2006/main" noGrp="1"/>
          </p:cNvSpPr>
          <p:nvPr/>
        </p:nvSpPr>
        <p:spPr>
          <a:xfrm xmlns:a="http://schemas.openxmlformats.org/drawingml/2006/main">
            <a:off x="552450" y="1943100"/>
            <a:ext cx="4572000" cy="647700"/>
          </a:xfrm>
          <a:prstGeom xmlns:a="http://schemas.openxmlformats.org/drawingml/2006/main" prst="roundRect">
            <a:avLst>
              <a:gd name="adj" fmla="val 17647"/>
            </a:avLst>
          </a:prstGeom>
          <a:solidFill xmlns:a="http://schemas.openxmlformats.org/drawingml/2006/main">
            <a:srgbClr val="EAF5FB"/>
          </a:solidFill>
          <a:ln xmlns:a="http://schemas.openxmlformats.org/drawingml/2006/main" w="9525">
            <a:solidFill>
              <a:srgbClr val="61C8F3"/>
            </a:solidFill>
            <a:prstDash val="solid"/>
          </a:ln>
        </p:spPr>
      </p:sp>
      <p:sp>
        <p:nvSpPr>
          <p:cNvPr id="6" name="">
            <a:extLst xmlns:a="http://schemas.openxmlformats.org/drawingml/2006/main">
              <a:ext uri="{FF2B5EF4-FFF2-40B4-BE49-F238E27FC236}">
                <a16:creationId xmlns:a16="http://schemas.microsoft.com/office/drawing/2014/main" id="{B255B39F-9BBF-492D-BA1E-7AF441E77439}"/>
              </a:ext>
            </a:extLst>
          </p:cNvPr>
          <p:cNvSpPr>
            <a:spLocks xmlns:a="http://schemas.openxmlformats.org/drawingml/2006/main" noGrp="1"/>
          </p:cNvSpPr>
          <p:nvPr/>
        </p:nvSpPr>
        <p:spPr>
          <a:xfrm xmlns:a="http://schemas.openxmlformats.org/drawingml/2006/main">
            <a:off x="762000" y="2076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078CCB"/>
                </a:solidFill>
                <a:latin typeface="Arial"/>
                <a:ea typeface="Arial"/>
                <a:cs typeface="Arial"/>
              </a:defRPr>
            </a:pPr>
            <a:r>
              <a:rPr sz="1200" b="1" i="0">
                <a:solidFill>
                  <a:srgbClr val="078CCB"/>
                </a:solidFill>
                <a:latin typeface="Arial"/>
                <a:ea typeface="Arial"/>
                <a:cs typeface="Arial"/>
              </a:rPr>
              <a:t>API</a:t>
            </a:r>
          </a:p>
        </p:txBody>
      </p:sp>
      <p:sp>
        <p:nvSpPr>
          <p:cNvPr id="7" name="">
            <a:extLst xmlns:a="http://schemas.openxmlformats.org/drawingml/2006/main">
              <a:ext uri="{FF2B5EF4-FFF2-40B4-BE49-F238E27FC236}">
                <a16:creationId xmlns:a16="http://schemas.microsoft.com/office/drawing/2014/main" id="{32C755A7-0491-4362-8193-C1C69F01B432}"/>
              </a:ext>
            </a:extLst>
          </p:cNvPr>
          <p:cNvSpPr>
            <a:spLocks xmlns:a="http://schemas.openxmlformats.org/drawingml/2006/main" noGrp="1"/>
          </p:cNvSpPr>
          <p:nvPr/>
        </p:nvSpPr>
        <p:spPr>
          <a:xfrm xmlns:a="http://schemas.openxmlformats.org/drawingml/2006/main">
            <a:off x="2133600" y="20574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172033"/>
                </a:solidFill>
                <a:latin typeface="Arial"/>
                <a:ea typeface="Arial"/>
                <a:cs typeface="Arial"/>
              </a:defRPr>
            </a:pPr>
            <a:r>
              <a:rPr sz="1125" b="0" i="0">
                <a:solidFill>
                  <a:srgbClr val="172033"/>
                </a:solidFill>
                <a:latin typeface="Arial"/>
                <a:ea typeface="Arial"/>
                <a:cs typeface="Arial"/>
              </a:rPr>
              <a:t>Nhận HTTP, xác thực và kiểm tra đầu vào</a:t>
            </a:r>
          </a:p>
        </p:txBody>
      </p:sp>
      <p:sp>
        <p:nvSpPr>
          <p:cNvPr id="8" name="">
            <a:extLst xmlns:a="http://schemas.openxmlformats.org/drawingml/2006/main">
              <a:ext uri="{FF2B5EF4-FFF2-40B4-BE49-F238E27FC236}">
                <a16:creationId xmlns:a16="http://schemas.microsoft.com/office/drawing/2014/main" id="{1FCC74B3-E7DB-403E-ACC5-F5850AB1C4A4}"/>
              </a:ext>
            </a:extLst>
          </p:cNvPr>
          <p:cNvSpPr>
            <a:spLocks xmlns:a="http://schemas.openxmlformats.org/drawingml/2006/main" noGrp="1"/>
          </p:cNvSpPr>
          <p:nvPr/>
        </p:nvSpPr>
        <p:spPr>
          <a:xfrm xmlns:a="http://schemas.openxmlformats.org/drawingml/2006/main">
            <a:off x="552450" y="2819400"/>
            <a:ext cx="4572000" cy="647700"/>
          </a:xfrm>
          <a:prstGeom xmlns:a="http://schemas.openxmlformats.org/drawingml/2006/main" prst="roundRect">
            <a:avLst>
              <a:gd name="adj" fmla="val 17647"/>
            </a:avLst>
          </a:prstGeom>
          <a:solidFill xmlns:a="http://schemas.openxmlformats.org/drawingml/2006/main">
            <a:srgbClr val="F4F7FA"/>
          </a:solidFill>
          <a:ln xmlns:a="http://schemas.openxmlformats.org/drawingml/2006/main" w="9525">
            <a:solidFill>
              <a:srgbClr val="D7DEE8"/>
            </a:solidFill>
            <a:prstDash val="solid"/>
          </a:ln>
        </p:spPr>
      </p:sp>
      <p:sp>
        <p:nvSpPr>
          <p:cNvPr id="9" name="">
            <a:extLst xmlns:a="http://schemas.openxmlformats.org/drawingml/2006/main">
              <a:ext uri="{FF2B5EF4-FFF2-40B4-BE49-F238E27FC236}">
                <a16:creationId xmlns:a16="http://schemas.microsoft.com/office/drawing/2014/main" id="{54A1A1EB-8233-4292-AD28-865666C03350}"/>
              </a:ext>
            </a:extLst>
          </p:cNvPr>
          <p:cNvSpPr>
            <a:spLocks xmlns:a="http://schemas.openxmlformats.org/drawingml/2006/main" noGrp="1"/>
          </p:cNvSpPr>
          <p:nvPr/>
        </p:nvSpPr>
        <p:spPr>
          <a:xfrm xmlns:a="http://schemas.openxmlformats.org/drawingml/2006/main">
            <a:off x="762000" y="29527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078CCB"/>
                </a:solidFill>
                <a:latin typeface="Arial"/>
                <a:ea typeface="Arial"/>
                <a:cs typeface="Arial"/>
              </a:defRPr>
            </a:pPr>
            <a:r>
              <a:rPr sz="1200" b="1" i="0">
                <a:solidFill>
                  <a:srgbClr val="078CCB"/>
                </a:solidFill>
                <a:latin typeface="Arial"/>
                <a:ea typeface="Arial"/>
                <a:cs typeface="Arial"/>
              </a:rPr>
              <a:t>APPLICATION</a:t>
            </a:r>
          </a:p>
        </p:txBody>
      </p:sp>
      <p:sp>
        <p:nvSpPr>
          <p:cNvPr id="10" name="">
            <a:extLst xmlns:a="http://schemas.openxmlformats.org/drawingml/2006/main">
              <a:ext uri="{FF2B5EF4-FFF2-40B4-BE49-F238E27FC236}">
                <a16:creationId xmlns:a16="http://schemas.microsoft.com/office/drawing/2014/main" id="{12250E60-2402-4F08-BD21-DAC506D98277}"/>
              </a:ext>
            </a:extLst>
          </p:cNvPr>
          <p:cNvSpPr>
            <a:spLocks xmlns:a="http://schemas.openxmlformats.org/drawingml/2006/main" noGrp="1"/>
          </p:cNvSpPr>
          <p:nvPr/>
        </p:nvSpPr>
        <p:spPr>
          <a:xfrm xmlns:a="http://schemas.openxmlformats.org/drawingml/2006/main">
            <a:off x="2133600" y="29337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172033"/>
                </a:solidFill>
                <a:latin typeface="Arial"/>
                <a:ea typeface="Arial"/>
                <a:cs typeface="Arial"/>
              </a:defRPr>
            </a:pPr>
            <a:r>
              <a:rPr sz="1125" b="0" i="0">
                <a:solidFill>
                  <a:srgbClr val="172033"/>
                </a:solidFill>
                <a:latin typeface="Arial"/>
                <a:ea typeface="Arial"/>
                <a:cs typeface="Arial"/>
              </a:rPr>
              <a:t>Điều phối use case và dịch vụ nghiệp vụ</a:t>
            </a:r>
          </a:p>
        </p:txBody>
      </p:sp>
      <p:sp>
        <p:nvSpPr>
          <p:cNvPr id="11" name="">
            <a:extLst xmlns:a="http://schemas.openxmlformats.org/drawingml/2006/main">
              <a:ext uri="{FF2B5EF4-FFF2-40B4-BE49-F238E27FC236}">
                <a16:creationId xmlns:a16="http://schemas.microsoft.com/office/drawing/2014/main" id="{B79C8D0B-8E43-43D7-AA8E-CDF64413B619}"/>
              </a:ext>
            </a:extLst>
          </p:cNvPr>
          <p:cNvSpPr>
            <a:spLocks xmlns:a="http://schemas.openxmlformats.org/drawingml/2006/main" noGrp="1"/>
          </p:cNvSpPr>
          <p:nvPr/>
        </p:nvSpPr>
        <p:spPr>
          <a:xfrm xmlns:a="http://schemas.openxmlformats.org/drawingml/2006/main">
            <a:off x="552450" y="3695700"/>
            <a:ext cx="4572000" cy="647700"/>
          </a:xfrm>
          <a:prstGeom xmlns:a="http://schemas.openxmlformats.org/drawingml/2006/main" prst="roundRect">
            <a:avLst>
              <a:gd name="adj" fmla="val 17647"/>
            </a:avLst>
          </a:prstGeom>
          <a:solidFill xmlns:a="http://schemas.openxmlformats.org/drawingml/2006/main">
            <a:srgbClr val="F4F7FA"/>
          </a:solidFill>
          <a:ln xmlns:a="http://schemas.openxmlformats.org/drawingml/2006/main" w="9525">
            <a:solidFill>
              <a:srgbClr val="D7DEE8"/>
            </a:solidFill>
            <a:prstDash val="solid"/>
          </a:ln>
        </p:spPr>
      </p:sp>
      <p:sp>
        <p:nvSpPr>
          <p:cNvPr id="12" name="">
            <a:extLst xmlns:a="http://schemas.openxmlformats.org/drawingml/2006/main">
              <a:ext uri="{FF2B5EF4-FFF2-40B4-BE49-F238E27FC236}">
                <a16:creationId xmlns:a16="http://schemas.microsoft.com/office/drawing/2014/main" id="{04045DA3-71CC-4B01-8919-8F3D23EFB1A6}"/>
              </a:ext>
            </a:extLst>
          </p:cNvPr>
          <p:cNvSpPr>
            <a:spLocks xmlns:a="http://schemas.openxmlformats.org/drawingml/2006/main" noGrp="1"/>
          </p:cNvSpPr>
          <p:nvPr/>
        </p:nvSpPr>
        <p:spPr>
          <a:xfrm xmlns:a="http://schemas.openxmlformats.org/drawingml/2006/main">
            <a:off x="762000" y="38290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078CCB"/>
                </a:solidFill>
                <a:latin typeface="Arial"/>
                <a:ea typeface="Arial"/>
                <a:cs typeface="Arial"/>
              </a:defRPr>
            </a:pPr>
            <a:r>
              <a:rPr sz="1200" b="1" i="0">
                <a:solidFill>
                  <a:srgbClr val="078CCB"/>
                </a:solidFill>
                <a:latin typeface="Arial"/>
                <a:ea typeface="Arial"/>
                <a:cs typeface="Arial"/>
              </a:rPr>
              <a:t>DOMAIN</a:t>
            </a:r>
          </a:p>
        </p:txBody>
      </p:sp>
      <p:sp>
        <p:nvSpPr>
          <p:cNvPr id="13" name="">
            <a:extLst xmlns:a="http://schemas.openxmlformats.org/drawingml/2006/main">
              <a:ext uri="{FF2B5EF4-FFF2-40B4-BE49-F238E27FC236}">
                <a16:creationId xmlns:a16="http://schemas.microsoft.com/office/drawing/2014/main" id="{6916AF3A-F896-49E4-93EB-5AF895560927}"/>
              </a:ext>
            </a:extLst>
          </p:cNvPr>
          <p:cNvSpPr>
            <a:spLocks xmlns:a="http://schemas.openxmlformats.org/drawingml/2006/main" noGrp="1"/>
          </p:cNvSpPr>
          <p:nvPr/>
        </p:nvSpPr>
        <p:spPr>
          <a:xfrm xmlns:a="http://schemas.openxmlformats.org/drawingml/2006/main">
            <a:off x="2133600" y="38100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172033"/>
                </a:solidFill>
                <a:latin typeface="Arial"/>
                <a:ea typeface="Arial"/>
                <a:cs typeface="Arial"/>
              </a:defRPr>
            </a:pPr>
            <a:r>
              <a:rPr sz="1125" b="0" i="0">
                <a:solidFill>
                  <a:srgbClr val="172033"/>
                </a:solidFill>
                <a:latin typeface="Arial"/>
                <a:ea typeface="Arial"/>
                <a:cs typeface="Arial"/>
              </a:rPr>
              <a:t>Entity, enum và quy tắc cốt lõi</a:t>
            </a:r>
          </a:p>
        </p:txBody>
      </p:sp>
      <p:sp>
        <p:nvSpPr>
          <p:cNvPr id="14" name="">
            <a:extLst xmlns:a="http://schemas.openxmlformats.org/drawingml/2006/main">
              <a:ext uri="{FF2B5EF4-FFF2-40B4-BE49-F238E27FC236}">
                <a16:creationId xmlns:a16="http://schemas.microsoft.com/office/drawing/2014/main" id="{01836131-EEEB-4CD2-8B59-6CCCD1E17E6B}"/>
              </a:ext>
            </a:extLst>
          </p:cNvPr>
          <p:cNvSpPr>
            <a:spLocks xmlns:a="http://schemas.openxmlformats.org/drawingml/2006/main" noGrp="1"/>
          </p:cNvSpPr>
          <p:nvPr/>
        </p:nvSpPr>
        <p:spPr>
          <a:xfrm xmlns:a="http://schemas.openxmlformats.org/drawingml/2006/main">
            <a:off x="552450" y="4572000"/>
            <a:ext cx="4572000" cy="647700"/>
          </a:xfrm>
          <a:prstGeom xmlns:a="http://schemas.openxmlformats.org/drawingml/2006/main" prst="roundRect">
            <a:avLst>
              <a:gd name="adj" fmla="val 17647"/>
            </a:avLst>
          </a:prstGeom>
          <a:solidFill xmlns:a="http://schemas.openxmlformats.org/drawingml/2006/main">
            <a:srgbClr val="F4F7FA"/>
          </a:solidFill>
          <a:ln xmlns:a="http://schemas.openxmlformats.org/drawingml/2006/main" w="9525">
            <a:solidFill>
              <a:srgbClr val="D7DEE8"/>
            </a:solidFill>
            <a:prstDash val="solid"/>
          </a:ln>
        </p:spPr>
      </p:sp>
      <p:sp>
        <p:nvSpPr>
          <p:cNvPr id="15" name="">
            <a:extLst xmlns:a="http://schemas.openxmlformats.org/drawingml/2006/main">
              <a:ext uri="{FF2B5EF4-FFF2-40B4-BE49-F238E27FC236}">
                <a16:creationId xmlns:a16="http://schemas.microsoft.com/office/drawing/2014/main" id="{30849849-8892-4B0B-94AE-C828028761CD}"/>
              </a:ext>
            </a:extLst>
          </p:cNvPr>
          <p:cNvSpPr>
            <a:spLocks xmlns:a="http://schemas.openxmlformats.org/drawingml/2006/main" noGrp="1"/>
          </p:cNvSpPr>
          <p:nvPr/>
        </p:nvSpPr>
        <p:spPr>
          <a:xfrm xmlns:a="http://schemas.openxmlformats.org/drawingml/2006/main">
            <a:off x="762000" y="4705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078CCB"/>
                </a:solidFill>
                <a:latin typeface="Arial"/>
                <a:ea typeface="Arial"/>
                <a:cs typeface="Arial"/>
              </a:defRPr>
            </a:pPr>
            <a:r>
              <a:rPr sz="1200" b="1" i="0">
                <a:solidFill>
                  <a:srgbClr val="078CCB"/>
                </a:solidFill>
                <a:latin typeface="Arial"/>
                <a:ea typeface="Arial"/>
                <a:cs typeface="Arial"/>
              </a:rPr>
              <a:t>MIGRATIONS</a:t>
            </a:r>
          </a:p>
        </p:txBody>
      </p:sp>
      <p:sp>
        <p:nvSpPr>
          <p:cNvPr id="16" name="">
            <a:extLst xmlns:a="http://schemas.openxmlformats.org/drawingml/2006/main">
              <a:ext uri="{FF2B5EF4-FFF2-40B4-BE49-F238E27FC236}">
                <a16:creationId xmlns:a16="http://schemas.microsoft.com/office/drawing/2014/main" id="{317C6B68-53B5-4EDD-9A8C-9A989FC5E592}"/>
              </a:ext>
            </a:extLst>
          </p:cNvPr>
          <p:cNvSpPr>
            <a:spLocks xmlns:a="http://schemas.openxmlformats.org/drawingml/2006/main" noGrp="1"/>
          </p:cNvSpPr>
          <p:nvPr/>
        </p:nvSpPr>
        <p:spPr>
          <a:xfrm xmlns:a="http://schemas.openxmlformats.org/drawingml/2006/main">
            <a:off x="2133600" y="4686300"/>
            <a:ext cx="2724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172033"/>
                </a:solidFill>
                <a:latin typeface="Arial"/>
                <a:ea typeface="Arial"/>
                <a:cs typeface="Arial"/>
              </a:defRPr>
            </a:pPr>
            <a:r>
              <a:rPr sz="1125" b="0" i="0">
                <a:solidFill>
                  <a:srgbClr val="172033"/>
                </a:solidFill>
                <a:latin typeface="Arial"/>
                <a:ea typeface="Arial"/>
                <a:cs typeface="Arial"/>
              </a:rPr>
              <a:t>Ánh xạ EF, migration và seed</a:t>
            </a:r>
          </a:p>
        </p:txBody>
      </p:sp>
      <p:sp>
        <p:nvSpPr>
          <p:cNvPr id="17" name="">
            <a:extLst xmlns:a="http://schemas.openxmlformats.org/drawingml/2006/main">
              <a:ext uri="{FF2B5EF4-FFF2-40B4-BE49-F238E27FC236}">
                <a16:creationId xmlns:a16="http://schemas.microsoft.com/office/drawing/2014/main" id="{035A77DC-A613-4A28-B1D7-3700A78E8E01}"/>
              </a:ext>
            </a:extLst>
          </p:cNvPr>
          <p:cNvSpPr>
            <a:spLocks xmlns:a="http://schemas.openxmlformats.org/drawingml/2006/main" noGrp="1"/>
          </p:cNvSpPr>
          <p:nvPr/>
        </p:nvSpPr>
        <p:spPr>
          <a:xfrm xmlns:a="http://schemas.openxmlformats.org/drawingml/2006/main">
            <a:off x="6400800" y="14097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12448"/>
                </a:solidFill>
                <a:latin typeface="Arial"/>
                <a:ea typeface="Arial"/>
                <a:cs typeface="Arial"/>
              </a:defRPr>
            </a:pPr>
            <a:r>
              <a:rPr sz="1650" b="1" i="0">
                <a:solidFill>
                  <a:srgbClr val="112448"/>
                </a:solidFill>
                <a:latin typeface="Arial"/>
                <a:ea typeface="Arial"/>
                <a:cs typeface="Arial"/>
              </a:rPr>
              <a:t>Frontend Blazor</a:t>
            </a:r>
          </a:p>
        </p:txBody>
      </p:sp>
      <p:sp>
        <p:nvSpPr>
          <p:cNvPr id="18" name="">
            <a:extLst xmlns:a="http://schemas.openxmlformats.org/drawingml/2006/main">
              <a:ext uri="{FF2B5EF4-FFF2-40B4-BE49-F238E27FC236}">
                <a16:creationId xmlns:a16="http://schemas.microsoft.com/office/drawing/2014/main" id="{4E7B9582-2CFC-434C-903F-08402AF473FF}"/>
              </a:ext>
            </a:extLst>
          </p:cNvPr>
          <p:cNvSpPr>
            <a:spLocks xmlns:a="http://schemas.openxmlformats.org/drawingml/2006/main" noGrp="1"/>
          </p:cNvSpPr>
          <p:nvPr/>
        </p:nvSpPr>
        <p:spPr>
          <a:xfrm xmlns:a="http://schemas.openxmlformats.org/drawingml/2006/main">
            <a:off x="6400800" y="1943100"/>
            <a:ext cx="5238750" cy="647700"/>
          </a:xfrm>
          <a:prstGeom xmlns:a="http://schemas.openxmlformats.org/drawingml/2006/main" prst="roundRect">
            <a:avLst>
              <a:gd name="adj" fmla="val 17647"/>
            </a:avLst>
          </a:prstGeom>
          <a:solidFill xmlns:a="http://schemas.openxmlformats.org/drawingml/2006/main">
            <a:srgbClr val="F4F7FA"/>
          </a:solidFill>
          <a:ln xmlns:a="http://schemas.openxmlformats.org/drawingml/2006/main" w="9525">
            <a:solidFill>
              <a:srgbClr val="D7DEE8"/>
            </a:solidFill>
            <a:prstDash val="solid"/>
          </a:ln>
        </p:spPr>
      </p:sp>
      <p:sp>
        <p:nvSpPr>
          <p:cNvPr id="19" name="">
            <a:extLst xmlns:a="http://schemas.openxmlformats.org/drawingml/2006/main">
              <a:ext uri="{FF2B5EF4-FFF2-40B4-BE49-F238E27FC236}">
                <a16:creationId xmlns:a16="http://schemas.microsoft.com/office/drawing/2014/main" id="{F3303921-B5F1-41E7-8005-A110D3353EC6}"/>
              </a:ext>
            </a:extLst>
          </p:cNvPr>
          <p:cNvSpPr>
            <a:spLocks xmlns:a="http://schemas.openxmlformats.org/drawingml/2006/main" noGrp="1"/>
          </p:cNvSpPr>
          <p:nvPr/>
        </p:nvSpPr>
        <p:spPr>
          <a:xfrm xmlns:a="http://schemas.openxmlformats.org/drawingml/2006/main">
            <a:off x="6610350" y="20764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078CCB"/>
                </a:solidFill>
                <a:latin typeface="Arial"/>
                <a:ea typeface="Arial"/>
                <a:cs typeface="Arial"/>
              </a:defRPr>
            </a:pPr>
            <a:r>
              <a:rPr sz="1200" b="1" i="0">
                <a:solidFill>
                  <a:srgbClr val="078CCB"/>
                </a:solidFill>
                <a:latin typeface="Arial"/>
                <a:ea typeface="Arial"/>
                <a:cs typeface="Arial"/>
              </a:rPr>
              <a:t>PAGES</a:t>
            </a:r>
          </a:p>
        </p:txBody>
      </p:sp>
      <p:sp>
        <p:nvSpPr>
          <p:cNvPr id="20" name="">
            <a:extLst xmlns:a="http://schemas.openxmlformats.org/drawingml/2006/main">
              <a:ext uri="{FF2B5EF4-FFF2-40B4-BE49-F238E27FC236}">
                <a16:creationId xmlns:a16="http://schemas.microsoft.com/office/drawing/2014/main" id="{3529A735-F0B5-4808-879E-67DC5EC67104}"/>
              </a:ext>
            </a:extLst>
          </p:cNvPr>
          <p:cNvSpPr>
            <a:spLocks xmlns:a="http://schemas.openxmlformats.org/drawingml/2006/main" noGrp="1"/>
          </p:cNvSpPr>
          <p:nvPr/>
        </p:nvSpPr>
        <p:spPr>
          <a:xfrm xmlns:a="http://schemas.openxmlformats.org/drawingml/2006/main">
            <a:off x="8667750" y="20574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172033"/>
                </a:solidFill>
                <a:latin typeface="Arial"/>
                <a:ea typeface="Arial"/>
                <a:cs typeface="Arial"/>
              </a:defRPr>
            </a:pPr>
            <a:r>
              <a:rPr sz="1125" b="0" i="0">
                <a:solidFill>
                  <a:srgbClr val="172033"/>
                </a:solidFill>
                <a:latin typeface="Arial"/>
                <a:ea typeface="Arial"/>
                <a:cs typeface="Arial"/>
              </a:rPr>
              <a:t>Route và bố cục màn hình</a:t>
            </a:r>
          </a:p>
        </p:txBody>
      </p:sp>
      <p:sp>
        <p:nvSpPr>
          <p:cNvPr id="21" name="">
            <a:extLst xmlns:a="http://schemas.openxmlformats.org/drawingml/2006/main">
              <a:ext uri="{FF2B5EF4-FFF2-40B4-BE49-F238E27FC236}">
                <a16:creationId xmlns:a16="http://schemas.microsoft.com/office/drawing/2014/main" id="{E77399D8-C85C-4CAC-8111-8F77C1C4E404}"/>
              </a:ext>
            </a:extLst>
          </p:cNvPr>
          <p:cNvSpPr>
            <a:spLocks xmlns:a="http://schemas.openxmlformats.org/drawingml/2006/main" noGrp="1"/>
          </p:cNvSpPr>
          <p:nvPr/>
        </p:nvSpPr>
        <p:spPr>
          <a:xfrm xmlns:a="http://schemas.openxmlformats.org/drawingml/2006/main">
            <a:off x="6400800" y="2819400"/>
            <a:ext cx="5238750" cy="647700"/>
          </a:xfrm>
          <a:prstGeom xmlns:a="http://schemas.openxmlformats.org/drawingml/2006/main" prst="roundRect">
            <a:avLst>
              <a:gd name="adj" fmla="val 17647"/>
            </a:avLst>
          </a:prstGeom>
          <a:solidFill xmlns:a="http://schemas.openxmlformats.org/drawingml/2006/main">
            <a:srgbClr val="EAF5FB"/>
          </a:solidFill>
          <a:ln xmlns:a="http://schemas.openxmlformats.org/drawingml/2006/main" w="9525">
            <a:solidFill>
              <a:srgbClr val="61C8F3"/>
            </a:solidFill>
            <a:prstDash val="solid"/>
          </a:ln>
        </p:spPr>
      </p:sp>
      <p:sp>
        <p:nvSpPr>
          <p:cNvPr id="22" name="">
            <a:extLst xmlns:a="http://schemas.openxmlformats.org/drawingml/2006/main">
              <a:ext uri="{FF2B5EF4-FFF2-40B4-BE49-F238E27FC236}">
                <a16:creationId xmlns:a16="http://schemas.microsoft.com/office/drawing/2014/main" id="{D9CED60F-2E99-415E-9B6F-E5A2FBD12B09}"/>
              </a:ext>
            </a:extLst>
          </p:cNvPr>
          <p:cNvSpPr>
            <a:spLocks xmlns:a="http://schemas.openxmlformats.org/drawingml/2006/main" noGrp="1"/>
          </p:cNvSpPr>
          <p:nvPr/>
        </p:nvSpPr>
        <p:spPr>
          <a:xfrm xmlns:a="http://schemas.openxmlformats.org/drawingml/2006/main">
            <a:off x="6610350" y="29527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078CCB"/>
                </a:solidFill>
                <a:latin typeface="Arial"/>
                <a:ea typeface="Arial"/>
                <a:cs typeface="Arial"/>
              </a:defRPr>
            </a:pPr>
            <a:r>
              <a:rPr sz="1200" b="1" i="0">
                <a:solidFill>
                  <a:srgbClr val="078CCB"/>
                </a:solidFill>
                <a:latin typeface="Arial"/>
                <a:ea typeface="Arial"/>
                <a:cs typeface="Arial"/>
              </a:rPr>
              <a:t>FEATURES</a:t>
            </a:r>
          </a:p>
        </p:txBody>
      </p:sp>
      <p:sp>
        <p:nvSpPr>
          <p:cNvPr id="23" name="">
            <a:extLst xmlns:a="http://schemas.openxmlformats.org/drawingml/2006/main">
              <a:ext uri="{FF2B5EF4-FFF2-40B4-BE49-F238E27FC236}">
                <a16:creationId xmlns:a16="http://schemas.microsoft.com/office/drawing/2014/main" id="{18DD089B-FDD4-49EF-8A8E-FA1BFF345C0C}"/>
              </a:ext>
            </a:extLst>
          </p:cNvPr>
          <p:cNvSpPr>
            <a:spLocks xmlns:a="http://schemas.openxmlformats.org/drawingml/2006/main" noGrp="1"/>
          </p:cNvSpPr>
          <p:nvPr/>
        </p:nvSpPr>
        <p:spPr>
          <a:xfrm xmlns:a="http://schemas.openxmlformats.org/drawingml/2006/main">
            <a:off x="8667750" y="29337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172033"/>
                </a:solidFill>
                <a:latin typeface="Arial"/>
                <a:ea typeface="Arial"/>
                <a:cs typeface="Arial"/>
              </a:defRPr>
            </a:pPr>
            <a:r>
              <a:rPr sz="1125" b="0" i="0">
                <a:solidFill>
                  <a:srgbClr val="172033"/>
                </a:solidFill>
                <a:latin typeface="Arial"/>
                <a:ea typeface="Arial"/>
                <a:cs typeface="Arial"/>
              </a:rPr>
              <a:t>Nhóm chức năng theo nghiệp vụ</a:t>
            </a:r>
          </a:p>
        </p:txBody>
      </p:sp>
      <p:sp>
        <p:nvSpPr>
          <p:cNvPr id="24" name="">
            <a:extLst xmlns:a="http://schemas.openxmlformats.org/drawingml/2006/main">
              <a:ext uri="{FF2B5EF4-FFF2-40B4-BE49-F238E27FC236}">
                <a16:creationId xmlns:a16="http://schemas.microsoft.com/office/drawing/2014/main" id="{E5EFBE21-DB0D-4551-BA2C-54345445B3B8}"/>
              </a:ext>
            </a:extLst>
          </p:cNvPr>
          <p:cNvSpPr>
            <a:spLocks xmlns:a="http://schemas.openxmlformats.org/drawingml/2006/main" noGrp="1"/>
          </p:cNvSpPr>
          <p:nvPr/>
        </p:nvSpPr>
        <p:spPr>
          <a:xfrm xmlns:a="http://schemas.openxmlformats.org/drawingml/2006/main">
            <a:off x="6400800" y="3695700"/>
            <a:ext cx="5238750" cy="647700"/>
          </a:xfrm>
          <a:prstGeom xmlns:a="http://schemas.openxmlformats.org/drawingml/2006/main" prst="roundRect">
            <a:avLst>
              <a:gd name="adj" fmla="val 17647"/>
            </a:avLst>
          </a:prstGeom>
          <a:solidFill xmlns:a="http://schemas.openxmlformats.org/drawingml/2006/main">
            <a:srgbClr val="F4F7FA"/>
          </a:solidFill>
          <a:ln xmlns:a="http://schemas.openxmlformats.org/drawingml/2006/main" w="9525">
            <a:solidFill>
              <a:srgbClr val="D7DEE8"/>
            </a:solidFill>
            <a:prstDash val="solid"/>
          </a:ln>
        </p:spPr>
      </p:sp>
      <p:sp>
        <p:nvSpPr>
          <p:cNvPr id="25" name="">
            <a:extLst xmlns:a="http://schemas.openxmlformats.org/drawingml/2006/main">
              <a:ext uri="{FF2B5EF4-FFF2-40B4-BE49-F238E27FC236}">
                <a16:creationId xmlns:a16="http://schemas.microsoft.com/office/drawing/2014/main" id="{485A9DBD-7438-4D77-B7D3-A8F53C4FE7C2}"/>
              </a:ext>
            </a:extLst>
          </p:cNvPr>
          <p:cNvSpPr>
            <a:spLocks xmlns:a="http://schemas.openxmlformats.org/drawingml/2006/main" noGrp="1"/>
          </p:cNvSpPr>
          <p:nvPr/>
        </p:nvSpPr>
        <p:spPr>
          <a:xfrm xmlns:a="http://schemas.openxmlformats.org/drawingml/2006/main">
            <a:off x="6610350" y="38290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078CCB"/>
                </a:solidFill>
                <a:latin typeface="Arial"/>
                <a:ea typeface="Arial"/>
                <a:cs typeface="Arial"/>
              </a:defRPr>
            </a:pPr>
            <a:r>
              <a:rPr sz="1200" b="1" i="0">
                <a:solidFill>
                  <a:srgbClr val="078CCB"/>
                </a:solidFill>
                <a:latin typeface="Arial"/>
                <a:ea typeface="Arial"/>
                <a:cs typeface="Arial"/>
              </a:rPr>
              <a:t>PLATFORM</a:t>
            </a:r>
          </a:p>
        </p:txBody>
      </p:sp>
      <p:sp>
        <p:nvSpPr>
          <p:cNvPr id="26" name="">
            <a:extLst xmlns:a="http://schemas.openxmlformats.org/drawingml/2006/main">
              <a:ext uri="{FF2B5EF4-FFF2-40B4-BE49-F238E27FC236}">
                <a16:creationId xmlns:a16="http://schemas.microsoft.com/office/drawing/2014/main" id="{FFBD9DFA-4B07-4285-B342-528882BE686F}"/>
              </a:ext>
            </a:extLst>
          </p:cNvPr>
          <p:cNvSpPr>
            <a:spLocks xmlns:a="http://schemas.openxmlformats.org/drawingml/2006/main" noGrp="1"/>
          </p:cNvSpPr>
          <p:nvPr/>
        </p:nvSpPr>
        <p:spPr>
          <a:xfrm xmlns:a="http://schemas.openxmlformats.org/drawingml/2006/main">
            <a:off x="8667750" y="38100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172033"/>
                </a:solidFill>
                <a:latin typeface="Arial"/>
                <a:ea typeface="Arial"/>
                <a:cs typeface="Arial"/>
              </a:defRPr>
            </a:pPr>
            <a:r>
              <a:rPr sz="1125" b="0" i="0">
                <a:solidFill>
                  <a:srgbClr val="172033"/>
                </a:solidFill>
                <a:latin typeface="Arial"/>
                <a:ea typeface="Arial"/>
                <a:cs typeface="Arial"/>
              </a:rPr>
              <a:t>Gọi HTTP, xác thực, tải tệp và tích hợp</a:t>
            </a:r>
          </a:p>
        </p:txBody>
      </p:sp>
      <p:sp>
        <p:nvSpPr>
          <p:cNvPr id="27" name="">
            <a:extLst xmlns:a="http://schemas.openxmlformats.org/drawingml/2006/main">
              <a:ext uri="{FF2B5EF4-FFF2-40B4-BE49-F238E27FC236}">
                <a16:creationId xmlns:a16="http://schemas.microsoft.com/office/drawing/2014/main" id="{324C96A5-B5E8-4202-A651-C786E4826F08}"/>
              </a:ext>
            </a:extLst>
          </p:cNvPr>
          <p:cNvSpPr>
            <a:spLocks xmlns:a="http://schemas.openxmlformats.org/drawingml/2006/main" noGrp="1"/>
          </p:cNvSpPr>
          <p:nvPr/>
        </p:nvSpPr>
        <p:spPr>
          <a:xfrm xmlns:a="http://schemas.openxmlformats.org/drawingml/2006/main">
            <a:off x="6400800" y="4572000"/>
            <a:ext cx="5238750" cy="647700"/>
          </a:xfrm>
          <a:prstGeom xmlns:a="http://schemas.openxmlformats.org/drawingml/2006/main" prst="roundRect">
            <a:avLst>
              <a:gd name="adj" fmla="val 17647"/>
            </a:avLst>
          </a:prstGeom>
          <a:solidFill xmlns:a="http://schemas.openxmlformats.org/drawingml/2006/main">
            <a:srgbClr val="F4F7FA"/>
          </a:solidFill>
          <a:ln xmlns:a="http://schemas.openxmlformats.org/drawingml/2006/main" w="9525">
            <a:solidFill>
              <a:srgbClr val="D7DEE8"/>
            </a:solidFill>
            <a:prstDash val="solid"/>
          </a:ln>
        </p:spPr>
      </p:sp>
      <p:sp>
        <p:nvSpPr>
          <p:cNvPr id="28" name="">
            <a:extLst xmlns:a="http://schemas.openxmlformats.org/drawingml/2006/main">
              <a:ext uri="{FF2B5EF4-FFF2-40B4-BE49-F238E27FC236}">
                <a16:creationId xmlns:a16="http://schemas.microsoft.com/office/drawing/2014/main" id="{6B97597C-ADA4-43C9-B636-22BC00A38A7D}"/>
              </a:ext>
            </a:extLst>
          </p:cNvPr>
          <p:cNvSpPr>
            <a:spLocks xmlns:a="http://schemas.openxmlformats.org/drawingml/2006/main" noGrp="1"/>
          </p:cNvSpPr>
          <p:nvPr/>
        </p:nvSpPr>
        <p:spPr>
          <a:xfrm xmlns:a="http://schemas.openxmlformats.org/drawingml/2006/main">
            <a:off x="6610350" y="47053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078CCB"/>
                </a:solidFill>
                <a:latin typeface="Arial"/>
                <a:ea typeface="Arial"/>
                <a:cs typeface="Arial"/>
              </a:defRPr>
            </a:pPr>
            <a:r>
              <a:rPr sz="1200" b="1" i="0">
                <a:solidFill>
                  <a:srgbClr val="078CCB"/>
                </a:solidFill>
                <a:latin typeface="Arial"/>
                <a:ea typeface="Arial"/>
                <a:cs typeface="Arial"/>
              </a:rPr>
              <a:t>SHARED / UI</a:t>
            </a:r>
          </a:p>
        </p:txBody>
      </p:sp>
      <p:sp>
        <p:nvSpPr>
          <p:cNvPr id="29" name="">
            <a:extLst xmlns:a="http://schemas.openxmlformats.org/drawingml/2006/main">
              <a:ext uri="{FF2B5EF4-FFF2-40B4-BE49-F238E27FC236}">
                <a16:creationId xmlns:a16="http://schemas.microsoft.com/office/drawing/2014/main" id="{85B0ECF8-5834-4CF9-8010-6241B13E1FBB}"/>
              </a:ext>
            </a:extLst>
          </p:cNvPr>
          <p:cNvSpPr>
            <a:spLocks xmlns:a="http://schemas.openxmlformats.org/drawingml/2006/main" noGrp="1"/>
          </p:cNvSpPr>
          <p:nvPr/>
        </p:nvSpPr>
        <p:spPr>
          <a:xfrm xmlns:a="http://schemas.openxmlformats.org/drawingml/2006/main">
            <a:off x="8667750" y="46863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172033"/>
                </a:solidFill>
                <a:latin typeface="Arial"/>
                <a:ea typeface="Arial"/>
                <a:cs typeface="Arial"/>
              </a:defRPr>
            </a:pPr>
            <a:r>
              <a:rPr sz="1125" b="0" i="0">
                <a:solidFill>
                  <a:srgbClr val="172033"/>
                </a:solidFill>
                <a:latin typeface="Arial"/>
                <a:ea typeface="Arial"/>
                <a:cs typeface="Arial"/>
              </a:rPr>
              <a:t>Component, trạng thái và design system</a:t>
            </a:r>
          </a:p>
        </p:txBody>
      </p:sp>
      <p:sp>
        <p:nvSpPr>
          <p:cNvPr id="30" name="">
            <a:extLst xmlns:a="http://schemas.openxmlformats.org/drawingml/2006/main">
              <a:ext uri="{FF2B5EF4-FFF2-40B4-BE49-F238E27FC236}">
                <a16:creationId xmlns:a16="http://schemas.microsoft.com/office/drawing/2014/main" id="{9C209918-D170-424D-9CBC-C6BDEFEBE233}"/>
              </a:ext>
            </a:extLst>
          </p:cNvPr>
          <p:cNvSpPr>
            <a:spLocks xmlns:a="http://schemas.openxmlformats.org/drawingml/2006/main" noGrp="1"/>
          </p:cNvSpPr>
          <p:nvPr/>
        </p:nvSpPr>
        <p:spPr>
          <a:xfrm xmlns:a="http://schemas.openxmlformats.org/drawingml/2006/main">
            <a:off x="552450" y="5772150"/>
            <a:ext cx="11087100" cy="457200"/>
          </a:xfrm>
          <a:prstGeom xmlns:a="http://schemas.openxmlformats.org/drawingml/2006/main" prst="roundRect">
            <a:avLst>
              <a:gd name="adj" fmla="val 16667"/>
            </a:avLst>
          </a:prstGeom>
          <a:solidFill xmlns:a="http://schemas.openxmlformats.org/drawingml/2006/main">
            <a:srgbClr val="112448"/>
          </a:solidFill>
          <a:ln xmlns:a="http://schemas.openxmlformats.org/drawingml/2006/main" w="9525">
            <a:solidFill>
              <a:srgbClr val="112448"/>
            </a:solidFill>
            <a:prstDash val="solid"/>
          </a:ln>
        </p:spPr>
      </p:sp>
      <p:sp>
        <p:nvSpPr>
          <p:cNvPr id="31" name="">
            <a:extLst xmlns:a="http://schemas.openxmlformats.org/drawingml/2006/main">
              <a:ext uri="{FF2B5EF4-FFF2-40B4-BE49-F238E27FC236}">
                <a16:creationId xmlns:a16="http://schemas.microsoft.com/office/drawing/2014/main" id="{7A51BCF0-94E1-4E88-A949-E40F462C759D}"/>
              </a:ext>
            </a:extLst>
          </p:cNvPr>
          <p:cNvSpPr>
            <a:spLocks xmlns:a="http://schemas.openxmlformats.org/drawingml/2006/main" noGrp="1"/>
          </p:cNvSpPr>
          <p:nvPr/>
        </p:nvSpPr>
        <p:spPr>
          <a:xfrm xmlns:a="http://schemas.openxmlformats.org/drawingml/2006/main">
            <a:off x="781050" y="5895975"/>
            <a:ext cx="1057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Luồng đọc đề xuất: Route → API endpoint → Application service → Domain rule → Database mapping</a:t>
            </a:r>
          </a:p>
        </p:txBody>
      </p:sp>
    </p:spTree>
    <p:extLst>
      <p:ext uri="{BB962C8B-B14F-4D97-AF65-F5344CB8AC3E}">
        <p14:creationId xmlns:p14="http://schemas.microsoft.com/office/powerpoint/2010/main" val="10132979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6797694-FAC8-41BE-83EA-2C4F8CBEB2F5}"/>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02 · GIẢI PHÁP</a:t>
            </a:r>
          </a:p>
        </p:txBody>
      </p:sp>
      <p:sp>
        <p:nvSpPr>
          <p:cNvPr id="2" name="">
            <a:extLst xmlns:a="http://schemas.openxmlformats.org/drawingml/2006/main">
              <a:ext uri="{FF2B5EF4-FFF2-40B4-BE49-F238E27FC236}">
                <a16:creationId xmlns:a16="http://schemas.microsoft.com/office/drawing/2014/main" id="{2C782484-D869-4FFC-97B6-359CA4F5F203}"/>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Bốn cơ chế giữ đúng nghiệp vụ và dữ liệu</a:t>
            </a:r>
          </a:p>
        </p:txBody>
      </p:sp>
      <p:sp>
        <p:nvSpPr>
          <p:cNvPr id="3" name="">
            <a:extLst xmlns:a="http://schemas.openxmlformats.org/drawingml/2006/main">
              <a:ext uri="{FF2B5EF4-FFF2-40B4-BE49-F238E27FC236}">
                <a16:creationId xmlns:a16="http://schemas.microsoft.com/office/drawing/2014/main" id="{C3936232-F37A-44FD-B084-09032AD72E1E}"/>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2DEA18A-B141-487D-A7DB-9C8FA67B8DC6}"/>
              </a:ext>
            </a:extLst>
          </p:cNvPr>
          <p:cNvSpPr>
            <a:spLocks xmlns:a="http://schemas.openxmlformats.org/drawingml/2006/main" noGrp="1"/>
          </p:cNvSpPr>
          <p:nvPr/>
        </p:nvSpPr>
        <p:spPr>
          <a:xfrm xmlns:a="http://schemas.openxmlformats.org/drawingml/2006/main">
            <a:off x="552450" y="1619250"/>
            <a:ext cx="5257800" cy="1752600"/>
          </a:xfrm>
          <a:prstGeom xmlns:a="http://schemas.openxmlformats.org/drawingml/2006/main" prst="roundRect">
            <a:avLst>
              <a:gd name="adj" fmla="val 6522"/>
            </a:avLst>
          </a:prstGeom>
          <a:solidFill xmlns:a="http://schemas.openxmlformats.org/drawingml/2006/main">
            <a:srgbClr val="F4F7FA"/>
          </a:solidFill>
          <a:ln xmlns:a="http://schemas.openxmlformats.org/drawingml/2006/main" w="9525">
            <a:solidFill>
              <a:srgbClr val="D7DEE8"/>
            </a:solidFill>
            <a:prstDash val="solid"/>
          </a:ln>
        </p:spPr>
      </p:sp>
      <p:sp>
        <p:nvSpPr>
          <p:cNvPr id="5" name="">
            <a:extLst xmlns:a="http://schemas.openxmlformats.org/drawingml/2006/main">
              <a:ext uri="{FF2B5EF4-FFF2-40B4-BE49-F238E27FC236}">
                <a16:creationId xmlns:a16="http://schemas.microsoft.com/office/drawing/2014/main" id="{B86692CB-20B1-42FE-A9E3-F61F142F9B1C}"/>
              </a:ext>
            </a:extLst>
          </p:cNvPr>
          <p:cNvSpPr>
            <a:spLocks xmlns:a="http://schemas.openxmlformats.org/drawingml/2006/main" noGrp="1"/>
          </p:cNvSpPr>
          <p:nvPr/>
        </p:nvSpPr>
        <p:spPr>
          <a:xfrm xmlns:a="http://schemas.openxmlformats.org/drawingml/2006/main">
            <a:off x="819150" y="1885950"/>
            <a:ext cx="400050" cy="400050"/>
          </a:xfrm>
          <a:prstGeom xmlns:a="http://schemas.openxmlformats.org/drawingml/2006/main" prst="ellipse">
            <a:avLst/>
          </a:prstGeom>
          <a:solidFill xmlns:a="http://schemas.openxmlformats.org/drawingml/2006/main">
            <a:srgbClr val="112448"/>
          </a:solidFill>
          <a:ln xmlns:a="http://schemas.openxmlformats.org/drawingml/2006/main" w="9525">
            <a:solidFill>
              <a:srgbClr val="112448"/>
            </a:solidFill>
            <a:prstDash val="solid"/>
          </a:ln>
        </p:spPr>
      </p:sp>
      <p:sp>
        <p:nvSpPr>
          <p:cNvPr id="6" name="">
            <a:extLst xmlns:a="http://schemas.openxmlformats.org/drawingml/2006/main">
              <a:ext uri="{FF2B5EF4-FFF2-40B4-BE49-F238E27FC236}">
                <a16:creationId xmlns:a16="http://schemas.microsoft.com/office/drawing/2014/main" id="{AFD1B6CF-CAA5-4225-BABF-886B8AA331E0}"/>
              </a:ext>
            </a:extLst>
          </p:cNvPr>
          <p:cNvSpPr>
            <a:spLocks xmlns:a="http://schemas.openxmlformats.org/drawingml/2006/main" noGrp="1"/>
          </p:cNvSpPr>
          <p:nvPr/>
        </p:nvSpPr>
        <p:spPr>
          <a:xfrm xmlns:a="http://schemas.openxmlformats.org/drawingml/2006/main">
            <a:off x="819150" y="19716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3ECE73C-B6C3-4A25-82DB-B6C6232F6DF5}"/>
              </a:ext>
            </a:extLst>
          </p:cNvPr>
          <p:cNvSpPr>
            <a:spLocks xmlns:a="http://schemas.openxmlformats.org/drawingml/2006/main" noGrp="1"/>
          </p:cNvSpPr>
          <p:nvPr/>
        </p:nvSpPr>
        <p:spPr>
          <a:xfrm xmlns:a="http://schemas.openxmlformats.org/drawingml/2006/main">
            <a:off x="1428750" y="18859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12448"/>
                </a:solidFill>
                <a:latin typeface="Arial"/>
                <a:ea typeface="Arial"/>
                <a:cs typeface="Arial"/>
              </a:defRPr>
            </a:pPr>
            <a:r>
              <a:rPr sz="1650" b="1" i="0">
                <a:solidFill>
                  <a:srgbClr val="112448"/>
                </a:solidFill>
                <a:latin typeface="Arial"/>
                <a:ea typeface="Arial"/>
                <a:cs typeface="Arial"/>
              </a:rPr>
              <a:t>Idempotency · chống lặp</a:t>
            </a:r>
          </a:p>
        </p:txBody>
      </p:sp>
      <p:sp>
        <p:nvSpPr>
          <p:cNvPr id="8" name="">
            <a:extLst xmlns:a="http://schemas.openxmlformats.org/drawingml/2006/main">
              <a:ext uri="{FF2B5EF4-FFF2-40B4-BE49-F238E27FC236}">
                <a16:creationId xmlns:a16="http://schemas.microsoft.com/office/drawing/2014/main" id="{CF032BBC-BD38-4D09-B066-0313A8EDDA54}"/>
              </a:ext>
            </a:extLst>
          </p:cNvPr>
          <p:cNvSpPr>
            <a:spLocks xmlns:a="http://schemas.openxmlformats.org/drawingml/2006/main" noGrp="1"/>
          </p:cNvSpPr>
          <p:nvPr/>
        </p:nvSpPr>
        <p:spPr>
          <a:xfrm xmlns:a="http://schemas.openxmlformats.org/drawingml/2006/main">
            <a:off x="1428750" y="234315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Cùng một khóa gửi lại sẽ nhận cùng kết quả, không tạo đơn hoặc kết quả chốt kỳ trùng.</a:t>
            </a:r>
          </a:p>
        </p:txBody>
      </p:sp>
      <p:sp>
        <p:nvSpPr>
          <p:cNvPr id="9" name="">
            <a:extLst xmlns:a="http://schemas.openxmlformats.org/drawingml/2006/main">
              <a:ext uri="{FF2B5EF4-FFF2-40B4-BE49-F238E27FC236}">
                <a16:creationId xmlns:a16="http://schemas.microsoft.com/office/drawing/2014/main" id="{3F0DEA9E-980A-4157-BEF0-56B7ED71ADE0}"/>
              </a:ext>
            </a:extLst>
          </p:cNvPr>
          <p:cNvSpPr>
            <a:spLocks xmlns:a="http://schemas.openxmlformats.org/drawingml/2006/main" noGrp="1"/>
          </p:cNvSpPr>
          <p:nvPr/>
        </p:nvSpPr>
        <p:spPr>
          <a:xfrm xmlns:a="http://schemas.openxmlformats.org/drawingml/2006/main">
            <a:off x="6191250" y="1619250"/>
            <a:ext cx="5257800" cy="1752600"/>
          </a:xfrm>
          <a:prstGeom xmlns:a="http://schemas.openxmlformats.org/drawingml/2006/main" prst="roundRect">
            <a:avLst>
              <a:gd name="adj" fmla="val 6522"/>
            </a:avLst>
          </a:prstGeom>
          <a:solidFill xmlns:a="http://schemas.openxmlformats.org/drawingml/2006/main">
            <a:srgbClr val="F4F7FA"/>
          </a:solidFill>
          <a:ln xmlns:a="http://schemas.openxmlformats.org/drawingml/2006/main" w="9525">
            <a:solidFill>
              <a:srgbClr val="D7DEE8"/>
            </a:solidFill>
            <a:prstDash val="solid"/>
          </a:ln>
        </p:spPr>
      </p:sp>
      <p:sp>
        <p:nvSpPr>
          <p:cNvPr id="10" name="">
            <a:extLst xmlns:a="http://schemas.openxmlformats.org/drawingml/2006/main">
              <a:ext uri="{FF2B5EF4-FFF2-40B4-BE49-F238E27FC236}">
                <a16:creationId xmlns:a16="http://schemas.microsoft.com/office/drawing/2014/main" id="{48C7CFDC-1303-4634-8BED-BCAAEC6A0356}"/>
              </a:ext>
            </a:extLst>
          </p:cNvPr>
          <p:cNvSpPr>
            <a:spLocks xmlns:a="http://schemas.openxmlformats.org/drawingml/2006/main" noGrp="1"/>
          </p:cNvSpPr>
          <p:nvPr/>
        </p:nvSpPr>
        <p:spPr>
          <a:xfrm xmlns:a="http://schemas.openxmlformats.org/drawingml/2006/main">
            <a:off x="6457950" y="1885950"/>
            <a:ext cx="400050" cy="400050"/>
          </a:xfrm>
          <a:prstGeom xmlns:a="http://schemas.openxmlformats.org/drawingml/2006/main" prst="ellipse">
            <a:avLst/>
          </a:prstGeom>
          <a:solidFill xmlns:a="http://schemas.openxmlformats.org/drawingml/2006/main">
            <a:srgbClr val="112448"/>
          </a:solidFill>
          <a:ln xmlns:a="http://schemas.openxmlformats.org/drawingml/2006/main" w="9525">
            <a:solidFill>
              <a:srgbClr val="112448"/>
            </a:solidFill>
            <a:prstDash val="solid"/>
          </a:ln>
        </p:spPr>
      </p:sp>
      <p:sp>
        <p:nvSpPr>
          <p:cNvPr id="11" name="">
            <a:extLst xmlns:a="http://schemas.openxmlformats.org/drawingml/2006/main">
              <a:ext uri="{FF2B5EF4-FFF2-40B4-BE49-F238E27FC236}">
                <a16:creationId xmlns:a16="http://schemas.microsoft.com/office/drawing/2014/main" id="{FEDA239F-1219-4A7D-9DCE-218943C774DA}"/>
              </a:ext>
            </a:extLst>
          </p:cNvPr>
          <p:cNvSpPr>
            <a:spLocks xmlns:a="http://schemas.openxmlformats.org/drawingml/2006/main" noGrp="1"/>
          </p:cNvSpPr>
          <p:nvPr/>
        </p:nvSpPr>
        <p:spPr>
          <a:xfrm xmlns:a="http://schemas.openxmlformats.org/drawingml/2006/main">
            <a:off x="6457950" y="19716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11F5BCA8-3105-4096-A34C-649DE2ED133C}"/>
              </a:ext>
            </a:extLst>
          </p:cNvPr>
          <p:cNvSpPr>
            <a:spLocks xmlns:a="http://schemas.openxmlformats.org/drawingml/2006/main" noGrp="1"/>
          </p:cNvSpPr>
          <p:nvPr/>
        </p:nvSpPr>
        <p:spPr>
          <a:xfrm xmlns:a="http://schemas.openxmlformats.org/drawingml/2006/main">
            <a:off x="7067550" y="18859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12448"/>
                </a:solidFill>
                <a:latin typeface="Arial"/>
                <a:ea typeface="Arial"/>
                <a:cs typeface="Arial"/>
              </a:defRPr>
            </a:pPr>
            <a:r>
              <a:rPr sz="1650" b="1" i="0">
                <a:solidFill>
                  <a:srgbClr val="112448"/>
                </a:solidFill>
                <a:latin typeface="Arial"/>
                <a:ea typeface="Arial"/>
                <a:cs typeface="Arial"/>
              </a:rPr>
              <a:t>RowVersion · chống ghi đè</a:t>
            </a:r>
          </a:p>
        </p:txBody>
      </p:sp>
      <p:sp>
        <p:nvSpPr>
          <p:cNvPr id="13" name="">
            <a:extLst xmlns:a="http://schemas.openxmlformats.org/drawingml/2006/main">
              <a:ext uri="{FF2B5EF4-FFF2-40B4-BE49-F238E27FC236}">
                <a16:creationId xmlns:a16="http://schemas.microsoft.com/office/drawing/2014/main" id="{95F6DA24-2B7A-4426-90B6-43DEB1FAE008}"/>
              </a:ext>
            </a:extLst>
          </p:cNvPr>
          <p:cNvSpPr>
            <a:spLocks xmlns:a="http://schemas.openxmlformats.org/drawingml/2006/main" noGrp="1"/>
          </p:cNvSpPr>
          <p:nvPr/>
        </p:nvSpPr>
        <p:spPr>
          <a:xfrm xmlns:a="http://schemas.openxmlformats.org/drawingml/2006/main">
            <a:off x="7067550" y="234315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Phát hiện hai người cùng sửa một bản ghi; tránh ghi đè âm thầm.</a:t>
            </a:r>
          </a:p>
        </p:txBody>
      </p:sp>
      <p:sp>
        <p:nvSpPr>
          <p:cNvPr id="14" name="">
            <a:extLst xmlns:a="http://schemas.openxmlformats.org/drawingml/2006/main">
              <a:ext uri="{FF2B5EF4-FFF2-40B4-BE49-F238E27FC236}">
                <a16:creationId xmlns:a16="http://schemas.microsoft.com/office/drawing/2014/main" id="{7812F8BA-9AC0-4B76-85A0-BA8A64BEC090}"/>
              </a:ext>
            </a:extLst>
          </p:cNvPr>
          <p:cNvSpPr>
            <a:spLocks xmlns:a="http://schemas.openxmlformats.org/drawingml/2006/main" noGrp="1"/>
          </p:cNvSpPr>
          <p:nvPr/>
        </p:nvSpPr>
        <p:spPr>
          <a:xfrm xmlns:a="http://schemas.openxmlformats.org/drawingml/2006/main">
            <a:off x="552450" y="3714750"/>
            <a:ext cx="5257800" cy="1752600"/>
          </a:xfrm>
          <a:prstGeom xmlns:a="http://schemas.openxmlformats.org/drawingml/2006/main" prst="roundRect">
            <a:avLst>
              <a:gd name="adj" fmla="val 6522"/>
            </a:avLst>
          </a:prstGeom>
          <a:solidFill xmlns:a="http://schemas.openxmlformats.org/drawingml/2006/main">
            <a:srgbClr val="F4F7FA"/>
          </a:solidFill>
          <a:ln xmlns:a="http://schemas.openxmlformats.org/drawingml/2006/main" w="9525">
            <a:solidFill>
              <a:srgbClr val="D7DEE8"/>
            </a:solidFill>
            <a:prstDash val="solid"/>
          </a:ln>
        </p:spPr>
      </p:sp>
      <p:sp>
        <p:nvSpPr>
          <p:cNvPr id="15" name="">
            <a:extLst xmlns:a="http://schemas.openxmlformats.org/drawingml/2006/main">
              <a:ext uri="{FF2B5EF4-FFF2-40B4-BE49-F238E27FC236}">
                <a16:creationId xmlns:a16="http://schemas.microsoft.com/office/drawing/2014/main" id="{24D4E318-A08C-4000-83E5-3735019EE809}"/>
              </a:ext>
            </a:extLst>
          </p:cNvPr>
          <p:cNvSpPr>
            <a:spLocks xmlns:a="http://schemas.openxmlformats.org/drawingml/2006/main" noGrp="1"/>
          </p:cNvSpPr>
          <p:nvPr/>
        </p:nvSpPr>
        <p:spPr>
          <a:xfrm xmlns:a="http://schemas.openxmlformats.org/drawingml/2006/main">
            <a:off x="819150" y="3981450"/>
            <a:ext cx="400050" cy="400050"/>
          </a:xfrm>
          <a:prstGeom xmlns:a="http://schemas.openxmlformats.org/drawingml/2006/main" prst="ellipse">
            <a:avLst/>
          </a:prstGeom>
          <a:solidFill xmlns:a="http://schemas.openxmlformats.org/drawingml/2006/main">
            <a:srgbClr val="112448"/>
          </a:solidFill>
          <a:ln xmlns:a="http://schemas.openxmlformats.org/drawingml/2006/main" w="9525">
            <a:solidFill>
              <a:srgbClr val="112448"/>
            </a:solidFill>
            <a:prstDash val="solid"/>
          </a:ln>
        </p:spPr>
      </p:sp>
      <p:sp>
        <p:nvSpPr>
          <p:cNvPr id="16" name="">
            <a:extLst xmlns:a="http://schemas.openxmlformats.org/drawingml/2006/main">
              <a:ext uri="{FF2B5EF4-FFF2-40B4-BE49-F238E27FC236}">
                <a16:creationId xmlns:a16="http://schemas.microsoft.com/office/drawing/2014/main" id="{FD57003D-A1AB-47FF-BEEC-959FC75DB114}"/>
              </a:ext>
            </a:extLst>
          </p:cNvPr>
          <p:cNvSpPr>
            <a:spLocks xmlns:a="http://schemas.openxmlformats.org/drawingml/2006/main" noGrp="1"/>
          </p:cNvSpPr>
          <p:nvPr/>
        </p:nvSpPr>
        <p:spPr>
          <a:xfrm xmlns:a="http://schemas.openxmlformats.org/drawingml/2006/main">
            <a:off x="819150" y="40671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74E5FE6F-A540-46B0-BF56-27B89C87F969}"/>
              </a:ext>
            </a:extLst>
          </p:cNvPr>
          <p:cNvSpPr>
            <a:spLocks xmlns:a="http://schemas.openxmlformats.org/drawingml/2006/main" noGrp="1"/>
          </p:cNvSpPr>
          <p:nvPr/>
        </p:nvSpPr>
        <p:spPr>
          <a:xfrm xmlns:a="http://schemas.openxmlformats.org/drawingml/2006/main">
            <a:off x="1428750" y="39814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12448"/>
                </a:solidFill>
                <a:latin typeface="Arial"/>
                <a:ea typeface="Arial"/>
                <a:cs typeface="Arial"/>
              </a:defRPr>
            </a:pPr>
            <a:r>
              <a:rPr sz="1650" b="1" i="0">
                <a:solidFill>
                  <a:srgbClr val="112448"/>
                </a:solidFill>
                <a:latin typeface="Arial"/>
                <a:ea typeface="Arial"/>
                <a:cs typeface="Arial"/>
              </a:rPr>
              <a:t>Transaction + Constraint</a:t>
            </a:r>
          </a:p>
        </p:txBody>
      </p:sp>
      <p:sp>
        <p:nvSpPr>
          <p:cNvPr id="18" name="">
            <a:extLst xmlns:a="http://schemas.openxmlformats.org/drawingml/2006/main">
              <a:ext uri="{FF2B5EF4-FFF2-40B4-BE49-F238E27FC236}">
                <a16:creationId xmlns:a16="http://schemas.microsoft.com/office/drawing/2014/main" id="{01423B00-7C8C-4FE1-B2AF-458E97F1D860}"/>
              </a:ext>
            </a:extLst>
          </p:cNvPr>
          <p:cNvSpPr>
            <a:spLocks xmlns:a="http://schemas.openxmlformats.org/drawingml/2006/main" noGrp="1"/>
          </p:cNvSpPr>
          <p:nvPr/>
        </p:nvSpPr>
        <p:spPr>
          <a:xfrm xmlns:a="http://schemas.openxmlformats.org/drawingml/2006/main">
            <a:off x="1428750" y="443865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Giao dịch và ràng buộc: nhiều bước lưu cùng nhau; chỉ mục và CHECK chặn dữ liệu sai.</a:t>
            </a:r>
          </a:p>
        </p:txBody>
      </p:sp>
      <p:sp>
        <p:nvSpPr>
          <p:cNvPr id="19" name="">
            <a:extLst xmlns:a="http://schemas.openxmlformats.org/drawingml/2006/main">
              <a:ext uri="{FF2B5EF4-FFF2-40B4-BE49-F238E27FC236}">
                <a16:creationId xmlns:a16="http://schemas.microsoft.com/office/drawing/2014/main" id="{38943093-DEE0-4D34-BDC3-2720AB047EEF}"/>
              </a:ext>
            </a:extLst>
          </p:cNvPr>
          <p:cNvSpPr>
            <a:spLocks xmlns:a="http://schemas.openxmlformats.org/drawingml/2006/main" noGrp="1"/>
          </p:cNvSpPr>
          <p:nvPr/>
        </p:nvSpPr>
        <p:spPr>
          <a:xfrm xmlns:a="http://schemas.openxmlformats.org/drawingml/2006/main">
            <a:off x="6191250" y="3714750"/>
            <a:ext cx="5257800" cy="1752600"/>
          </a:xfrm>
          <a:prstGeom xmlns:a="http://schemas.openxmlformats.org/drawingml/2006/main" prst="roundRect">
            <a:avLst>
              <a:gd name="adj" fmla="val 6522"/>
            </a:avLst>
          </a:prstGeom>
          <a:solidFill xmlns:a="http://schemas.openxmlformats.org/drawingml/2006/main">
            <a:srgbClr val="EAF5FB"/>
          </a:solidFill>
          <a:ln xmlns:a="http://schemas.openxmlformats.org/drawingml/2006/main" w="9525">
            <a:solidFill>
              <a:srgbClr val="61C8F3"/>
            </a:solidFill>
            <a:prstDash val="solid"/>
          </a:ln>
        </p:spPr>
      </p:sp>
      <p:sp>
        <p:nvSpPr>
          <p:cNvPr id="20" name="">
            <a:extLst xmlns:a="http://schemas.openxmlformats.org/drawingml/2006/main">
              <a:ext uri="{FF2B5EF4-FFF2-40B4-BE49-F238E27FC236}">
                <a16:creationId xmlns:a16="http://schemas.microsoft.com/office/drawing/2014/main" id="{9041201C-2CEE-49CA-BC8B-19AD0A50423D}"/>
              </a:ext>
            </a:extLst>
          </p:cNvPr>
          <p:cNvSpPr>
            <a:spLocks xmlns:a="http://schemas.openxmlformats.org/drawingml/2006/main" noGrp="1"/>
          </p:cNvSpPr>
          <p:nvPr/>
        </p:nvSpPr>
        <p:spPr>
          <a:xfrm xmlns:a="http://schemas.openxmlformats.org/drawingml/2006/main">
            <a:off x="6457950" y="3981450"/>
            <a:ext cx="400050" cy="400050"/>
          </a:xfrm>
          <a:prstGeom xmlns:a="http://schemas.openxmlformats.org/drawingml/2006/main" prst="ellipse">
            <a:avLst/>
          </a:prstGeom>
          <a:solidFill xmlns:a="http://schemas.openxmlformats.org/drawingml/2006/main">
            <a:srgbClr val="0EA5E9"/>
          </a:solidFill>
          <a:ln xmlns:a="http://schemas.openxmlformats.org/drawingml/2006/main" w="9525">
            <a:solidFill>
              <a:srgbClr val="0EA5E9"/>
            </a:solidFill>
            <a:prstDash val="solid"/>
          </a:ln>
        </p:spPr>
      </p:sp>
      <p:sp>
        <p:nvSpPr>
          <p:cNvPr id="21" name="">
            <a:extLst xmlns:a="http://schemas.openxmlformats.org/drawingml/2006/main">
              <a:ext uri="{FF2B5EF4-FFF2-40B4-BE49-F238E27FC236}">
                <a16:creationId xmlns:a16="http://schemas.microsoft.com/office/drawing/2014/main" id="{53BF9409-40CF-445B-B182-D93405A60B73}"/>
              </a:ext>
            </a:extLst>
          </p:cNvPr>
          <p:cNvSpPr>
            <a:spLocks xmlns:a="http://schemas.openxmlformats.org/drawingml/2006/main" noGrp="1"/>
          </p:cNvSpPr>
          <p:nvPr/>
        </p:nvSpPr>
        <p:spPr>
          <a:xfrm xmlns:a="http://schemas.openxmlformats.org/drawingml/2006/main">
            <a:off x="6457950" y="406717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C68B18DB-5395-4B72-9FDC-BFDA5CB07AFC}"/>
              </a:ext>
            </a:extLst>
          </p:cNvPr>
          <p:cNvSpPr>
            <a:spLocks xmlns:a="http://schemas.openxmlformats.org/drawingml/2006/main" noGrp="1"/>
          </p:cNvSpPr>
          <p:nvPr/>
        </p:nvSpPr>
        <p:spPr>
          <a:xfrm xmlns:a="http://schemas.openxmlformats.org/drawingml/2006/main">
            <a:off x="7067550" y="39814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12448"/>
                </a:solidFill>
                <a:latin typeface="Arial"/>
                <a:ea typeface="Arial"/>
                <a:cs typeface="Arial"/>
              </a:defRPr>
            </a:pPr>
            <a:r>
              <a:rPr sz="1650" b="1" i="0">
                <a:solidFill>
                  <a:srgbClr val="112448"/>
                </a:solidFill>
                <a:latin typeface="Arial"/>
                <a:ea typeface="Arial"/>
                <a:cs typeface="Arial"/>
              </a:rPr>
              <a:t>Snapshot bất biến</a:t>
            </a:r>
          </a:p>
        </p:txBody>
      </p:sp>
      <p:sp>
        <p:nvSpPr>
          <p:cNvPr id="23" name="">
            <a:extLst xmlns:a="http://schemas.openxmlformats.org/drawingml/2006/main">
              <a:ext uri="{FF2B5EF4-FFF2-40B4-BE49-F238E27FC236}">
                <a16:creationId xmlns:a16="http://schemas.microsoft.com/office/drawing/2014/main" id="{9452C83B-9A35-45C8-8BDA-E54293BF7F90}"/>
              </a:ext>
            </a:extLst>
          </p:cNvPr>
          <p:cNvSpPr>
            <a:spLocks xmlns:a="http://schemas.openxmlformats.org/drawingml/2006/main" noGrp="1"/>
          </p:cNvSpPr>
          <p:nvPr/>
        </p:nvSpPr>
        <p:spPr>
          <a:xfrm xmlns:a="http://schemas.openxmlformats.org/drawingml/2006/main">
            <a:off x="7067550" y="443865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617089"/>
                </a:solidFill>
                <a:latin typeface="Arial"/>
                <a:ea typeface="Arial"/>
                <a:cs typeface="Arial"/>
              </a:defRPr>
            </a:pPr>
            <a:r>
              <a:rPr sz="1200" b="0" i="0">
                <a:solidFill>
                  <a:srgbClr val="617089"/>
                </a:solidFill>
                <a:latin typeface="Arial"/>
                <a:ea typeface="Arial"/>
                <a:cs typeface="Arial"/>
              </a:rPr>
              <a:t>Bản chụp dữ liệu chốt kỳ được giữ nguyên; hiệu chỉnh tạo phiên bản mới và lưu lý do.</a:t>
            </a:r>
          </a:p>
        </p:txBody>
      </p:sp>
    </p:spTree>
    <p:extLst>
      <p:ext uri="{BB962C8B-B14F-4D97-AF65-F5344CB8AC3E}">
        <p14:creationId xmlns:p14="http://schemas.microsoft.com/office/powerpoint/2010/main" val="4459054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26483EF-4A0D-4C08-B440-BF852B0815A3}"/>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03 · HỆ THỐNG MÀN HÌNH</a:t>
            </a:r>
          </a:p>
        </p:txBody>
      </p:sp>
      <p:sp>
        <p:nvSpPr>
          <p:cNvPr id="2" name="">
            <a:extLst xmlns:a="http://schemas.openxmlformats.org/drawingml/2006/main">
              <a:ext uri="{FF2B5EF4-FFF2-40B4-BE49-F238E27FC236}">
                <a16:creationId xmlns:a16="http://schemas.microsoft.com/office/drawing/2014/main" id="{8F669F77-56AE-4923-9E8C-7B0C079C8827}"/>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Luồng sử dụng của nhân viên</a:t>
            </a:r>
          </a:p>
        </p:txBody>
      </p:sp>
      <p:sp>
        <p:nvSpPr>
          <p:cNvPr id="3" name="">
            <a:extLst xmlns:a="http://schemas.openxmlformats.org/drawingml/2006/main">
              <a:ext uri="{FF2B5EF4-FFF2-40B4-BE49-F238E27FC236}">
                <a16:creationId xmlns:a16="http://schemas.microsoft.com/office/drawing/2014/main" id="{0BD8C709-0A89-4700-A043-20CB60D12BD7}"/>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209A793-712E-4616-B0BF-58D7B4336D9B}"/>
              </a:ext>
            </a:extLst>
          </p:cNvPr>
          <p:cNvSpPr>
            <a:spLocks xmlns:a="http://schemas.openxmlformats.org/drawingml/2006/main" noGrp="1"/>
          </p:cNvSpPr>
          <p:nvPr/>
        </p:nvSpPr>
        <p:spPr>
          <a:xfrm xmlns:a="http://schemas.openxmlformats.org/drawingml/2006/main">
            <a:off x="552450" y="13525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1. Xem kỳ và đơn hiện tại</a:t>
            </a:r>
          </a:p>
        </p:txBody>
      </p:sp>
      <p:sp>
        <p:nvSpPr>
          <p:cNvPr id="5" name="">
            <a:extLst xmlns:a="http://schemas.openxmlformats.org/drawingml/2006/main">
              <a:ext uri="{FF2B5EF4-FFF2-40B4-BE49-F238E27FC236}">
                <a16:creationId xmlns:a16="http://schemas.microsoft.com/office/drawing/2014/main" id="{3BEF3BF9-996E-4F8D-82CA-A4012586B884}"/>
              </a:ext>
            </a:extLst>
          </p:cNvPr>
          <p:cNvSpPr>
            <a:spLocks xmlns:a="http://schemas.openxmlformats.org/drawingml/2006/main" noGrp="1"/>
          </p:cNvSpPr>
          <p:nvPr/>
        </p:nvSpPr>
        <p:spPr>
          <a:xfrm xmlns:a="http://schemas.openxmlformats.org/drawingml/2006/main">
            <a:off x="533400" y="1676400"/>
            <a:ext cx="6610350" cy="3733800"/>
          </a:xfrm>
          <a:prstGeom xmlns:a="http://schemas.openxmlformats.org/drawingml/2006/main" prst="roundRect">
            <a:avLst>
              <a:gd name="adj" fmla="val 3061"/>
            </a:avLst>
          </a:prstGeom>
          <a:solidFill xmlns:a="http://schemas.openxmlformats.org/drawingml/2006/main">
            <a:srgbClr val="FFFFFF"/>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4c5f3cb8af14ff1"/>
          <a:srcRect xmlns:a="http://schemas.openxmlformats.org/drawingml/2006/main" l="0" t="16" r="0" b="16"/>
          <a:stretch xmlns:a="http://schemas.openxmlformats.org/drawingml/2006/main">
            <a:fillRect l="0" t="0" r="0" b="0"/>
          </a:stretch>
        </p:blipFill>
        <p:spPr>
          <a:xfrm xmlns:a="http://schemas.openxmlformats.org/drawingml/2006/main">
            <a:off x="552450" y="1695450"/>
            <a:ext cx="6572250" cy="3695700"/>
          </a:xfrm>
          <a:prstGeom xmlns:a="http://schemas.openxmlformats.org/drawingml/2006/main" prst="roundRect">
            <a:avLst>
              <a:gd name="adj" fmla="val 3093"/>
            </a:avLst>
          </a:prstGeom>
        </p:spPr>
      </p:pic>
      <p:sp>
        <p:nvSpPr>
          <p:cNvPr id="7" name="">
            <a:extLst xmlns:a="http://schemas.openxmlformats.org/drawingml/2006/main">
              <a:ext uri="{FF2B5EF4-FFF2-40B4-BE49-F238E27FC236}">
                <a16:creationId xmlns:a16="http://schemas.microsoft.com/office/drawing/2014/main" id="{CF52B5A2-D19A-4B74-89FE-258A791CF57C}"/>
              </a:ext>
            </a:extLst>
          </p:cNvPr>
          <p:cNvSpPr>
            <a:spLocks xmlns:a="http://schemas.openxmlformats.org/drawingml/2006/main" noGrp="1"/>
          </p:cNvSpPr>
          <p:nvPr/>
        </p:nvSpPr>
        <p:spPr>
          <a:xfrm xmlns:a="http://schemas.openxmlformats.org/drawingml/2006/main">
            <a:off x="7429500" y="13525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2. Tra cứu danh mục</a:t>
            </a:r>
          </a:p>
        </p:txBody>
      </p:sp>
      <p:sp>
        <p:nvSpPr>
          <p:cNvPr id="8" name="">
            <a:extLst xmlns:a="http://schemas.openxmlformats.org/drawingml/2006/main">
              <a:ext uri="{FF2B5EF4-FFF2-40B4-BE49-F238E27FC236}">
                <a16:creationId xmlns:a16="http://schemas.microsoft.com/office/drawing/2014/main" id="{511EA202-F921-4BA5-8A81-148020452072}"/>
              </a:ext>
            </a:extLst>
          </p:cNvPr>
          <p:cNvSpPr>
            <a:spLocks xmlns:a="http://schemas.openxmlformats.org/drawingml/2006/main" noGrp="1"/>
          </p:cNvSpPr>
          <p:nvPr/>
        </p:nvSpPr>
        <p:spPr>
          <a:xfrm xmlns:a="http://schemas.openxmlformats.org/drawingml/2006/main">
            <a:off x="7410450" y="1676400"/>
            <a:ext cx="4248150" cy="1828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6610728cd4d47e4"/>
          <a:srcRect xmlns:a="http://schemas.openxmlformats.org/drawingml/2006/main" l="0" t="12192" r="0" b="12192"/>
          <a:stretch xmlns:a="http://schemas.openxmlformats.org/drawingml/2006/main">
            <a:fillRect l="0" t="0" r="0" b="0"/>
          </a:stretch>
        </p:blipFill>
        <p:spPr>
          <a:xfrm xmlns:a="http://schemas.openxmlformats.org/drawingml/2006/main">
            <a:off x="7429500" y="1695450"/>
            <a:ext cx="4210050" cy="1790700"/>
          </a:xfrm>
          <a:prstGeom xmlns:a="http://schemas.openxmlformats.org/drawingml/2006/main" prst="roundRect">
            <a:avLst>
              <a:gd name="adj" fmla="val 6383"/>
            </a:avLst>
          </a:prstGeom>
        </p:spPr>
      </p:pic>
      <p:sp>
        <p:nvSpPr>
          <p:cNvPr id="10" name="">
            <a:extLst xmlns:a="http://schemas.openxmlformats.org/drawingml/2006/main">
              <a:ext uri="{FF2B5EF4-FFF2-40B4-BE49-F238E27FC236}">
                <a16:creationId xmlns:a16="http://schemas.microsoft.com/office/drawing/2014/main" id="{0A990DE7-1C3F-4830-9792-F7EB846B34BB}"/>
              </a:ext>
            </a:extLst>
          </p:cNvPr>
          <p:cNvSpPr>
            <a:spLocks xmlns:a="http://schemas.openxmlformats.org/drawingml/2006/main" noGrp="1"/>
          </p:cNvSpPr>
          <p:nvPr/>
        </p:nvSpPr>
        <p:spPr>
          <a:xfrm xmlns:a="http://schemas.openxmlformats.org/drawingml/2006/main">
            <a:off x="7429500" y="36766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3. Theo dõi lịch sử</a:t>
            </a:r>
          </a:p>
        </p:txBody>
      </p:sp>
      <p:sp>
        <p:nvSpPr>
          <p:cNvPr id="11" name="">
            <a:extLst xmlns:a="http://schemas.openxmlformats.org/drawingml/2006/main">
              <a:ext uri="{FF2B5EF4-FFF2-40B4-BE49-F238E27FC236}">
                <a16:creationId xmlns:a16="http://schemas.microsoft.com/office/drawing/2014/main" id="{4CB51819-A687-4BC3-AC9D-8E7D7C96704C}"/>
              </a:ext>
            </a:extLst>
          </p:cNvPr>
          <p:cNvSpPr>
            <a:spLocks xmlns:a="http://schemas.openxmlformats.org/drawingml/2006/main" noGrp="1"/>
          </p:cNvSpPr>
          <p:nvPr/>
        </p:nvSpPr>
        <p:spPr>
          <a:xfrm xmlns:a="http://schemas.openxmlformats.org/drawingml/2006/main">
            <a:off x="7410450" y="4000500"/>
            <a:ext cx="4248150" cy="14097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224e9da0337413b"/>
          <a:srcRect xmlns:a="http://schemas.openxmlformats.org/drawingml/2006/main" l="0" t="21041" r="0" b="21041"/>
          <a:stretch xmlns:a="http://schemas.openxmlformats.org/drawingml/2006/main">
            <a:fillRect l="0" t="0" r="0" b="0"/>
          </a:stretch>
        </p:blipFill>
        <p:spPr>
          <a:xfrm xmlns:a="http://schemas.openxmlformats.org/drawingml/2006/main">
            <a:off x="7429500" y="4019550"/>
            <a:ext cx="4210050" cy="1371600"/>
          </a:xfrm>
          <a:prstGeom xmlns:a="http://schemas.openxmlformats.org/drawingml/2006/main" prst="roundRect">
            <a:avLst>
              <a:gd name="adj" fmla="val 8333"/>
            </a:avLst>
          </a:prstGeom>
        </p:spPr>
      </p:pic>
      <p:sp>
        <p:nvSpPr>
          <p:cNvPr id="13" name="">
            <a:extLst xmlns:a="http://schemas.openxmlformats.org/drawingml/2006/main">
              <a:ext uri="{FF2B5EF4-FFF2-40B4-BE49-F238E27FC236}">
                <a16:creationId xmlns:a16="http://schemas.microsoft.com/office/drawing/2014/main" id="{BA34FC2E-9567-4430-AB3A-52C26A00E604}"/>
              </a:ext>
            </a:extLst>
          </p:cNvPr>
          <p:cNvSpPr>
            <a:spLocks xmlns:a="http://schemas.openxmlformats.org/drawingml/2006/main" noGrp="1"/>
          </p:cNvSpPr>
          <p:nvPr/>
        </p:nvSpPr>
        <p:spPr>
          <a:xfrm xmlns:a="http://schemas.openxmlformats.org/drawingml/2006/main">
            <a:off x="552450" y="5657850"/>
            <a:ext cx="11087100" cy="476250"/>
          </a:xfrm>
          <a:prstGeom xmlns:a="http://schemas.openxmlformats.org/drawingml/2006/main" prst="roundRect">
            <a:avLst>
              <a:gd name="adj" fmla="val 24000"/>
            </a:avLst>
          </a:prstGeom>
          <a:solidFill xmlns:a="http://schemas.openxmlformats.org/drawingml/2006/main">
            <a:srgbClr val="EAF5FB"/>
          </a:solidFill>
          <a:ln xmlns:a="http://schemas.openxmlformats.org/drawingml/2006/main" w="9525">
            <a:solidFill>
              <a:srgbClr val="61C8F3"/>
            </a:solidFill>
            <a:prstDash val="solid"/>
          </a:ln>
        </p:spPr>
      </p:sp>
      <p:sp>
        <p:nvSpPr>
          <p:cNvPr id="14" name="">
            <a:extLst xmlns:a="http://schemas.openxmlformats.org/drawingml/2006/main">
              <a:ext uri="{FF2B5EF4-FFF2-40B4-BE49-F238E27FC236}">
                <a16:creationId xmlns:a16="http://schemas.microsoft.com/office/drawing/2014/main" id="{59BD9134-235D-43E6-BD21-75A6EC7210C1}"/>
              </a:ext>
            </a:extLst>
          </p:cNvPr>
          <p:cNvSpPr>
            <a:spLocks xmlns:a="http://schemas.openxmlformats.org/drawingml/2006/main" noGrp="1"/>
          </p:cNvSpPr>
          <p:nvPr/>
        </p:nvSpPr>
        <p:spPr>
          <a:xfrm xmlns:a="http://schemas.openxmlformats.org/drawingml/2006/main">
            <a:off x="762000" y="579120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i="0">
                <a:solidFill>
                  <a:srgbClr val="112448"/>
                </a:solidFill>
                <a:latin typeface="Arial"/>
                <a:ea typeface="Arial"/>
                <a:cs typeface="Arial"/>
              </a:defRPr>
            </a:pPr>
            <a:r>
              <a:rPr sz="1200" b="0" i="0">
                <a:solidFill>
                  <a:srgbClr val="112448"/>
                </a:solidFill>
                <a:latin typeface="Arial"/>
                <a:ea typeface="Arial"/>
                <a:cs typeface="Arial"/>
              </a:rPr>
              <a:t>Các nút sửa, hủy, tạo mới hoặc tạo bổ sung chỉ xuất hiện khi trạng thái kỳ và quyền người dùng cho phép.</a:t>
            </a:r>
          </a:p>
        </p:txBody>
      </p:sp>
    </p:spTree>
    <p:extLst>
      <p:ext uri="{BB962C8B-B14F-4D97-AF65-F5344CB8AC3E}">
        <p14:creationId xmlns:p14="http://schemas.microsoft.com/office/powerpoint/2010/main" val="9955036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44A56AB-5CAF-4D54-BA53-4DD66E9027BF}"/>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03 · HỆ THỐNG MÀN HÌNH</a:t>
            </a:r>
          </a:p>
        </p:txBody>
      </p:sp>
      <p:sp>
        <p:nvSpPr>
          <p:cNvPr id="2" name="">
            <a:extLst xmlns:a="http://schemas.openxmlformats.org/drawingml/2006/main">
              <a:ext uri="{FF2B5EF4-FFF2-40B4-BE49-F238E27FC236}">
                <a16:creationId xmlns:a16="http://schemas.microsoft.com/office/drawing/2014/main" id="{F6BBE647-897B-4426-A513-58CE95F45E4C}"/>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Luồng vận hành kỳ của quản lý</a:t>
            </a:r>
          </a:p>
        </p:txBody>
      </p:sp>
      <p:sp>
        <p:nvSpPr>
          <p:cNvPr id="3" name="">
            <a:extLst xmlns:a="http://schemas.openxmlformats.org/drawingml/2006/main">
              <a:ext uri="{FF2B5EF4-FFF2-40B4-BE49-F238E27FC236}">
                <a16:creationId xmlns:a16="http://schemas.microsoft.com/office/drawing/2014/main" id="{B4C3CD37-BBDA-4739-9086-9A10457DAED1}"/>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07FADE1D-84D2-47A9-AA28-A47DA93608A2}"/>
              </a:ext>
            </a:extLst>
          </p:cNvPr>
          <p:cNvSpPr>
            <a:spLocks xmlns:a="http://schemas.openxmlformats.org/drawingml/2006/main" noGrp="1"/>
          </p:cNvSpPr>
          <p:nvPr/>
        </p:nvSpPr>
        <p:spPr>
          <a:xfrm xmlns:a="http://schemas.openxmlformats.org/drawingml/2006/main">
            <a:off x="552450" y="12382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617089"/>
                </a:solidFill>
                <a:latin typeface="Arial"/>
                <a:ea typeface="Arial"/>
                <a:cs typeface="Arial"/>
              </a:defRPr>
            </a:pPr>
            <a:r>
              <a:rPr sz="1350" b="0" i="0">
                <a:solidFill>
                  <a:srgbClr val="617089"/>
                </a:solidFill>
                <a:latin typeface="Arial"/>
                <a:ea typeface="Arial"/>
                <a:cs typeface="Arial"/>
              </a:rPr>
              <a:t>Quản lý chọn kỳ, nhà cung cấp và bảng giá; hệ thống tổng hợp theo phòng ban, kiểm tra điều kiện ngăn chốt và lưu kết quả khi xác nhận.</a:t>
            </a:r>
          </a:p>
        </p:txBody>
      </p:sp>
      <p:sp>
        <p:nvSpPr>
          <p:cNvPr id="5" name="">
            <a:extLst xmlns:a="http://schemas.openxmlformats.org/drawingml/2006/main">
              <a:ext uri="{FF2B5EF4-FFF2-40B4-BE49-F238E27FC236}">
                <a16:creationId xmlns:a16="http://schemas.microsoft.com/office/drawing/2014/main" id="{8D311DC7-B7F2-47D2-988B-7FC4610474C0}"/>
              </a:ext>
            </a:extLst>
          </p:cNvPr>
          <p:cNvSpPr>
            <a:spLocks xmlns:a="http://schemas.openxmlformats.org/drawingml/2006/main" noGrp="1"/>
          </p:cNvSpPr>
          <p:nvPr/>
        </p:nvSpPr>
        <p:spPr>
          <a:xfrm xmlns:a="http://schemas.openxmlformats.org/drawingml/2006/main">
            <a:off x="533400" y="1866900"/>
            <a:ext cx="7848600" cy="40005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97d70eca686444b"/>
          <a:srcRect xmlns:a="http://schemas.openxmlformats.org/drawingml/2006/main" l="0" t="4905" r="0" b="4905"/>
          <a:stretch xmlns:a="http://schemas.openxmlformats.org/drawingml/2006/main">
            <a:fillRect l="0" t="0" r="0" b="0"/>
          </a:stretch>
        </p:blipFill>
        <p:spPr>
          <a:xfrm xmlns:a="http://schemas.openxmlformats.org/drawingml/2006/main">
            <a:off x="552450" y="1885950"/>
            <a:ext cx="7810500" cy="3962400"/>
          </a:xfrm>
          <a:prstGeom xmlns:a="http://schemas.openxmlformats.org/drawingml/2006/main" prst="roundRect">
            <a:avLst>
              <a:gd name="adj" fmla="val 2885"/>
            </a:avLst>
          </a:prstGeom>
        </p:spPr>
      </p:pic>
      <p:sp>
        <p:nvSpPr>
          <p:cNvPr id="7" name="">
            <a:extLst xmlns:a="http://schemas.openxmlformats.org/drawingml/2006/main">
              <a:ext uri="{FF2B5EF4-FFF2-40B4-BE49-F238E27FC236}">
                <a16:creationId xmlns:a16="http://schemas.microsoft.com/office/drawing/2014/main" id="{A5261D6C-9816-4D10-B197-5F05D1503C85}"/>
              </a:ext>
            </a:extLst>
          </p:cNvPr>
          <p:cNvSpPr>
            <a:spLocks xmlns:a="http://schemas.openxmlformats.org/drawingml/2006/main" noGrp="1"/>
          </p:cNvSpPr>
          <p:nvPr/>
        </p:nvSpPr>
        <p:spPr>
          <a:xfrm xmlns:a="http://schemas.openxmlformats.org/drawingml/2006/main">
            <a:off x="8763000" y="19431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078CCB"/>
                </a:solidFill>
                <a:latin typeface="Arial"/>
                <a:ea typeface="Arial"/>
                <a:cs typeface="Arial"/>
              </a:defRPr>
            </a:pPr>
            <a:r>
              <a:rPr sz="1125" b="1" i="0">
                <a:solidFill>
                  <a:srgbClr val="078CC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11375DA5-0002-4D27-B2C0-4501EDAE1F8D}"/>
              </a:ext>
            </a:extLst>
          </p:cNvPr>
          <p:cNvSpPr>
            <a:spLocks xmlns:a="http://schemas.openxmlformats.org/drawingml/2006/main" noGrp="1"/>
          </p:cNvSpPr>
          <p:nvPr/>
        </p:nvSpPr>
        <p:spPr>
          <a:xfrm xmlns:a="http://schemas.openxmlformats.org/drawingml/2006/main">
            <a:off x="9277350" y="1943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Tổng hợp nhu cầu</a:t>
            </a:r>
          </a:p>
        </p:txBody>
      </p:sp>
      <p:sp>
        <p:nvSpPr>
          <p:cNvPr id="9" name="">
            <a:extLst xmlns:a="http://schemas.openxmlformats.org/drawingml/2006/main">
              <a:ext uri="{FF2B5EF4-FFF2-40B4-BE49-F238E27FC236}">
                <a16:creationId xmlns:a16="http://schemas.microsoft.com/office/drawing/2014/main" id="{8A2744AA-5B51-4009-8A25-F3DC6DD7B36C}"/>
              </a:ext>
            </a:extLst>
          </p:cNvPr>
          <p:cNvSpPr>
            <a:spLocks xmlns:a="http://schemas.openxmlformats.org/drawingml/2006/main" noGrp="1"/>
          </p:cNvSpPr>
          <p:nvPr/>
        </p:nvSpPr>
        <p:spPr>
          <a:xfrm xmlns:a="http://schemas.openxmlformats.org/drawingml/2006/main">
            <a:off x="9277350" y="225742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Đơn thường + đơn bổ sung theo phạm vi.</a:t>
            </a:r>
          </a:p>
        </p:txBody>
      </p:sp>
      <p:sp>
        <p:nvSpPr>
          <p:cNvPr id="10" name="">
            <a:extLst xmlns:a="http://schemas.openxmlformats.org/drawingml/2006/main">
              <a:ext uri="{FF2B5EF4-FFF2-40B4-BE49-F238E27FC236}">
                <a16:creationId xmlns:a16="http://schemas.microsoft.com/office/drawing/2014/main" id="{DF57E09F-CD0A-4789-AE8E-AE13B9FF1FB5}"/>
              </a:ext>
            </a:extLst>
          </p:cNvPr>
          <p:cNvSpPr>
            <a:spLocks xmlns:a="http://schemas.openxmlformats.org/drawingml/2006/main" noGrp="1"/>
          </p:cNvSpPr>
          <p:nvPr/>
        </p:nvSpPr>
        <p:spPr>
          <a:xfrm xmlns:a="http://schemas.openxmlformats.org/drawingml/2006/main">
            <a:off x="8763000" y="292417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078CCB"/>
                </a:solidFill>
                <a:latin typeface="Arial"/>
                <a:ea typeface="Arial"/>
                <a:cs typeface="Arial"/>
              </a:defRPr>
            </a:pPr>
            <a:r>
              <a:rPr sz="1125" b="1" i="0">
                <a:solidFill>
                  <a:srgbClr val="078CC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82EB090B-F2AE-4091-AF1E-CD8AC19664CD}"/>
              </a:ext>
            </a:extLst>
          </p:cNvPr>
          <p:cNvSpPr>
            <a:spLocks xmlns:a="http://schemas.openxmlformats.org/drawingml/2006/main" noGrp="1"/>
          </p:cNvSpPr>
          <p:nvPr/>
        </p:nvSpPr>
        <p:spPr>
          <a:xfrm xmlns:a="http://schemas.openxmlformats.org/drawingml/2006/main">
            <a:off x="9277350" y="29241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Chọn nguồn giá</a:t>
            </a:r>
          </a:p>
        </p:txBody>
      </p:sp>
      <p:sp>
        <p:nvSpPr>
          <p:cNvPr id="12" name="">
            <a:extLst xmlns:a="http://schemas.openxmlformats.org/drawingml/2006/main">
              <a:ext uri="{FF2B5EF4-FFF2-40B4-BE49-F238E27FC236}">
                <a16:creationId xmlns:a16="http://schemas.microsoft.com/office/drawing/2014/main" id="{EE336DE3-4749-4772-9B56-AAFC12FEA2A6}"/>
              </a:ext>
            </a:extLst>
          </p:cNvPr>
          <p:cNvSpPr>
            <a:spLocks xmlns:a="http://schemas.openxmlformats.org/drawingml/2006/main" noGrp="1"/>
          </p:cNvSpPr>
          <p:nvPr/>
        </p:nvSpPr>
        <p:spPr>
          <a:xfrm xmlns:a="http://schemas.openxmlformats.org/drawingml/2006/main">
            <a:off x="9277350" y="32385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Nhà cung cấp và bảng giá còn hiệu lực.</a:t>
            </a:r>
          </a:p>
        </p:txBody>
      </p:sp>
      <p:sp>
        <p:nvSpPr>
          <p:cNvPr id="13" name="">
            <a:extLst xmlns:a="http://schemas.openxmlformats.org/drawingml/2006/main">
              <a:ext uri="{FF2B5EF4-FFF2-40B4-BE49-F238E27FC236}">
                <a16:creationId xmlns:a16="http://schemas.microsoft.com/office/drawing/2014/main" id="{E350252E-9271-4B34-A550-26B86DC4BEE1}"/>
              </a:ext>
            </a:extLst>
          </p:cNvPr>
          <p:cNvSpPr>
            <a:spLocks xmlns:a="http://schemas.openxmlformats.org/drawingml/2006/main" noGrp="1"/>
          </p:cNvSpPr>
          <p:nvPr/>
        </p:nvSpPr>
        <p:spPr>
          <a:xfrm xmlns:a="http://schemas.openxmlformats.org/drawingml/2006/main">
            <a:off x="8763000" y="39052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078CCB"/>
                </a:solidFill>
                <a:latin typeface="Arial"/>
                <a:ea typeface="Arial"/>
                <a:cs typeface="Arial"/>
              </a:defRPr>
            </a:pPr>
            <a:r>
              <a:rPr sz="1125" b="1" i="0">
                <a:solidFill>
                  <a:srgbClr val="078CCB"/>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5B5082C1-0CA9-4F1F-B61B-ABC3BEE96AE4}"/>
              </a:ext>
            </a:extLst>
          </p:cNvPr>
          <p:cNvSpPr>
            <a:spLocks xmlns:a="http://schemas.openxmlformats.org/drawingml/2006/main" noGrp="1"/>
          </p:cNvSpPr>
          <p:nvPr/>
        </p:nvSpPr>
        <p:spPr>
          <a:xfrm xmlns:a="http://schemas.openxmlformats.org/drawingml/2006/main">
            <a:off x="9277350" y="3905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Kiểm tra điều kiện chặn</a:t>
            </a:r>
          </a:p>
        </p:txBody>
      </p:sp>
      <p:sp>
        <p:nvSpPr>
          <p:cNvPr id="15" name="">
            <a:extLst xmlns:a="http://schemas.openxmlformats.org/drawingml/2006/main">
              <a:ext uri="{FF2B5EF4-FFF2-40B4-BE49-F238E27FC236}">
                <a16:creationId xmlns:a16="http://schemas.microsoft.com/office/drawing/2014/main" id="{90D44877-1EAB-4CF8-B4A6-6C18207599AE}"/>
              </a:ext>
            </a:extLst>
          </p:cNvPr>
          <p:cNvSpPr>
            <a:spLocks xmlns:a="http://schemas.openxmlformats.org/drawingml/2006/main" noGrp="1"/>
          </p:cNvSpPr>
          <p:nvPr/>
        </p:nvSpPr>
        <p:spPr>
          <a:xfrm xmlns:a="http://schemas.openxmlformats.org/drawingml/2006/main">
            <a:off x="9277350" y="4219575"/>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Thiếu giá hoặc còn đơn chờ duyệt sẽ bị chặn.</a:t>
            </a:r>
          </a:p>
        </p:txBody>
      </p:sp>
      <p:sp>
        <p:nvSpPr>
          <p:cNvPr id="16" name="">
            <a:extLst xmlns:a="http://schemas.openxmlformats.org/drawingml/2006/main">
              <a:ext uri="{FF2B5EF4-FFF2-40B4-BE49-F238E27FC236}">
                <a16:creationId xmlns:a16="http://schemas.microsoft.com/office/drawing/2014/main" id="{5B774E0D-CDB0-4DDA-BFBF-6EDB3225EA48}"/>
              </a:ext>
            </a:extLst>
          </p:cNvPr>
          <p:cNvSpPr>
            <a:spLocks xmlns:a="http://schemas.openxmlformats.org/drawingml/2006/main" noGrp="1"/>
          </p:cNvSpPr>
          <p:nvPr/>
        </p:nvSpPr>
        <p:spPr>
          <a:xfrm xmlns:a="http://schemas.openxmlformats.org/drawingml/2006/main">
            <a:off x="8763000" y="4886325"/>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078CCB"/>
                </a:solidFill>
                <a:latin typeface="Arial"/>
                <a:ea typeface="Arial"/>
                <a:cs typeface="Arial"/>
              </a:defRPr>
            </a:pPr>
            <a:r>
              <a:rPr sz="1125" b="1" i="0">
                <a:solidFill>
                  <a:srgbClr val="078CCB"/>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71029956-50E3-4D2B-A6A8-ADB29B4563F8}"/>
              </a:ext>
            </a:extLst>
          </p:cNvPr>
          <p:cNvSpPr>
            <a:spLocks xmlns:a="http://schemas.openxmlformats.org/drawingml/2006/main" noGrp="1"/>
          </p:cNvSpPr>
          <p:nvPr/>
        </p:nvSpPr>
        <p:spPr>
          <a:xfrm xmlns:a="http://schemas.openxmlformats.org/drawingml/2006/main">
            <a:off x="9277350" y="48863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Xác nhận chốt</a:t>
            </a:r>
          </a:p>
        </p:txBody>
      </p:sp>
      <p:sp>
        <p:nvSpPr>
          <p:cNvPr id="18" name="">
            <a:extLst xmlns:a="http://schemas.openxmlformats.org/drawingml/2006/main">
              <a:ext uri="{FF2B5EF4-FFF2-40B4-BE49-F238E27FC236}">
                <a16:creationId xmlns:a16="http://schemas.microsoft.com/office/drawing/2014/main" id="{1BCD4695-175A-43AE-899C-B83C79CC5FA8}"/>
              </a:ext>
            </a:extLst>
          </p:cNvPr>
          <p:cNvSpPr>
            <a:spLocks xmlns:a="http://schemas.openxmlformats.org/drawingml/2006/main" noGrp="1"/>
          </p:cNvSpPr>
          <p:nvPr/>
        </p:nvSpPr>
        <p:spPr>
          <a:xfrm xmlns:a="http://schemas.openxmlformats.org/drawingml/2006/main">
            <a:off x="9277350" y="52006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Bản chụp dữ liệu bất biến, có khóa chống lặp.</a:t>
            </a:r>
          </a:p>
        </p:txBody>
      </p:sp>
    </p:spTree>
    <p:extLst>
      <p:ext uri="{BB962C8B-B14F-4D97-AF65-F5344CB8AC3E}">
        <p14:creationId xmlns:p14="http://schemas.microsoft.com/office/powerpoint/2010/main" val="10006518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FC91A91-973A-4D81-8FC5-656D07315B43}"/>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03 · HỆ THỐNG MÀN HÌNH</a:t>
            </a:r>
          </a:p>
        </p:txBody>
      </p:sp>
      <p:sp>
        <p:nvSpPr>
          <p:cNvPr id="2" name="">
            <a:extLst xmlns:a="http://schemas.openxmlformats.org/drawingml/2006/main">
              <a:ext uri="{FF2B5EF4-FFF2-40B4-BE49-F238E27FC236}">
                <a16:creationId xmlns:a16="http://schemas.microsoft.com/office/drawing/2014/main" id="{EB98FB4F-DB27-4609-9ECC-8B1C439F5335}"/>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Quản trị dữ liệu nền và quyền truy cập</a:t>
            </a:r>
          </a:p>
        </p:txBody>
      </p:sp>
      <p:sp>
        <p:nvSpPr>
          <p:cNvPr id="3" name="">
            <a:extLst xmlns:a="http://schemas.openxmlformats.org/drawingml/2006/main">
              <a:ext uri="{FF2B5EF4-FFF2-40B4-BE49-F238E27FC236}">
                <a16:creationId xmlns:a16="http://schemas.microsoft.com/office/drawing/2014/main" id="{55281937-4BD8-482C-9511-BAFC5E72DF40}"/>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149AFC8A-AAE5-4FB0-BE72-CF093FDA0522}"/>
              </a:ext>
            </a:extLst>
          </p:cNvPr>
          <p:cNvSpPr>
            <a:spLocks xmlns:a="http://schemas.openxmlformats.org/drawingml/2006/main" noGrp="1"/>
          </p:cNvSpPr>
          <p:nvPr/>
        </p:nvSpPr>
        <p:spPr>
          <a:xfrm xmlns:a="http://schemas.openxmlformats.org/drawingml/2006/main">
            <a:off x="552450" y="13335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Danh mục mặt hàng</a:t>
            </a:r>
          </a:p>
        </p:txBody>
      </p:sp>
      <p:sp>
        <p:nvSpPr>
          <p:cNvPr id="5" name="">
            <a:extLst xmlns:a="http://schemas.openxmlformats.org/drawingml/2006/main">
              <a:ext uri="{FF2B5EF4-FFF2-40B4-BE49-F238E27FC236}">
                <a16:creationId xmlns:a16="http://schemas.microsoft.com/office/drawing/2014/main" id="{5A6E624C-5357-4BA0-8BD7-2D17B27513A5}"/>
              </a:ext>
            </a:extLst>
          </p:cNvPr>
          <p:cNvSpPr>
            <a:spLocks xmlns:a="http://schemas.openxmlformats.org/drawingml/2006/main" noGrp="1"/>
          </p:cNvSpPr>
          <p:nvPr/>
        </p:nvSpPr>
        <p:spPr>
          <a:xfrm xmlns:a="http://schemas.openxmlformats.org/drawingml/2006/main">
            <a:off x="533400" y="1638300"/>
            <a:ext cx="6896100" cy="4076700"/>
          </a:xfrm>
          <a:prstGeom xmlns:a="http://schemas.openxmlformats.org/drawingml/2006/main" prst="roundRect">
            <a:avLst>
              <a:gd name="adj" fmla="val 2804"/>
            </a:avLst>
          </a:prstGeom>
          <a:solidFill xmlns:a="http://schemas.openxmlformats.org/drawingml/2006/main">
            <a:srgbClr val="FFFFFF"/>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67d10818eb94e18"/>
          <a:srcRect xmlns:a="http://schemas.openxmlformats.org/drawingml/2006/main" l="2241" t="0" r="2241" b="0"/>
          <a:stretch xmlns:a="http://schemas.openxmlformats.org/drawingml/2006/main">
            <a:fillRect l="0" t="0" r="0" b="0"/>
          </a:stretch>
        </p:blipFill>
        <p:spPr>
          <a:xfrm xmlns:a="http://schemas.openxmlformats.org/drawingml/2006/main">
            <a:off x="552450" y="1657350"/>
            <a:ext cx="6858000" cy="4038600"/>
          </a:xfrm>
          <a:prstGeom xmlns:a="http://schemas.openxmlformats.org/drawingml/2006/main" prst="roundRect">
            <a:avLst>
              <a:gd name="adj" fmla="val 2830"/>
            </a:avLst>
          </a:prstGeom>
        </p:spPr>
      </p:pic>
      <p:sp>
        <p:nvSpPr>
          <p:cNvPr id="7" name="">
            <a:extLst xmlns:a="http://schemas.openxmlformats.org/drawingml/2006/main">
              <a:ext uri="{FF2B5EF4-FFF2-40B4-BE49-F238E27FC236}">
                <a16:creationId xmlns:a16="http://schemas.microsoft.com/office/drawing/2014/main" id="{F1CF04F5-2B04-4C96-A375-3C473460C382}"/>
              </a:ext>
            </a:extLst>
          </p:cNvPr>
          <p:cNvSpPr>
            <a:spLocks xmlns:a="http://schemas.openxmlformats.org/drawingml/2006/main" noGrp="1"/>
          </p:cNvSpPr>
          <p:nvPr/>
        </p:nvSpPr>
        <p:spPr>
          <a:xfrm xmlns:a="http://schemas.openxmlformats.org/drawingml/2006/main">
            <a:off x="7696200" y="1333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Bảng giá</a:t>
            </a:r>
          </a:p>
        </p:txBody>
      </p:sp>
      <p:sp>
        <p:nvSpPr>
          <p:cNvPr id="8" name="">
            <a:extLst xmlns:a="http://schemas.openxmlformats.org/drawingml/2006/main">
              <a:ext uri="{FF2B5EF4-FFF2-40B4-BE49-F238E27FC236}">
                <a16:creationId xmlns:a16="http://schemas.microsoft.com/office/drawing/2014/main" id="{E7DCC64B-55BA-4A0C-9A2C-B8E610D6D337}"/>
              </a:ext>
            </a:extLst>
          </p:cNvPr>
          <p:cNvSpPr>
            <a:spLocks xmlns:a="http://schemas.openxmlformats.org/drawingml/2006/main" noGrp="1"/>
          </p:cNvSpPr>
          <p:nvPr/>
        </p:nvSpPr>
        <p:spPr>
          <a:xfrm xmlns:a="http://schemas.openxmlformats.org/drawingml/2006/main">
            <a:off x="7677150" y="1638300"/>
            <a:ext cx="3981450" cy="188595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bb77a458e364091"/>
          <a:srcRect xmlns:a="http://schemas.openxmlformats.org/drawingml/2006/main" l="0" t="8347" r="0" b="8347"/>
          <a:stretch xmlns:a="http://schemas.openxmlformats.org/drawingml/2006/main">
            <a:fillRect l="0" t="0" r="0" b="0"/>
          </a:stretch>
        </p:blipFill>
        <p:spPr>
          <a:xfrm xmlns:a="http://schemas.openxmlformats.org/drawingml/2006/main">
            <a:off x="7696200" y="1657350"/>
            <a:ext cx="3943350" cy="1847850"/>
          </a:xfrm>
          <a:prstGeom xmlns:a="http://schemas.openxmlformats.org/drawingml/2006/main" prst="roundRect">
            <a:avLst>
              <a:gd name="adj" fmla="val 6186"/>
            </a:avLst>
          </a:prstGeom>
        </p:spPr>
      </p:pic>
      <p:sp>
        <p:nvSpPr>
          <p:cNvPr id="10" name="">
            <a:extLst xmlns:a="http://schemas.openxmlformats.org/drawingml/2006/main">
              <a:ext uri="{FF2B5EF4-FFF2-40B4-BE49-F238E27FC236}">
                <a16:creationId xmlns:a16="http://schemas.microsoft.com/office/drawing/2014/main" id="{6438F374-FFAE-4C9F-BE01-0D3E9D57A75D}"/>
              </a:ext>
            </a:extLst>
          </p:cNvPr>
          <p:cNvSpPr>
            <a:spLocks xmlns:a="http://schemas.openxmlformats.org/drawingml/2006/main" noGrp="1"/>
          </p:cNvSpPr>
          <p:nvPr/>
        </p:nvSpPr>
        <p:spPr>
          <a:xfrm xmlns:a="http://schemas.openxmlformats.org/drawingml/2006/main">
            <a:off x="7696200" y="3714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12448"/>
                </a:solidFill>
                <a:latin typeface="Arial"/>
                <a:ea typeface="Arial"/>
                <a:cs typeface="Arial"/>
              </a:defRPr>
            </a:pPr>
            <a:r>
              <a:rPr sz="1350" b="1" i="0">
                <a:solidFill>
                  <a:srgbClr val="112448"/>
                </a:solidFill>
                <a:latin typeface="Arial"/>
                <a:ea typeface="Arial"/>
                <a:cs typeface="Arial"/>
              </a:rPr>
              <a:t>Nhóm và quyền</a:t>
            </a:r>
          </a:p>
        </p:txBody>
      </p:sp>
      <p:sp>
        <p:nvSpPr>
          <p:cNvPr id="11" name="">
            <a:extLst xmlns:a="http://schemas.openxmlformats.org/drawingml/2006/main">
              <a:ext uri="{FF2B5EF4-FFF2-40B4-BE49-F238E27FC236}">
                <a16:creationId xmlns:a16="http://schemas.microsoft.com/office/drawing/2014/main" id="{2F662575-3E8C-443E-B4D0-EE5607C62E62}"/>
              </a:ext>
            </a:extLst>
          </p:cNvPr>
          <p:cNvSpPr>
            <a:spLocks xmlns:a="http://schemas.openxmlformats.org/drawingml/2006/main" noGrp="1"/>
          </p:cNvSpPr>
          <p:nvPr/>
        </p:nvSpPr>
        <p:spPr>
          <a:xfrm xmlns:a="http://schemas.openxmlformats.org/drawingml/2006/main">
            <a:off x="7677150" y="4019550"/>
            <a:ext cx="3981450" cy="1695450"/>
          </a:xfrm>
          <a:prstGeom xmlns:a="http://schemas.openxmlformats.org/drawingml/2006/main" prst="roundRect">
            <a:avLst>
              <a:gd name="adj" fmla="val 6742"/>
            </a:avLst>
          </a:prstGeom>
          <a:solidFill xmlns:a="http://schemas.openxmlformats.org/drawingml/2006/main">
            <a:srgbClr val="FFFFFF"/>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6b80b5c3efc4b3c"/>
          <a:srcRect xmlns:a="http://schemas.openxmlformats.org/drawingml/2006/main" l="0" t="12641" r="0" b="12641"/>
          <a:stretch xmlns:a="http://schemas.openxmlformats.org/drawingml/2006/main">
            <a:fillRect l="0" t="0" r="0" b="0"/>
          </a:stretch>
        </p:blipFill>
        <p:spPr>
          <a:xfrm xmlns:a="http://schemas.openxmlformats.org/drawingml/2006/main">
            <a:off x="7696200" y="4038600"/>
            <a:ext cx="3943350" cy="1657350"/>
          </a:xfrm>
          <a:prstGeom xmlns:a="http://schemas.openxmlformats.org/drawingml/2006/main" prst="roundRect">
            <a:avLst>
              <a:gd name="adj" fmla="val 6897"/>
            </a:avLst>
          </a:prstGeom>
        </p:spPr>
      </p:pic>
      <p:sp>
        <p:nvSpPr>
          <p:cNvPr id="13" name="">
            <a:extLst xmlns:a="http://schemas.openxmlformats.org/drawingml/2006/main">
              <a:ext uri="{FF2B5EF4-FFF2-40B4-BE49-F238E27FC236}">
                <a16:creationId xmlns:a16="http://schemas.microsoft.com/office/drawing/2014/main" id="{3F4CF929-38B7-4DEA-896A-BD6AEED8668D}"/>
              </a:ext>
            </a:extLst>
          </p:cNvPr>
          <p:cNvSpPr>
            <a:spLocks xmlns:a="http://schemas.openxmlformats.org/drawingml/2006/main" noGrp="1"/>
          </p:cNvSpPr>
          <p:nvPr/>
        </p:nvSpPr>
        <p:spPr>
          <a:xfrm xmlns:a="http://schemas.openxmlformats.org/drawingml/2006/main">
            <a:off x="552450" y="5867400"/>
            <a:ext cx="11087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547 mặt hàng trong dữ liệu QA minh họa khả năng tìm kiếm, lọc, phân trang và quản lý trạng thái.</a:t>
            </a:r>
          </a:p>
        </p:txBody>
      </p:sp>
    </p:spTree>
    <p:extLst>
      <p:ext uri="{BB962C8B-B14F-4D97-AF65-F5344CB8AC3E}">
        <p14:creationId xmlns:p14="http://schemas.microsoft.com/office/powerpoint/2010/main" val="6246705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99B7C82-0DFB-45D8-88EA-75A155727A22}"/>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03 · HỆ THỐNG MÀN HÌNH</a:t>
            </a:r>
          </a:p>
        </p:txBody>
      </p:sp>
      <p:sp>
        <p:nvSpPr>
          <p:cNvPr id="2" name="">
            <a:extLst xmlns:a="http://schemas.openxmlformats.org/drawingml/2006/main">
              <a:ext uri="{FF2B5EF4-FFF2-40B4-BE49-F238E27FC236}">
                <a16:creationId xmlns:a16="http://schemas.microsoft.com/office/drawing/2014/main" id="{18B23C02-C30B-42F9-981B-5BBC3C706838}"/>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Báo cáo theo phạm vi và xuất dữ liệu</a:t>
            </a:r>
          </a:p>
        </p:txBody>
      </p:sp>
      <p:sp>
        <p:nvSpPr>
          <p:cNvPr id="3" name="">
            <a:extLst xmlns:a="http://schemas.openxmlformats.org/drawingml/2006/main">
              <a:ext uri="{FF2B5EF4-FFF2-40B4-BE49-F238E27FC236}">
                <a16:creationId xmlns:a16="http://schemas.microsoft.com/office/drawing/2014/main" id="{57C3455C-7F93-4043-A69B-B6A14EFE3AAC}"/>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5773190C-762F-4566-BF0A-8AD3B1E5788B}"/>
              </a:ext>
            </a:extLst>
          </p:cNvPr>
          <p:cNvSpPr>
            <a:spLocks xmlns:a="http://schemas.openxmlformats.org/drawingml/2006/main" noGrp="1"/>
          </p:cNvSpPr>
          <p:nvPr/>
        </p:nvSpPr>
        <p:spPr>
          <a:xfrm xmlns:a="http://schemas.openxmlformats.org/drawingml/2006/main">
            <a:off x="533400" y="1333500"/>
            <a:ext cx="11125200" cy="4400550"/>
          </a:xfrm>
          <a:prstGeom xmlns:a="http://schemas.openxmlformats.org/drawingml/2006/main" prst="roundRect">
            <a:avLst>
              <a:gd name="adj" fmla="val 2597"/>
            </a:avLst>
          </a:prstGeom>
          <a:solidFill xmlns:a="http://schemas.openxmlformats.org/drawingml/2006/main">
            <a:srgbClr val="FFFFFF"/>
          </a:solidFill>
          <a:ln xmlns:a="http://schemas.openxmlformats.org/drawingml/2006/main" w="9525">
            <a:solidFill>
              <a:srgbClr val="D7DE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98291a172ec4a2d"/>
          <a:srcRect xmlns:a="http://schemas.openxmlformats.org/drawingml/2006/main" l="0" t="15025" r="0" b="15025"/>
          <a:stretch xmlns:a="http://schemas.openxmlformats.org/drawingml/2006/main">
            <a:fillRect l="0" t="0" r="0" b="0"/>
          </a:stretch>
        </p:blipFill>
        <p:spPr>
          <a:xfrm xmlns:a="http://schemas.openxmlformats.org/drawingml/2006/main">
            <a:off x="552450" y="1352550"/>
            <a:ext cx="11087100" cy="4362450"/>
          </a:xfrm>
          <a:prstGeom xmlns:a="http://schemas.openxmlformats.org/drawingml/2006/main" prst="roundRect">
            <a:avLst>
              <a:gd name="adj" fmla="val 2620"/>
            </a:avLst>
          </a:prstGeom>
        </p:spPr>
      </p:pic>
      <p:sp>
        <p:nvSpPr>
          <p:cNvPr id="6" name="">
            <a:extLst xmlns:a="http://schemas.openxmlformats.org/drawingml/2006/main">
              <a:ext uri="{FF2B5EF4-FFF2-40B4-BE49-F238E27FC236}">
                <a16:creationId xmlns:a16="http://schemas.microsoft.com/office/drawing/2014/main" id="{6AD70106-88F0-49D5-8999-101881349605}"/>
              </a:ext>
            </a:extLst>
          </p:cNvPr>
          <p:cNvSpPr>
            <a:spLocks xmlns:a="http://schemas.openxmlformats.org/drawingml/2006/main" noGrp="1"/>
          </p:cNvSpPr>
          <p:nvPr/>
        </p:nvSpPr>
        <p:spPr>
          <a:xfrm xmlns:a="http://schemas.openxmlformats.org/drawingml/2006/main">
            <a:off x="1143000" y="5905500"/>
            <a:ext cx="2095500" cy="323850"/>
          </a:xfrm>
          <a:prstGeom xmlns:a="http://schemas.openxmlformats.org/drawingml/2006/main" prst="roundRect">
            <a:avLst>
              <a:gd name="adj" fmla="val 50000"/>
            </a:avLst>
          </a:prstGeom>
          <a:solidFill xmlns:a="http://schemas.openxmlformats.org/drawingml/2006/main">
            <a:srgbClr val="FCECEF"/>
          </a:solidFill>
          <a:ln xmlns:a="http://schemas.openxmlformats.org/drawingml/2006/main" w="9525">
            <a:solidFill>
              <a:srgbClr val="C23B45"/>
            </a:solidFill>
            <a:prstDash val="solid"/>
          </a:ln>
        </p:spPr>
      </p:sp>
      <p:sp>
        <p:nvSpPr>
          <p:cNvPr id="7" name="">
            <a:extLst xmlns:a="http://schemas.openxmlformats.org/drawingml/2006/main">
              <a:ext uri="{FF2B5EF4-FFF2-40B4-BE49-F238E27FC236}">
                <a16:creationId xmlns:a16="http://schemas.microsoft.com/office/drawing/2014/main" id="{CE80591E-E8E1-4378-BF3A-E82E81067B05}"/>
              </a:ext>
            </a:extLst>
          </p:cNvPr>
          <p:cNvSpPr>
            <a:spLocks xmlns:a="http://schemas.openxmlformats.org/drawingml/2006/main" noGrp="1"/>
          </p:cNvSpPr>
          <p:nvPr/>
        </p:nvSpPr>
        <p:spPr>
          <a:xfrm xmlns:a="http://schemas.openxmlformats.org/drawingml/2006/main">
            <a:off x="1238250" y="59626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C23B45"/>
                </a:solidFill>
                <a:latin typeface="Arial"/>
                <a:ea typeface="Arial"/>
                <a:cs typeface="Arial"/>
              </a:defRPr>
            </a:pPr>
            <a:r>
              <a:rPr sz="1125" b="1" i="0">
                <a:solidFill>
                  <a:srgbClr val="C23B45"/>
                </a:solidFill>
                <a:latin typeface="Arial"/>
                <a:ea typeface="Arial"/>
                <a:cs typeface="Arial"/>
              </a:rPr>
              <a:t>PDF · Trình bày</a:t>
            </a:r>
          </a:p>
        </p:txBody>
      </p:sp>
      <p:sp>
        <p:nvSpPr>
          <p:cNvPr id="8" name="">
            <a:extLst xmlns:a="http://schemas.openxmlformats.org/drawingml/2006/main">
              <a:ext uri="{FF2B5EF4-FFF2-40B4-BE49-F238E27FC236}">
                <a16:creationId xmlns:a16="http://schemas.microsoft.com/office/drawing/2014/main" id="{5E1EA138-10C7-4DE7-B2B9-97BDCBE8F7B9}"/>
              </a:ext>
            </a:extLst>
          </p:cNvPr>
          <p:cNvSpPr>
            <a:spLocks xmlns:a="http://schemas.openxmlformats.org/drawingml/2006/main" noGrp="1"/>
          </p:cNvSpPr>
          <p:nvPr/>
        </p:nvSpPr>
        <p:spPr>
          <a:xfrm xmlns:a="http://schemas.openxmlformats.org/drawingml/2006/main">
            <a:off x="3638550" y="5905500"/>
            <a:ext cx="2095500" cy="323850"/>
          </a:xfrm>
          <a:prstGeom xmlns:a="http://schemas.openxmlformats.org/drawingml/2006/main" prst="roundRect">
            <a:avLst>
              <a:gd name="adj" fmla="val 50000"/>
            </a:avLst>
          </a:prstGeom>
          <a:solidFill xmlns:a="http://schemas.openxmlformats.org/drawingml/2006/main">
            <a:srgbClr val="E8F7F1"/>
          </a:solidFill>
          <a:ln xmlns:a="http://schemas.openxmlformats.org/drawingml/2006/main" w="9525">
            <a:solidFill>
              <a:srgbClr val="0F8A6A"/>
            </a:solidFill>
            <a:prstDash val="solid"/>
          </a:ln>
        </p:spPr>
      </p:sp>
      <p:sp>
        <p:nvSpPr>
          <p:cNvPr id="9" name="">
            <a:extLst xmlns:a="http://schemas.openxmlformats.org/drawingml/2006/main">
              <a:ext uri="{FF2B5EF4-FFF2-40B4-BE49-F238E27FC236}">
                <a16:creationId xmlns:a16="http://schemas.microsoft.com/office/drawing/2014/main" id="{88803646-E4FD-4606-9286-42F9D040C788}"/>
              </a:ext>
            </a:extLst>
          </p:cNvPr>
          <p:cNvSpPr>
            <a:spLocks xmlns:a="http://schemas.openxmlformats.org/drawingml/2006/main" noGrp="1"/>
          </p:cNvSpPr>
          <p:nvPr/>
        </p:nvSpPr>
        <p:spPr>
          <a:xfrm xmlns:a="http://schemas.openxmlformats.org/drawingml/2006/main">
            <a:off x="3733800" y="59626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0F8A6A"/>
                </a:solidFill>
                <a:latin typeface="Arial"/>
                <a:ea typeface="Arial"/>
                <a:cs typeface="Arial"/>
              </a:defRPr>
            </a:pPr>
            <a:r>
              <a:rPr sz="1125" b="1" i="0">
                <a:solidFill>
                  <a:srgbClr val="0F8A6A"/>
                </a:solidFill>
                <a:latin typeface="Arial"/>
                <a:ea typeface="Arial"/>
                <a:cs typeface="Arial"/>
              </a:rPr>
              <a:t>XLSX · Phân tích</a:t>
            </a:r>
          </a:p>
        </p:txBody>
      </p:sp>
      <p:sp>
        <p:nvSpPr>
          <p:cNvPr id="10" name="">
            <a:extLst xmlns:a="http://schemas.openxmlformats.org/drawingml/2006/main">
              <a:ext uri="{FF2B5EF4-FFF2-40B4-BE49-F238E27FC236}">
                <a16:creationId xmlns:a16="http://schemas.microsoft.com/office/drawing/2014/main" id="{F5F4DA1D-610F-49C1-BDAF-10BD21BE3DDB}"/>
              </a:ext>
            </a:extLst>
          </p:cNvPr>
          <p:cNvSpPr>
            <a:spLocks xmlns:a="http://schemas.openxmlformats.org/drawingml/2006/main" noGrp="1"/>
          </p:cNvSpPr>
          <p:nvPr/>
        </p:nvSpPr>
        <p:spPr>
          <a:xfrm xmlns:a="http://schemas.openxmlformats.org/drawingml/2006/main">
            <a:off x="6134100" y="5905500"/>
            <a:ext cx="2286000" cy="323850"/>
          </a:xfrm>
          <a:prstGeom xmlns:a="http://schemas.openxmlformats.org/drawingml/2006/main" prst="roundRect">
            <a:avLst>
              <a:gd name="adj" fmla="val 50000"/>
            </a:avLst>
          </a:prstGeom>
          <a:solidFill xmlns:a="http://schemas.openxmlformats.org/drawingml/2006/main">
            <a:srgbClr val="EAF5FB"/>
          </a:solidFill>
          <a:ln xmlns:a="http://schemas.openxmlformats.org/drawingml/2006/main" w="9525">
            <a:solidFill>
              <a:srgbClr val="0EA5E9"/>
            </a:solidFill>
            <a:prstDash val="solid"/>
          </a:ln>
        </p:spPr>
      </p:sp>
      <p:sp>
        <p:nvSpPr>
          <p:cNvPr id="11" name="">
            <a:extLst xmlns:a="http://schemas.openxmlformats.org/drawingml/2006/main">
              <a:ext uri="{FF2B5EF4-FFF2-40B4-BE49-F238E27FC236}">
                <a16:creationId xmlns:a16="http://schemas.microsoft.com/office/drawing/2014/main" id="{267F663C-FC1D-41F8-89C4-A1ED37DFE4D3}"/>
              </a:ext>
            </a:extLst>
          </p:cNvPr>
          <p:cNvSpPr>
            <a:spLocks xmlns:a="http://schemas.openxmlformats.org/drawingml/2006/main" noGrp="1"/>
          </p:cNvSpPr>
          <p:nvPr/>
        </p:nvSpPr>
        <p:spPr>
          <a:xfrm xmlns:a="http://schemas.openxmlformats.org/drawingml/2006/main">
            <a:off x="6229350" y="5962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078CCB"/>
                </a:solidFill>
                <a:latin typeface="Arial"/>
                <a:ea typeface="Arial"/>
                <a:cs typeface="Arial"/>
              </a:defRPr>
            </a:pPr>
            <a:r>
              <a:rPr sz="1125" b="1" i="0">
                <a:solidFill>
                  <a:srgbClr val="078CCB"/>
                </a:solidFill>
                <a:latin typeface="Arial"/>
                <a:ea typeface="Arial"/>
                <a:cs typeface="Arial"/>
              </a:rPr>
              <a:t>CSV UTF-8 · Tích hợp</a:t>
            </a:r>
          </a:p>
        </p:txBody>
      </p:sp>
      <p:sp>
        <p:nvSpPr>
          <p:cNvPr id="12" name="">
            <a:extLst xmlns:a="http://schemas.openxmlformats.org/drawingml/2006/main">
              <a:ext uri="{FF2B5EF4-FFF2-40B4-BE49-F238E27FC236}">
                <a16:creationId xmlns:a16="http://schemas.microsoft.com/office/drawing/2014/main" id="{979466D4-31E9-468F-8235-B7B5399BCD5C}"/>
              </a:ext>
            </a:extLst>
          </p:cNvPr>
          <p:cNvSpPr>
            <a:spLocks xmlns:a="http://schemas.openxmlformats.org/drawingml/2006/main" noGrp="1"/>
          </p:cNvSpPr>
          <p:nvPr/>
        </p:nvSpPr>
        <p:spPr>
          <a:xfrm xmlns:a="http://schemas.openxmlformats.org/drawingml/2006/main">
            <a:off x="8648700" y="592455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38"/>
          </a:bodyPr>
          <a:lstStyle xmlns:a="http://schemas.openxmlformats.org/drawingml/2006/main"/>
          <a:p xmlns:a="http://schemas.openxmlformats.org/drawingml/2006/main">
            <a:pPr algn="ctr">
              <a:defRPr sz="1050" b="0" i="0">
                <a:solidFill>
                  <a:srgbClr val="617089"/>
                </a:solidFill>
                <a:latin typeface="Arial"/>
                <a:ea typeface="Arial"/>
                <a:cs typeface="Arial"/>
              </a:defRPr>
            </a:pPr>
            <a:r>
              <a:rPr sz="1050" b="0" i="0">
                <a:solidFill>
                  <a:srgbClr val="617089"/>
                </a:solidFill>
                <a:latin typeface="Arial"/>
                <a:ea typeface="Arial"/>
                <a:cs typeface="Arial"/>
              </a:rPr>
              <a:t>Xuất đúng phạm vi quyền · giới hạn dữ liệu · chống công thức không an toàn trong bảng tính</a:t>
            </a:r>
          </a:p>
        </p:txBody>
      </p:sp>
    </p:spTree>
    <p:extLst>
      <p:ext uri="{BB962C8B-B14F-4D97-AF65-F5344CB8AC3E}">
        <p14:creationId xmlns:p14="http://schemas.microsoft.com/office/powerpoint/2010/main" val="10072149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ACF2069-F81F-4D9F-97BE-202838D62047}"/>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04 · KIỂM CHỨNG</a:t>
            </a:r>
          </a:p>
        </p:txBody>
      </p:sp>
      <p:sp>
        <p:nvSpPr>
          <p:cNvPr id="2" name="">
            <a:extLst xmlns:a="http://schemas.openxmlformats.org/drawingml/2006/main">
              <a:ext uri="{FF2B5EF4-FFF2-40B4-BE49-F238E27FC236}">
                <a16:creationId xmlns:a16="http://schemas.microsoft.com/office/drawing/2014/main" id="{5222B276-3EFD-437D-8C70-8A03565350E7}"/>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Kiểm thử theo vai trò và luồng nghiệp vụ</a:t>
            </a:r>
          </a:p>
        </p:txBody>
      </p:sp>
      <p:sp>
        <p:nvSpPr>
          <p:cNvPr id="3" name="">
            <a:extLst xmlns:a="http://schemas.openxmlformats.org/drawingml/2006/main">
              <a:ext uri="{FF2B5EF4-FFF2-40B4-BE49-F238E27FC236}">
                <a16:creationId xmlns:a16="http://schemas.microsoft.com/office/drawing/2014/main" id="{F296E402-0FC2-49E1-9300-53C03F5D0A42}"/>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8FD241A4-DE9D-4E10-836D-FB39BBF9A0DC}"/>
              </a:ext>
            </a:extLst>
          </p:cNvPr>
          <p:cNvSpPr>
            <a:spLocks xmlns:a="http://schemas.openxmlformats.org/drawingml/2006/main" noGrp="1"/>
          </p:cNvSpPr>
          <p:nvPr/>
        </p:nvSpPr>
        <p:spPr>
          <a:xfrm xmlns:a="http://schemas.openxmlformats.org/drawingml/2006/main">
            <a:off x="552450" y="12382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617089"/>
                </a:solidFill>
                <a:latin typeface="Arial"/>
                <a:ea typeface="Arial"/>
                <a:cs typeface="Arial"/>
              </a:defRPr>
            </a:pPr>
            <a:r>
              <a:rPr sz="1350" b="0" i="0">
                <a:solidFill>
                  <a:srgbClr val="617089"/>
                </a:solidFill>
                <a:latin typeface="Arial"/>
                <a:ea typeface="Arial"/>
                <a:cs typeface="Arial"/>
              </a:rPr>
              <a:t>Luận văn tổng hợp các kịch bản đại diện từ đăng nhập đến chốt kỳ, hiệu chỉnh, báo cáo và thông báo.</a:t>
            </a:r>
          </a:p>
        </p:txBody>
      </p:sp>
      <p:sp>
        <p:nvSpPr>
          <p:cNvPr id="5" name="">
            <a:extLst xmlns:a="http://schemas.openxmlformats.org/drawingml/2006/main">
              <a:ext uri="{FF2B5EF4-FFF2-40B4-BE49-F238E27FC236}">
                <a16:creationId xmlns:a16="http://schemas.microsoft.com/office/drawing/2014/main" id="{F5ACF323-BBD6-4E15-ADF8-F9692EBE7486}"/>
              </a:ext>
            </a:extLst>
          </p:cNvPr>
          <p:cNvSpPr>
            <a:spLocks xmlns:a="http://schemas.openxmlformats.org/drawingml/2006/main" noGrp="1"/>
          </p:cNvSpPr>
          <p:nvPr/>
        </p:nvSpPr>
        <p:spPr>
          <a:xfrm xmlns:a="http://schemas.openxmlformats.org/drawingml/2006/main">
            <a:off x="552450" y="2038350"/>
            <a:ext cx="3295650" cy="1714500"/>
          </a:xfrm>
          <a:prstGeom xmlns:a="http://schemas.openxmlformats.org/drawingml/2006/main" prst="roundRect">
            <a:avLst>
              <a:gd name="adj" fmla="val 6667"/>
            </a:avLst>
          </a:prstGeom>
          <a:solidFill xmlns:a="http://schemas.openxmlformats.org/drawingml/2006/main">
            <a:srgbClr val="EAF5FB"/>
          </a:solidFill>
          <a:ln xmlns:a="http://schemas.openxmlformats.org/drawingml/2006/main" w="9525">
            <a:solidFill>
              <a:srgbClr val="61C8F3"/>
            </a:solidFill>
            <a:prstDash val="solid"/>
          </a:ln>
        </p:spPr>
      </p:sp>
      <p:sp>
        <p:nvSpPr>
          <p:cNvPr id="6" name="">
            <a:extLst xmlns:a="http://schemas.openxmlformats.org/drawingml/2006/main">
              <a:ext uri="{FF2B5EF4-FFF2-40B4-BE49-F238E27FC236}">
                <a16:creationId xmlns:a16="http://schemas.microsoft.com/office/drawing/2014/main" id="{C2F1291D-B2A8-4AAE-9EC2-9F018AB1A33C}"/>
              </a:ext>
            </a:extLst>
          </p:cNvPr>
          <p:cNvSpPr>
            <a:spLocks xmlns:a="http://schemas.openxmlformats.org/drawingml/2006/main" noGrp="1"/>
          </p:cNvSpPr>
          <p:nvPr/>
        </p:nvSpPr>
        <p:spPr>
          <a:xfrm xmlns:a="http://schemas.openxmlformats.org/drawingml/2006/main">
            <a:off x="781050" y="232410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i="0">
                <a:solidFill>
                  <a:srgbClr val="078CCB"/>
                </a:solidFill>
                <a:latin typeface="Arial"/>
                <a:ea typeface="Arial"/>
                <a:cs typeface="Arial"/>
              </a:defRPr>
            </a:pPr>
            <a:r>
              <a:rPr sz="3450" b="1" i="0">
                <a:solidFill>
                  <a:srgbClr val="078CCB"/>
                </a:solidFill>
                <a:latin typeface="Arial"/>
                <a:ea typeface="Arial"/>
                <a:cs typeface="Arial"/>
              </a:rPr>
              <a:t>19</a:t>
            </a:r>
          </a:p>
        </p:txBody>
      </p:sp>
      <p:sp>
        <p:nvSpPr>
          <p:cNvPr id="7" name="">
            <a:extLst xmlns:a="http://schemas.openxmlformats.org/drawingml/2006/main">
              <a:ext uri="{FF2B5EF4-FFF2-40B4-BE49-F238E27FC236}">
                <a16:creationId xmlns:a16="http://schemas.microsoft.com/office/drawing/2014/main" id="{816B4A28-6266-4945-8600-859D88E337A7}"/>
              </a:ext>
            </a:extLst>
          </p:cNvPr>
          <p:cNvSpPr>
            <a:spLocks xmlns:a="http://schemas.openxmlformats.org/drawingml/2006/main" noGrp="1"/>
          </p:cNvSpPr>
          <p:nvPr/>
        </p:nvSpPr>
        <p:spPr>
          <a:xfrm xmlns:a="http://schemas.openxmlformats.org/drawingml/2006/main">
            <a:off x="781050" y="3067050"/>
            <a:ext cx="2838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617089"/>
                </a:solidFill>
                <a:latin typeface="Arial"/>
                <a:ea typeface="Arial"/>
                <a:cs typeface="Arial"/>
              </a:defRPr>
            </a:pPr>
            <a:r>
              <a:rPr sz="1275" b="0" i="0">
                <a:solidFill>
                  <a:srgbClr val="617089"/>
                </a:solidFill>
                <a:latin typeface="Arial"/>
                <a:ea typeface="Arial"/>
                <a:cs typeface="Arial"/>
              </a:rPr>
              <a:t>kịch bản đại diện trong luận văn — đều Đạt</a:t>
            </a:r>
          </a:p>
        </p:txBody>
      </p:sp>
      <p:sp>
        <p:nvSpPr>
          <p:cNvPr id="8" name="">
            <a:extLst xmlns:a="http://schemas.openxmlformats.org/drawingml/2006/main">
              <a:ext uri="{FF2B5EF4-FFF2-40B4-BE49-F238E27FC236}">
                <a16:creationId xmlns:a16="http://schemas.microsoft.com/office/drawing/2014/main" id="{F7F03ABB-F8AF-4047-84BF-95ADC0B73376}"/>
              </a:ext>
            </a:extLst>
          </p:cNvPr>
          <p:cNvSpPr>
            <a:spLocks xmlns:a="http://schemas.openxmlformats.org/drawingml/2006/main" noGrp="1"/>
          </p:cNvSpPr>
          <p:nvPr/>
        </p:nvSpPr>
        <p:spPr>
          <a:xfrm xmlns:a="http://schemas.openxmlformats.org/drawingml/2006/main">
            <a:off x="4152900" y="2038350"/>
            <a:ext cx="3295650" cy="1714500"/>
          </a:xfrm>
          <a:prstGeom xmlns:a="http://schemas.openxmlformats.org/drawingml/2006/main" prst="roundRect">
            <a:avLst>
              <a:gd name="adj" fmla="val 6667"/>
            </a:avLst>
          </a:prstGeom>
          <a:solidFill xmlns:a="http://schemas.openxmlformats.org/drawingml/2006/main">
            <a:srgbClr val="F4F7FA"/>
          </a:solidFill>
          <a:ln xmlns:a="http://schemas.openxmlformats.org/drawingml/2006/main" w="9525">
            <a:solidFill>
              <a:srgbClr val="D7DEE8"/>
            </a:solidFill>
            <a:prstDash val="solid"/>
          </a:ln>
        </p:spPr>
      </p:sp>
      <p:sp>
        <p:nvSpPr>
          <p:cNvPr id="9" name="">
            <a:extLst xmlns:a="http://schemas.openxmlformats.org/drawingml/2006/main">
              <a:ext uri="{FF2B5EF4-FFF2-40B4-BE49-F238E27FC236}">
                <a16:creationId xmlns:a16="http://schemas.microsoft.com/office/drawing/2014/main" id="{70C0E2F5-0403-4A2E-B97C-7CC9CEC86B81}"/>
              </a:ext>
            </a:extLst>
          </p:cNvPr>
          <p:cNvSpPr>
            <a:spLocks xmlns:a="http://schemas.openxmlformats.org/drawingml/2006/main" noGrp="1"/>
          </p:cNvSpPr>
          <p:nvPr/>
        </p:nvSpPr>
        <p:spPr>
          <a:xfrm xmlns:a="http://schemas.openxmlformats.org/drawingml/2006/main">
            <a:off x="4381500" y="232410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i="0">
                <a:solidFill>
                  <a:srgbClr val="112448"/>
                </a:solidFill>
                <a:latin typeface="Arial"/>
                <a:ea typeface="Arial"/>
                <a:cs typeface="Arial"/>
              </a:defRPr>
            </a:pPr>
            <a:r>
              <a:rPr sz="3450" b="1" i="0">
                <a:solidFill>
                  <a:srgbClr val="112448"/>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F3405673-23B8-42B2-AB19-29E39DE57563}"/>
              </a:ext>
            </a:extLst>
          </p:cNvPr>
          <p:cNvSpPr>
            <a:spLocks xmlns:a="http://schemas.openxmlformats.org/drawingml/2006/main" noGrp="1"/>
          </p:cNvSpPr>
          <p:nvPr/>
        </p:nvSpPr>
        <p:spPr>
          <a:xfrm xmlns:a="http://schemas.openxmlformats.org/drawingml/2006/main">
            <a:off x="4381500" y="3067050"/>
            <a:ext cx="2838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617089"/>
                </a:solidFill>
                <a:latin typeface="Arial"/>
                <a:ea typeface="Arial"/>
                <a:cs typeface="Arial"/>
              </a:defRPr>
            </a:pPr>
            <a:r>
              <a:rPr sz="1275" b="0" i="0">
                <a:solidFill>
                  <a:srgbClr val="617089"/>
                </a:solidFill>
                <a:latin typeface="Arial"/>
                <a:ea typeface="Arial"/>
                <a:cs typeface="Arial"/>
              </a:rPr>
              <a:t>nhóm vai trò: Nhân viên · Quản lý · DEV</a:t>
            </a:r>
          </a:p>
        </p:txBody>
      </p:sp>
      <p:sp>
        <p:nvSpPr>
          <p:cNvPr id="11" name="">
            <a:extLst xmlns:a="http://schemas.openxmlformats.org/drawingml/2006/main">
              <a:ext uri="{FF2B5EF4-FFF2-40B4-BE49-F238E27FC236}">
                <a16:creationId xmlns:a16="http://schemas.microsoft.com/office/drawing/2014/main" id="{A57E1164-7971-438F-BDF4-C917D175C350}"/>
              </a:ext>
            </a:extLst>
          </p:cNvPr>
          <p:cNvSpPr>
            <a:spLocks xmlns:a="http://schemas.openxmlformats.org/drawingml/2006/main" noGrp="1"/>
          </p:cNvSpPr>
          <p:nvPr/>
        </p:nvSpPr>
        <p:spPr>
          <a:xfrm xmlns:a="http://schemas.openxmlformats.org/drawingml/2006/main">
            <a:off x="7753350" y="2038350"/>
            <a:ext cx="3886200" cy="1714500"/>
          </a:xfrm>
          <a:prstGeom xmlns:a="http://schemas.openxmlformats.org/drawingml/2006/main" prst="roundRect">
            <a:avLst>
              <a:gd name="adj" fmla="val 6667"/>
            </a:avLst>
          </a:prstGeom>
          <a:solidFill xmlns:a="http://schemas.openxmlformats.org/drawingml/2006/main">
            <a:srgbClr val="F4F7FA"/>
          </a:solidFill>
          <a:ln xmlns:a="http://schemas.openxmlformats.org/drawingml/2006/main" w="9525">
            <a:solidFill>
              <a:srgbClr val="D7DEE8"/>
            </a:solidFill>
            <a:prstDash val="solid"/>
          </a:ln>
        </p:spPr>
      </p:sp>
      <p:sp>
        <p:nvSpPr>
          <p:cNvPr id="12" name="">
            <a:extLst xmlns:a="http://schemas.openxmlformats.org/drawingml/2006/main">
              <a:ext uri="{FF2B5EF4-FFF2-40B4-BE49-F238E27FC236}">
                <a16:creationId xmlns:a16="http://schemas.microsoft.com/office/drawing/2014/main" id="{38507DFD-CFB4-4D99-A5D9-97D3A7EBAA75}"/>
              </a:ext>
            </a:extLst>
          </p:cNvPr>
          <p:cNvSpPr>
            <a:spLocks xmlns:a="http://schemas.openxmlformats.org/drawingml/2006/main" noGrp="1"/>
          </p:cNvSpPr>
          <p:nvPr/>
        </p:nvSpPr>
        <p:spPr>
          <a:xfrm xmlns:a="http://schemas.openxmlformats.org/drawingml/2006/main">
            <a:off x="7981950" y="2324100"/>
            <a:ext cx="342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450" b="1" i="0">
                <a:solidFill>
                  <a:srgbClr val="112448"/>
                </a:solidFill>
                <a:latin typeface="Arial"/>
                <a:ea typeface="Arial"/>
                <a:cs typeface="Arial"/>
              </a:defRPr>
            </a:pPr>
            <a:r>
              <a:rPr sz="3450" b="1" i="0">
                <a:solidFill>
                  <a:srgbClr val="112448"/>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47FAA819-2B5D-4349-9B81-7B247AE6AC1B}"/>
              </a:ext>
            </a:extLst>
          </p:cNvPr>
          <p:cNvSpPr>
            <a:spLocks xmlns:a="http://schemas.openxmlformats.org/drawingml/2006/main" noGrp="1"/>
          </p:cNvSpPr>
          <p:nvPr/>
        </p:nvSpPr>
        <p:spPr>
          <a:xfrm xmlns:a="http://schemas.openxmlformats.org/drawingml/2006/main">
            <a:off x="7981950" y="306705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617089"/>
                </a:solidFill>
                <a:latin typeface="Arial"/>
                <a:ea typeface="Arial"/>
                <a:cs typeface="Arial"/>
              </a:defRPr>
            </a:pPr>
            <a:r>
              <a:rPr sz="1275" b="0" i="0">
                <a:solidFill>
                  <a:srgbClr val="617089"/>
                </a:solidFill>
                <a:latin typeface="Arial"/>
                <a:ea typeface="Arial"/>
                <a:cs typeface="Arial"/>
              </a:rPr>
              <a:t>kích thước route thật: 390 · 768 · 1366 · 1920 px</a:t>
            </a:r>
          </a:p>
        </p:txBody>
      </p:sp>
      <p:sp>
        <p:nvSpPr>
          <p:cNvPr id="14" name="">
            <a:extLst xmlns:a="http://schemas.openxmlformats.org/drawingml/2006/main">
              <a:ext uri="{FF2B5EF4-FFF2-40B4-BE49-F238E27FC236}">
                <a16:creationId xmlns:a16="http://schemas.microsoft.com/office/drawing/2014/main" id="{EA91291A-EA6A-45F3-AF4B-958BDCCBD5B7}"/>
              </a:ext>
            </a:extLst>
          </p:cNvPr>
          <p:cNvSpPr>
            <a:spLocks xmlns:a="http://schemas.openxmlformats.org/drawingml/2006/main" noGrp="1"/>
          </p:cNvSpPr>
          <p:nvPr/>
        </p:nvSpPr>
        <p:spPr>
          <a:xfrm xmlns:a="http://schemas.openxmlformats.org/drawingml/2006/main">
            <a:off x="552450" y="4095750"/>
            <a:ext cx="11087100" cy="1562100"/>
          </a:xfrm>
          <a:prstGeom xmlns:a="http://schemas.openxmlformats.org/drawingml/2006/main" prst="roundRect">
            <a:avLst>
              <a:gd name="adj" fmla="val 7317"/>
            </a:avLst>
          </a:prstGeom>
          <a:solidFill xmlns:a="http://schemas.openxmlformats.org/drawingml/2006/main">
            <a:srgbClr val="F4F7FA"/>
          </a:solidFill>
          <a:ln xmlns:a="http://schemas.openxmlformats.org/drawingml/2006/main" w="9525">
            <a:solidFill>
              <a:srgbClr val="D7DEE8"/>
            </a:solidFill>
            <a:prstDash val="solid"/>
          </a:ln>
        </p:spPr>
      </p:sp>
      <p:sp>
        <p:nvSpPr>
          <p:cNvPr id="15" name="">
            <a:extLst xmlns:a="http://schemas.openxmlformats.org/drawingml/2006/main">
              <a:ext uri="{FF2B5EF4-FFF2-40B4-BE49-F238E27FC236}">
                <a16:creationId xmlns:a16="http://schemas.microsoft.com/office/drawing/2014/main" id="{2844AC79-7229-431F-9ACB-44D5EA8CAFE4}"/>
              </a:ext>
            </a:extLst>
          </p:cNvPr>
          <p:cNvSpPr>
            <a:spLocks xmlns:a="http://schemas.openxmlformats.org/drawingml/2006/main" noGrp="1"/>
          </p:cNvSpPr>
          <p:nvPr/>
        </p:nvSpPr>
        <p:spPr>
          <a:xfrm xmlns:a="http://schemas.openxmlformats.org/drawingml/2006/main">
            <a:off x="819150" y="436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2448"/>
                </a:solidFill>
                <a:latin typeface="Arial"/>
                <a:ea typeface="Arial"/>
                <a:cs typeface="Arial"/>
              </a:defRPr>
            </a:pPr>
            <a:r>
              <a:rPr sz="1425" b="1" i="0">
                <a:solidFill>
                  <a:srgbClr val="112448"/>
                </a:solidFill>
                <a:latin typeface="Arial"/>
                <a:ea typeface="Arial"/>
                <a:cs typeface="Arial"/>
              </a:rPr>
              <a:t>Các lớp kiểm chứng</a:t>
            </a:r>
          </a:p>
        </p:txBody>
      </p:sp>
      <p:sp>
        <p:nvSpPr>
          <p:cNvPr id="16" name="">
            <a:extLst xmlns:a="http://schemas.openxmlformats.org/drawingml/2006/main">
              <a:ext uri="{FF2B5EF4-FFF2-40B4-BE49-F238E27FC236}">
                <a16:creationId xmlns:a16="http://schemas.microsoft.com/office/drawing/2014/main" id="{D8CF5E90-1655-45A6-8FFD-0A12E2E0EEFC}"/>
              </a:ext>
            </a:extLst>
          </p:cNvPr>
          <p:cNvSpPr>
            <a:spLocks xmlns:a="http://schemas.openxmlformats.org/drawingml/2006/main" noGrp="1"/>
          </p:cNvSpPr>
          <p:nvPr/>
        </p:nvSpPr>
        <p:spPr>
          <a:xfrm xmlns:a="http://schemas.openxmlformats.org/drawingml/2006/main">
            <a:off x="819150" y="4819650"/>
            <a:ext cx="20955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1C8F3"/>
            </a:solidFill>
            <a:prstDash val="solid"/>
          </a:ln>
        </p:spPr>
      </p:sp>
      <p:sp>
        <p:nvSpPr>
          <p:cNvPr id="17" name="">
            <a:extLst xmlns:a="http://schemas.openxmlformats.org/drawingml/2006/main">
              <a:ext uri="{FF2B5EF4-FFF2-40B4-BE49-F238E27FC236}">
                <a16:creationId xmlns:a16="http://schemas.microsoft.com/office/drawing/2014/main" id="{33A4C99E-05CE-49C8-A787-88D702A74092}"/>
              </a:ext>
            </a:extLst>
          </p:cNvPr>
          <p:cNvSpPr>
            <a:spLocks xmlns:a="http://schemas.openxmlformats.org/drawingml/2006/main" noGrp="1"/>
          </p:cNvSpPr>
          <p:nvPr/>
        </p:nvSpPr>
        <p:spPr>
          <a:xfrm xmlns:a="http://schemas.openxmlformats.org/drawingml/2006/main">
            <a:off x="914400" y="48768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112448"/>
                </a:solidFill>
                <a:latin typeface="Arial"/>
                <a:ea typeface="Arial"/>
                <a:cs typeface="Arial"/>
              </a:defRPr>
            </a:pPr>
            <a:r>
              <a:rPr sz="1125" b="1" i="0">
                <a:solidFill>
                  <a:srgbClr val="112448"/>
                </a:solidFill>
                <a:latin typeface="Arial"/>
                <a:ea typeface="Arial"/>
                <a:cs typeface="Arial"/>
              </a:rPr>
              <a:t>Unit · đơn vị</a:t>
            </a:r>
          </a:p>
        </p:txBody>
      </p:sp>
      <p:sp>
        <p:nvSpPr>
          <p:cNvPr id="18" name="">
            <a:extLst xmlns:a="http://schemas.openxmlformats.org/drawingml/2006/main">
              <a:ext uri="{FF2B5EF4-FFF2-40B4-BE49-F238E27FC236}">
                <a16:creationId xmlns:a16="http://schemas.microsoft.com/office/drawing/2014/main" id="{7D378D7E-3494-455E-BCC8-06F95721A0AB}"/>
              </a:ext>
            </a:extLst>
          </p:cNvPr>
          <p:cNvSpPr>
            <a:spLocks xmlns:a="http://schemas.openxmlformats.org/drawingml/2006/main" noGrp="1"/>
          </p:cNvSpPr>
          <p:nvPr/>
        </p:nvSpPr>
        <p:spPr>
          <a:xfrm xmlns:a="http://schemas.openxmlformats.org/drawingml/2006/main">
            <a:off x="3295650" y="4819650"/>
            <a:ext cx="20955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1C8F3"/>
            </a:solidFill>
            <a:prstDash val="solid"/>
          </a:ln>
        </p:spPr>
      </p:sp>
      <p:sp>
        <p:nvSpPr>
          <p:cNvPr id="19" name="">
            <a:extLst xmlns:a="http://schemas.openxmlformats.org/drawingml/2006/main">
              <a:ext uri="{FF2B5EF4-FFF2-40B4-BE49-F238E27FC236}">
                <a16:creationId xmlns:a16="http://schemas.microsoft.com/office/drawing/2014/main" id="{24A32B0E-1ABF-4D2A-BEC9-895CC9109EB2}"/>
              </a:ext>
            </a:extLst>
          </p:cNvPr>
          <p:cNvSpPr>
            <a:spLocks xmlns:a="http://schemas.openxmlformats.org/drawingml/2006/main" noGrp="1"/>
          </p:cNvSpPr>
          <p:nvPr/>
        </p:nvSpPr>
        <p:spPr>
          <a:xfrm xmlns:a="http://schemas.openxmlformats.org/drawingml/2006/main">
            <a:off x="3390900" y="48768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112448"/>
                </a:solidFill>
                <a:latin typeface="Arial"/>
                <a:ea typeface="Arial"/>
                <a:cs typeface="Arial"/>
              </a:defRPr>
            </a:pPr>
            <a:r>
              <a:rPr sz="1125" b="1" i="0">
                <a:solidFill>
                  <a:srgbClr val="112448"/>
                </a:solidFill>
                <a:latin typeface="Arial"/>
                <a:ea typeface="Arial"/>
                <a:cs typeface="Arial"/>
              </a:rPr>
              <a:t>Architecture · kiến trúc</a:t>
            </a:r>
          </a:p>
        </p:txBody>
      </p:sp>
      <p:sp>
        <p:nvSpPr>
          <p:cNvPr id="20" name="">
            <a:extLst xmlns:a="http://schemas.openxmlformats.org/drawingml/2006/main">
              <a:ext uri="{FF2B5EF4-FFF2-40B4-BE49-F238E27FC236}">
                <a16:creationId xmlns:a16="http://schemas.microsoft.com/office/drawing/2014/main" id="{C1B17A9C-C315-421E-9143-1F29C0BA86E1}"/>
              </a:ext>
            </a:extLst>
          </p:cNvPr>
          <p:cNvSpPr>
            <a:spLocks xmlns:a="http://schemas.openxmlformats.org/drawingml/2006/main" noGrp="1"/>
          </p:cNvSpPr>
          <p:nvPr/>
        </p:nvSpPr>
        <p:spPr>
          <a:xfrm xmlns:a="http://schemas.openxmlformats.org/drawingml/2006/main">
            <a:off x="5772150" y="4819650"/>
            <a:ext cx="20955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1C8F3"/>
            </a:solidFill>
            <a:prstDash val="solid"/>
          </a:ln>
        </p:spPr>
      </p:sp>
      <p:sp>
        <p:nvSpPr>
          <p:cNvPr id="21" name="">
            <a:extLst xmlns:a="http://schemas.openxmlformats.org/drawingml/2006/main">
              <a:ext uri="{FF2B5EF4-FFF2-40B4-BE49-F238E27FC236}">
                <a16:creationId xmlns:a16="http://schemas.microsoft.com/office/drawing/2014/main" id="{49D48640-9D79-41EB-A65F-13FEFF59AD4D}"/>
              </a:ext>
            </a:extLst>
          </p:cNvPr>
          <p:cNvSpPr>
            <a:spLocks xmlns:a="http://schemas.openxmlformats.org/drawingml/2006/main" noGrp="1"/>
          </p:cNvSpPr>
          <p:nvPr/>
        </p:nvSpPr>
        <p:spPr>
          <a:xfrm xmlns:a="http://schemas.openxmlformats.org/drawingml/2006/main">
            <a:off x="5867400" y="48768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112448"/>
                </a:solidFill>
                <a:latin typeface="Arial"/>
                <a:ea typeface="Arial"/>
                <a:cs typeface="Arial"/>
              </a:defRPr>
            </a:pPr>
            <a:r>
              <a:rPr sz="1125" b="1" i="0">
                <a:solidFill>
                  <a:srgbClr val="112448"/>
                </a:solidFill>
                <a:latin typeface="Arial"/>
                <a:ea typeface="Arial"/>
                <a:cs typeface="Arial"/>
              </a:rPr>
              <a:t>Integration · tích hợp</a:t>
            </a:r>
          </a:p>
        </p:txBody>
      </p:sp>
      <p:sp>
        <p:nvSpPr>
          <p:cNvPr id="22" name="">
            <a:extLst xmlns:a="http://schemas.openxmlformats.org/drawingml/2006/main">
              <a:ext uri="{FF2B5EF4-FFF2-40B4-BE49-F238E27FC236}">
                <a16:creationId xmlns:a16="http://schemas.microsoft.com/office/drawing/2014/main" id="{A6836851-0CD6-427C-88E4-081CA7264EF3}"/>
              </a:ext>
            </a:extLst>
          </p:cNvPr>
          <p:cNvSpPr>
            <a:spLocks xmlns:a="http://schemas.openxmlformats.org/drawingml/2006/main" noGrp="1"/>
          </p:cNvSpPr>
          <p:nvPr/>
        </p:nvSpPr>
        <p:spPr>
          <a:xfrm xmlns:a="http://schemas.openxmlformats.org/drawingml/2006/main">
            <a:off x="8248650" y="4819650"/>
            <a:ext cx="20955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61C8F3"/>
            </a:solidFill>
            <a:prstDash val="solid"/>
          </a:ln>
        </p:spPr>
      </p:sp>
      <p:sp>
        <p:nvSpPr>
          <p:cNvPr id="23" name="">
            <a:extLst xmlns:a="http://schemas.openxmlformats.org/drawingml/2006/main">
              <a:ext uri="{FF2B5EF4-FFF2-40B4-BE49-F238E27FC236}">
                <a16:creationId xmlns:a16="http://schemas.microsoft.com/office/drawing/2014/main" id="{03634C54-0D3B-4246-BDD6-236D561AA2AA}"/>
              </a:ext>
            </a:extLst>
          </p:cNvPr>
          <p:cNvSpPr>
            <a:spLocks xmlns:a="http://schemas.openxmlformats.org/drawingml/2006/main" noGrp="1"/>
          </p:cNvSpPr>
          <p:nvPr/>
        </p:nvSpPr>
        <p:spPr>
          <a:xfrm xmlns:a="http://schemas.openxmlformats.org/drawingml/2006/main">
            <a:off x="8343900" y="48768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i="0">
                <a:solidFill>
                  <a:srgbClr val="112448"/>
                </a:solidFill>
                <a:latin typeface="Arial"/>
                <a:ea typeface="Arial"/>
                <a:cs typeface="Arial"/>
              </a:defRPr>
            </a:pPr>
            <a:r>
              <a:rPr sz="1125" b="1" i="0">
                <a:solidFill>
                  <a:srgbClr val="112448"/>
                </a:solidFill>
                <a:latin typeface="Arial"/>
                <a:ea typeface="Arial"/>
                <a:cs typeface="Arial"/>
              </a:rPr>
              <a:t>Playwright · trình duyệt</a:t>
            </a:r>
          </a:p>
        </p:txBody>
      </p:sp>
      <p:sp>
        <p:nvSpPr>
          <p:cNvPr id="24" name="">
            <a:extLst xmlns:a="http://schemas.openxmlformats.org/drawingml/2006/main">
              <a:ext uri="{FF2B5EF4-FFF2-40B4-BE49-F238E27FC236}">
                <a16:creationId xmlns:a16="http://schemas.microsoft.com/office/drawing/2014/main" id="{34CDDDB4-A53D-4080-805B-F55ABF63ECA5}"/>
              </a:ext>
            </a:extLst>
          </p:cNvPr>
          <p:cNvSpPr>
            <a:spLocks xmlns:a="http://schemas.openxmlformats.org/drawingml/2006/main" noGrp="1"/>
          </p:cNvSpPr>
          <p:nvPr/>
        </p:nvSpPr>
        <p:spPr>
          <a:xfrm xmlns:a="http://schemas.openxmlformats.org/drawingml/2006/main">
            <a:off x="819150" y="5314950"/>
            <a:ext cx="228600" cy="2286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25" name="">
            <a:extLst xmlns:a="http://schemas.openxmlformats.org/drawingml/2006/main">
              <a:ext uri="{FF2B5EF4-FFF2-40B4-BE49-F238E27FC236}">
                <a16:creationId xmlns:a16="http://schemas.microsoft.com/office/drawing/2014/main" id="{AC35AB44-C9AD-4A35-9312-EBC6AD0DA677}"/>
              </a:ext>
            </a:extLst>
          </p:cNvPr>
          <p:cNvSpPr>
            <a:spLocks xmlns:a="http://schemas.openxmlformats.org/drawingml/2006/main" noGrp="1"/>
          </p:cNvSpPr>
          <p:nvPr/>
        </p:nvSpPr>
        <p:spPr>
          <a:xfrm xmlns:a="http://schemas.openxmlformats.org/drawingml/2006/main">
            <a:off x="819150" y="53244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B680C4ED-8D92-48E5-A5D3-2C7FCE4AE51A}"/>
              </a:ext>
            </a:extLst>
          </p:cNvPr>
          <p:cNvSpPr>
            <a:spLocks xmlns:a="http://schemas.openxmlformats.org/drawingml/2006/main" noGrp="1"/>
          </p:cNvSpPr>
          <p:nvPr/>
        </p:nvSpPr>
        <p:spPr>
          <a:xfrm xmlns:a="http://schemas.openxmlformats.org/drawingml/2006/main">
            <a:off x="1181100" y="5334000"/>
            <a:ext cx="971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i="0">
                <a:solidFill>
                  <a:srgbClr val="172033"/>
                </a:solidFill>
                <a:latin typeface="Arial"/>
                <a:ea typeface="Arial"/>
                <a:cs typeface="Arial"/>
              </a:defRPr>
            </a:pPr>
            <a:r>
              <a:rPr sz="1200" b="0" i="0">
                <a:solidFill>
                  <a:srgbClr val="172033"/>
                </a:solidFill>
                <a:latin typeface="Arial"/>
                <a:ea typeface="Arial"/>
                <a:cs typeface="Arial"/>
              </a:rPr>
              <a:t>Lượt chụp màn hình cho deck: ShellResponsiveTests đạt 1/1, dữ liệu cô lập, không có lỗi hồi quy.</a:t>
            </a:r>
          </a:p>
        </p:txBody>
      </p:sp>
    </p:spTree>
    <p:extLst>
      <p:ext uri="{BB962C8B-B14F-4D97-AF65-F5344CB8AC3E}">
        <p14:creationId xmlns:p14="http://schemas.microsoft.com/office/powerpoint/2010/main" val="16897558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1179AE6-8E54-4C59-B94F-135F1B29A760}"/>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05 · KẾT LUẬN</a:t>
            </a:r>
          </a:p>
        </p:txBody>
      </p:sp>
      <p:sp>
        <p:nvSpPr>
          <p:cNvPr id="2" name="">
            <a:extLst xmlns:a="http://schemas.openxmlformats.org/drawingml/2006/main">
              <a:ext uri="{FF2B5EF4-FFF2-40B4-BE49-F238E27FC236}">
                <a16:creationId xmlns:a16="http://schemas.microsoft.com/office/drawing/2014/main" id="{068C85D8-418D-4BBF-80D1-062469DDBC69}"/>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Kết quả đạt được</a:t>
            </a:r>
          </a:p>
        </p:txBody>
      </p:sp>
      <p:sp>
        <p:nvSpPr>
          <p:cNvPr id="3" name="">
            <a:extLst xmlns:a="http://schemas.openxmlformats.org/drawingml/2006/main">
              <a:ext uri="{FF2B5EF4-FFF2-40B4-BE49-F238E27FC236}">
                <a16:creationId xmlns:a16="http://schemas.microsoft.com/office/drawing/2014/main" id="{52D31416-9651-40CA-B7C3-5832D4A01A18}"/>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8A2DE69E-A147-4A87-A329-908EC6182FE5}"/>
              </a:ext>
            </a:extLst>
          </p:cNvPr>
          <p:cNvSpPr>
            <a:spLocks xmlns:a="http://schemas.openxmlformats.org/drawingml/2006/main" noGrp="1"/>
          </p:cNvSpPr>
          <p:nvPr/>
        </p:nvSpPr>
        <p:spPr>
          <a:xfrm xmlns:a="http://schemas.openxmlformats.org/drawingml/2006/main">
            <a:off x="552450" y="12573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617089"/>
                </a:solidFill>
                <a:latin typeface="Arial"/>
                <a:ea typeface="Arial"/>
                <a:cs typeface="Arial"/>
              </a:defRPr>
            </a:pPr>
            <a:r>
              <a:rPr sz="1500" b="0" i="0">
                <a:solidFill>
                  <a:srgbClr val="617089"/>
                </a:solidFill>
                <a:latin typeface="Arial"/>
                <a:ea typeface="Arial"/>
                <a:cs typeface="Arial"/>
              </a:rPr>
              <a:t>GTAS VPP đã hình thành một quy trình khép kín từ yêu cầu đến báo cáo, đồng thời giữ được dữ liệu lịch sử và quyền truy cập.</a:t>
            </a:r>
          </a:p>
        </p:txBody>
      </p:sp>
      <p:sp>
        <p:nvSpPr>
          <p:cNvPr id="5" name="">
            <a:extLst xmlns:a="http://schemas.openxmlformats.org/drawingml/2006/main">
              <a:ext uri="{FF2B5EF4-FFF2-40B4-BE49-F238E27FC236}">
                <a16:creationId xmlns:a16="http://schemas.microsoft.com/office/drawing/2014/main" id="{F0E288CA-A135-4770-8022-73C25D83607D}"/>
              </a:ext>
            </a:extLst>
          </p:cNvPr>
          <p:cNvSpPr>
            <a:spLocks xmlns:a="http://schemas.openxmlformats.org/drawingml/2006/main" noGrp="1"/>
          </p:cNvSpPr>
          <p:nvPr/>
        </p:nvSpPr>
        <p:spPr>
          <a:xfrm xmlns:a="http://schemas.openxmlformats.org/drawingml/2006/main">
            <a:off x="609600" y="2133600"/>
            <a:ext cx="266700" cy="2667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6" name="">
            <a:extLst xmlns:a="http://schemas.openxmlformats.org/drawingml/2006/main">
              <a:ext uri="{FF2B5EF4-FFF2-40B4-BE49-F238E27FC236}">
                <a16:creationId xmlns:a16="http://schemas.microsoft.com/office/drawing/2014/main" id="{11C3DB4B-F45B-4ABF-A9A2-2EC34B2680A4}"/>
              </a:ext>
            </a:extLst>
          </p:cNvPr>
          <p:cNvSpPr>
            <a:spLocks xmlns:a="http://schemas.openxmlformats.org/drawingml/2006/main" noGrp="1"/>
          </p:cNvSpPr>
          <p:nvPr/>
        </p:nvSpPr>
        <p:spPr>
          <a:xfrm xmlns:a="http://schemas.openxmlformats.org/drawingml/2006/main">
            <a:off x="609600" y="21431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F799635C-905A-4EA8-9675-1216F508CDA6}"/>
              </a:ext>
            </a:extLst>
          </p:cNvPr>
          <p:cNvSpPr>
            <a:spLocks xmlns:a="http://schemas.openxmlformats.org/drawingml/2006/main" noGrp="1"/>
          </p:cNvSpPr>
          <p:nvPr/>
        </p:nvSpPr>
        <p:spPr>
          <a:xfrm xmlns:a="http://schemas.openxmlformats.org/drawingml/2006/main">
            <a:off x="10287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2448"/>
                </a:solidFill>
                <a:latin typeface="Arial"/>
                <a:ea typeface="Arial"/>
                <a:cs typeface="Arial"/>
              </a:defRPr>
            </a:pPr>
            <a:r>
              <a:rPr sz="1425" b="1" i="0">
                <a:solidFill>
                  <a:srgbClr val="112448"/>
                </a:solidFill>
                <a:latin typeface="Arial"/>
                <a:ea typeface="Arial"/>
                <a:cs typeface="Arial"/>
              </a:rPr>
              <a:t>Quy trình tập trung</a:t>
            </a:r>
          </a:p>
        </p:txBody>
      </p:sp>
      <p:sp>
        <p:nvSpPr>
          <p:cNvPr id="8" name="">
            <a:extLst xmlns:a="http://schemas.openxmlformats.org/drawingml/2006/main">
              <a:ext uri="{FF2B5EF4-FFF2-40B4-BE49-F238E27FC236}">
                <a16:creationId xmlns:a16="http://schemas.microsoft.com/office/drawing/2014/main" id="{E95B4F34-2C94-4F80-A78A-CD6477F422F6}"/>
              </a:ext>
            </a:extLst>
          </p:cNvPr>
          <p:cNvSpPr>
            <a:spLocks xmlns:a="http://schemas.openxmlformats.org/drawingml/2006/main" noGrp="1"/>
          </p:cNvSpPr>
          <p:nvPr/>
        </p:nvSpPr>
        <p:spPr>
          <a:xfrm xmlns:a="http://schemas.openxmlformats.org/drawingml/2006/main">
            <a:off x="1028700" y="24955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Một nơi cho đơn thường, đơn bổ sung, lịch sử và vận hành kỳ.</a:t>
            </a:r>
          </a:p>
        </p:txBody>
      </p:sp>
      <p:sp>
        <p:nvSpPr>
          <p:cNvPr id="9" name="">
            <a:extLst xmlns:a="http://schemas.openxmlformats.org/drawingml/2006/main">
              <a:ext uri="{FF2B5EF4-FFF2-40B4-BE49-F238E27FC236}">
                <a16:creationId xmlns:a16="http://schemas.microsoft.com/office/drawing/2014/main" id="{34BB94FC-998E-406E-A0CB-E805332B086E}"/>
              </a:ext>
            </a:extLst>
          </p:cNvPr>
          <p:cNvSpPr>
            <a:spLocks xmlns:a="http://schemas.openxmlformats.org/drawingml/2006/main" noGrp="1"/>
          </p:cNvSpPr>
          <p:nvPr/>
        </p:nvSpPr>
        <p:spPr>
          <a:xfrm xmlns:a="http://schemas.openxmlformats.org/drawingml/2006/main">
            <a:off x="4305300" y="2133600"/>
            <a:ext cx="266700" cy="2667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10" name="">
            <a:extLst xmlns:a="http://schemas.openxmlformats.org/drawingml/2006/main">
              <a:ext uri="{FF2B5EF4-FFF2-40B4-BE49-F238E27FC236}">
                <a16:creationId xmlns:a16="http://schemas.microsoft.com/office/drawing/2014/main" id="{CA73C5FD-FE81-4526-A70E-7E74D0E6DB90}"/>
              </a:ext>
            </a:extLst>
          </p:cNvPr>
          <p:cNvSpPr>
            <a:spLocks xmlns:a="http://schemas.openxmlformats.org/drawingml/2006/main" noGrp="1"/>
          </p:cNvSpPr>
          <p:nvPr/>
        </p:nvSpPr>
        <p:spPr>
          <a:xfrm xmlns:a="http://schemas.openxmlformats.org/drawingml/2006/main">
            <a:off x="4305300" y="21431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B6270C8-DFDE-4D87-818F-451D581B2580}"/>
              </a:ext>
            </a:extLst>
          </p:cNvPr>
          <p:cNvSpPr>
            <a:spLocks xmlns:a="http://schemas.openxmlformats.org/drawingml/2006/main" noGrp="1"/>
          </p:cNvSpPr>
          <p:nvPr/>
        </p:nvSpPr>
        <p:spPr>
          <a:xfrm xmlns:a="http://schemas.openxmlformats.org/drawingml/2006/main">
            <a:off x="47244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2448"/>
                </a:solidFill>
                <a:latin typeface="Arial"/>
                <a:ea typeface="Arial"/>
                <a:cs typeface="Arial"/>
              </a:defRPr>
            </a:pPr>
            <a:r>
              <a:rPr sz="1425" b="1" i="0">
                <a:solidFill>
                  <a:srgbClr val="112448"/>
                </a:solidFill>
                <a:latin typeface="Arial"/>
                <a:ea typeface="Arial"/>
                <a:cs typeface="Arial"/>
              </a:rPr>
              <a:t>Dữ liệu có kiểm soát</a:t>
            </a:r>
          </a:p>
        </p:txBody>
      </p:sp>
      <p:sp>
        <p:nvSpPr>
          <p:cNvPr id="12" name="">
            <a:extLst xmlns:a="http://schemas.openxmlformats.org/drawingml/2006/main">
              <a:ext uri="{FF2B5EF4-FFF2-40B4-BE49-F238E27FC236}">
                <a16:creationId xmlns:a16="http://schemas.microsoft.com/office/drawing/2014/main" id="{1E63EF59-396C-4A0E-A104-214ED40F27C7}"/>
              </a:ext>
            </a:extLst>
          </p:cNvPr>
          <p:cNvSpPr>
            <a:spLocks xmlns:a="http://schemas.openxmlformats.org/drawingml/2006/main" noGrp="1"/>
          </p:cNvSpPr>
          <p:nvPr/>
        </p:nvSpPr>
        <p:spPr>
          <a:xfrm xmlns:a="http://schemas.openxmlformats.org/drawingml/2006/main">
            <a:off x="4724400" y="24955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Danh mục, giá, phiên bản, ràng buộc và nhật ký truy vết.</a:t>
            </a:r>
          </a:p>
        </p:txBody>
      </p:sp>
      <p:sp>
        <p:nvSpPr>
          <p:cNvPr id="13" name="">
            <a:extLst xmlns:a="http://schemas.openxmlformats.org/drawingml/2006/main">
              <a:ext uri="{FF2B5EF4-FFF2-40B4-BE49-F238E27FC236}">
                <a16:creationId xmlns:a16="http://schemas.microsoft.com/office/drawing/2014/main" id="{AFF43D57-984C-462D-8C94-9B7DF1D8149E}"/>
              </a:ext>
            </a:extLst>
          </p:cNvPr>
          <p:cNvSpPr>
            <a:spLocks xmlns:a="http://schemas.openxmlformats.org/drawingml/2006/main" noGrp="1"/>
          </p:cNvSpPr>
          <p:nvPr/>
        </p:nvSpPr>
        <p:spPr>
          <a:xfrm xmlns:a="http://schemas.openxmlformats.org/drawingml/2006/main">
            <a:off x="8001000" y="2133600"/>
            <a:ext cx="266700" cy="2667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14" name="">
            <a:extLst xmlns:a="http://schemas.openxmlformats.org/drawingml/2006/main">
              <a:ext uri="{FF2B5EF4-FFF2-40B4-BE49-F238E27FC236}">
                <a16:creationId xmlns:a16="http://schemas.microsoft.com/office/drawing/2014/main" id="{92243423-85A5-4400-BEE7-B82488D49A6B}"/>
              </a:ext>
            </a:extLst>
          </p:cNvPr>
          <p:cNvSpPr>
            <a:spLocks xmlns:a="http://schemas.openxmlformats.org/drawingml/2006/main" noGrp="1"/>
          </p:cNvSpPr>
          <p:nvPr/>
        </p:nvSpPr>
        <p:spPr>
          <a:xfrm xmlns:a="http://schemas.openxmlformats.org/drawingml/2006/main">
            <a:off x="8001000" y="21431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DCC6BAAB-7F95-4639-A6FF-ECECCCBEEE57}"/>
              </a:ext>
            </a:extLst>
          </p:cNvPr>
          <p:cNvSpPr>
            <a:spLocks xmlns:a="http://schemas.openxmlformats.org/drawingml/2006/main" noGrp="1"/>
          </p:cNvSpPr>
          <p:nvPr/>
        </p:nvSpPr>
        <p:spPr>
          <a:xfrm xmlns:a="http://schemas.openxmlformats.org/drawingml/2006/main">
            <a:off x="84201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2448"/>
                </a:solidFill>
                <a:latin typeface="Arial"/>
                <a:ea typeface="Arial"/>
                <a:cs typeface="Arial"/>
              </a:defRPr>
            </a:pPr>
            <a:r>
              <a:rPr sz="1425" b="1" i="0">
                <a:solidFill>
                  <a:srgbClr val="112448"/>
                </a:solidFill>
                <a:latin typeface="Arial"/>
                <a:ea typeface="Arial"/>
                <a:cs typeface="Arial"/>
              </a:rPr>
              <a:t>Phân quyền rõ ràng</a:t>
            </a:r>
          </a:p>
        </p:txBody>
      </p:sp>
      <p:sp>
        <p:nvSpPr>
          <p:cNvPr id="16" name="">
            <a:extLst xmlns:a="http://schemas.openxmlformats.org/drawingml/2006/main">
              <a:ext uri="{FF2B5EF4-FFF2-40B4-BE49-F238E27FC236}">
                <a16:creationId xmlns:a16="http://schemas.microsoft.com/office/drawing/2014/main" id="{4D218BD6-5A99-49C6-B2E5-FDA4B5786425}"/>
              </a:ext>
            </a:extLst>
          </p:cNvPr>
          <p:cNvSpPr>
            <a:spLocks xmlns:a="http://schemas.openxmlformats.org/drawingml/2006/main" noGrp="1"/>
          </p:cNvSpPr>
          <p:nvPr/>
        </p:nvSpPr>
        <p:spPr>
          <a:xfrm xmlns:a="http://schemas.openxmlformats.org/drawingml/2006/main">
            <a:off x="8420100" y="24955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Ba vai trò chuẩn, chính sách quyền theo chức năng và phạm vi tổ chức.</a:t>
            </a:r>
          </a:p>
        </p:txBody>
      </p:sp>
      <p:sp>
        <p:nvSpPr>
          <p:cNvPr id="17" name="">
            <a:extLst xmlns:a="http://schemas.openxmlformats.org/drawingml/2006/main">
              <a:ext uri="{FF2B5EF4-FFF2-40B4-BE49-F238E27FC236}">
                <a16:creationId xmlns:a16="http://schemas.microsoft.com/office/drawing/2014/main" id="{30423F71-68D5-47F5-A20F-AA30D7EA476F}"/>
              </a:ext>
            </a:extLst>
          </p:cNvPr>
          <p:cNvSpPr>
            <a:spLocks xmlns:a="http://schemas.openxmlformats.org/drawingml/2006/main" noGrp="1"/>
          </p:cNvSpPr>
          <p:nvPr/>
        </p:nvSpPr>
        <p:spPr>
          <a:xfrm xmlns:a="http://schemas.openxmlformats.org/drawingml/2006/main">
            <a:off x="609600" y="3924300"/>
            <a:ext cx="266700" cy="2667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18" name="">
            <a:extLst xmlns:a="http://schemas.openxmlformats.org/drawingml/2006/main">
              <a:ext uri="{FF2B5EF4-FFF2-40B4-BE49-F238E27FC236}">
                <a16:creationId xmlns:a16="http://schemas.microsoft.com/office/drawing/2014/main" id="{90922026-6041-4CB8-BD6B-185BE705FD51}"/>
              </a:ext>
            </a:extLst>
          </p:cNvPr>
          <p:cNvSpPr>
            <a:spLocks xmlns:a="http://schemas.openxmlformats.org/drawingml/2006/main" noGrp="1"/>
          </p:cNvSpPr>
          <p:nvPr/>
        </p:nvSpPr>
        <p:spPr>
          <a:xfrm xmlns:a="http://schemas.openxmlformats.org/drawingml/2006/main">
            <a:off x="609600" y="3933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C8F88067-B311-4A1B-BC92-2B52F8CD1785}"/>
              </a:ext>
            </a:extLst>
          </p:cNvPr>
          <p:cNvSpPr>
            <a:spLocks xmlns:a="http://schemas.openxmlformats.org/drawingml/2006/main" noGrp="1"/>
          </p:cNvSpPr>
          <p:nvPr/>
        </p:nvSpPr>
        <p:spPr>
          <a:xfrm xmlns:a="http://schemas.openxmlformats.org/drawingml/2006/main">
            <a:off x="1028700" y="3886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2448"/>
                </a:solidFill>
                <a:latin typeface="Arial"/>
                <a:ea typeface="Arial"/>
                <a:cs typeface="Arial"/>
              </a:defRPr>
            </a:pPr>
            <a:r>
              <a:rPr sz="1425" b="1" i="0">
                <a:solidFill>
                  <a:srgbClr val="112448"/>
                </a:solidFill>
                <a:latin typeface="Arial"/>
                <a:ea typeface="Arial"/>
                <a:cs typeface="Arial"/>
              </a:rPr>
              <a:t>Chốt kỳ đáng tin cậy</a:t>
            </a:r>
          </a:p>
        </p:txBody>
      </p:sp>
      <p:sp>
        <p:nvSpPr>
          <p:cNvPr id="20" name="">
            <a:extLst xmlns:a="http://schemas.openxmlformats.org/drawingml/2006/main">
              <a:ext uri="{FF2B5EF4-FFF2-40B4-BE49-F238E27FC236}">
                <a16:creationId xmlns:a16="http://schemas.microsoft.com/office/drawing/2014/main" id="{F2B65E24-D5E6-4EFA-8BDA-7142ACBF87D5}"/>
              </a:ext>
            </a:extLst>
          </p:cNvPr>
          <p:cNvSpPr>
            <a:spLocks xmlns:a="http://schemas.openxmlformats.org/drawingml/2006/main" noGrp="1"/>
          </p:cNvSpPr>
          <p:nvPr/>
        </p:nvSpPr>
        <p:spPr>
          <a:xfrm xmlns:a="http://schemas.openxmlformats.org/drawingml/2006/main">
            <a:off x="1028700" y="42862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Xem trước, điều kiện chặn, chống lặp và snapshot bất biến.</a:t>
            </a:r>
          </a:p>
        </p:txBody>
      </p:sp>
      <p:sp>
        <p:nvSpPr>
          <p:cNvPr id="21" name="">
            <a:extLst xmlns:a="http://schemas.openxmlformats.org/drawingml/2006/main">
              <a:ext uri="{FF2B5EF4-FFF2-40B4-BE49-F238E27FC236}">
                <a16:creationId xmlns:a16="http://schemas.microsoft.com/office/drawing/2014/main" id="{F39D4BE3-4302-40E2-A419-6E8744DB8769}"/>
              </a:ext>
            </a:extLst>
          </p:cNvPr>
          <p:cNvSpPr>
            <a:spLocks xmlns:a="http://schemas.openxmlformats.org/drawingml/2006/main" noGrp="1"/>
          </p:cNvSpPr>
          <p:nvPr/>
        </p:nvSpPr>
        <p:spPr>
          <a:xfrm xmlns:a="http://schemas.openxmlformats.org/drawingml/2006/main">
            <a:off x="4305300" y="3924300"/>
            <a:ext cx="266700" cy="2667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22" name="">
            <a:extLst xmlns:a="http://schemas.openxmlformats.org/drawingml/2006/main">
              <a:ext uri="{FF2B5EF4-FFF2-40B4-BE49-F238E27FC236}">
                <a16:creationId xmlns:a16="http://schemas.microsoft.com/office/drawing/2014/main" id="{B576BD56-A229-4878-B15B-A310C01284D9}"/>
              </a:ext>
            </a:extLst>
          </p:cNvPr>
          <p:cNvSpPr>
            <a:spLocks xmlns:a="http://schemas.openxmlformats.org/drawingml/2006/main" noGrp="1"/>
          </p:cNvSpPr>
          <p:nvPr/>
        </p:nvSpPr>
        <p:spPr>
          <a:xfrm xmlns:a="http://schemas.openxmlformats.org/drawingml/2006/main">
            <a:off x="4305300" y="3933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1DA42119-CD8F-4913-B4EF-03E60F653DA2}"/>
              </a:ext>
            </a:extLst>
          </p:cNvPr>
          <p:cNvSpPr>
            <a:spLocks xmlns:a="http://schemas.openxmlformats.org/drawingml/2006/main" noGrp="1"/>
          </p:cNvSpPr>
          <p:nvPr/>
        </p:nvSpPr>
        <p:spPr>
          <a:xfrm xmlns:a="http://schemas.openxmlformats.org/drawingml/2006/main">
            <a:off x="4724400" y="3886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2448"/>
                </a:solidFill>
                <a:latin typeface="Arial"/>
                <a:ea typeface="Arial"/>
                <a:cs typeface="Arial"/>
              </a:defRPr>
            </a:pPr>
            <a:r>
              <a:rPr sz="1425" b="1" i="0">
                <a:solidFill>
                  <a:srgbClr val="112448"/>
                </a:solidFill>
                <a:latin typeface="Arial"/>
                <a:ea typeface="Arial"/>
                <a:cs typeface="Arial"/>
              </a:rPr>
              <a:t>Báo cáo sử dụng được</a:t>
            </a:r>
          </a:p>
        </p:txBody>
      </p:sp>
      <p:sp>
        <p:nvSpPr>
          <p:cNvPr id="24" name="">
            <a:extLst xmlns:a="http://schemas.openxmlformats.org/drawingml/2006/main">
              <a:ext uri="{FF2B5EF4-FFF2-40B4-BE49-F238E27FC236}">
                <a16:creationId xmlns:a16="http://schemas.microsoft.com/office/drawing/2014/main" id="{C95E8A51-1AB4-4D08-A9A5-CC0769EC26D2}"/>
              </a:ext>
            </a:extLst>
          </p:cNvPr>
          <p:cNvSpPr>
            <a:spLocks xmlns:a="http://schemas.openxmlformats.org/drawingml/2006/main" noGrp="1"/>
          </p:cNvSpPr>
          <p:nvPr/>
        </p:nvSpPr>
        <p:spPr>
          <a:xfrm xmlns:a="http://schemas.openxmlformats.org/drawingml/2006/main">
            <a:off x="4724400" y="42862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KPI, lọc phạm vi và xuất PDF/XLSX/CSV.</a:t>
            </a:r>
          </a:p>
        </p:txBody>
      </p:sp>
      <p:sp>
        <p:nvSpPr>
          <p:cNvPr id="25" name="">
            <a:extLst xmlns:a="http://schemas.openxmlformats.org/drawingml/2006/main">
              <a:ext uri="{FF2B5EF4-FFF2-40B4-BE49-F238E27FC236}">
                <a16:creationId xmlns:a16="http://schemas.microsoft.com/office/drawing/2014/main" id="{BDE0AA07-3182-4B72-825D-F3D76D56951C}"/>
              </a:ext>
            </a:extLst>
          </p:cNvPr>
          <p:cNvSpPr>
            <a:spLocks xmlns:a="http://schemas.openxmlformats.org/drawingml/2006/main" noGrp="1"/>
          </p:cNvSpPr>
          <p:nvPr/>
        </p:nvSpPr>
        <p:spPr>
          <a:xfrm xmlns:a="http://schemas.openxmlformats.org/drawingml/2006/main">
            <a:off x="8001000" y="3924300"/>
            <a:ext cx="266700" cy="266700"/>
          </a:xfrm>
          <a:prstGeom xmlns:a="http://schemas.openxmlformats.org/drawingml/2006/main" prst="ellipse">
            <a:avLst/>
          </a:prstGeom>
          <a:solidFill xmlns:a="http://schemas.openxmlformats.org/drawingml/2006/main">
            <a:srgbClr val="E8F7F1"/>
          </a:solidFill>
          <a:ln xmlns:a="http://schemas.openxmlformats.org/drawingml/2006/main" w="9525">
            <a:solidFill>
              <a:srgbClr val="0F8A6A"/>
            </a:solidFill>
            <a:prstDash val="solid"/>
          </a:ln>
        </p:spPr>
      </p:sp>
      <p:sp>
        <p:nvSpPr>
          <p:cNvPr id="26" name="">
            <a:extLst xmlns:a="http://schemas.openxmlformats.org/drawingml/2006/main">
              <a:ext uri="{FF2B5EF4-FFF2-40B4-BE49-F238E27FC236}">
                <a16:creationId xmlns:a16="http://schemas.microsoft.com/office/drawing/2014/main" id="{AF7C6B9C-F727-47AB-8824-073A70162F97}"/>
              </a:ext>
            </a:extLst>
          </p:cNvPr>
          <p:cNvSpPr>
            <a:spLocks xmlns:a="http://schemas.openxmlformats.org/drawingml/2006/main" noGrp="1"/>
          </p:cNvSpPr>
          <p:nvPr/>
        </p:nvSpPr>
        <p:spPr>
          <a:xfrm xmlns:a="http://schemas.openxmlformats.org/drawingml/2006/main">
            <a:off x="8001000" y="3933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i="0">
                <a:solidFill>
                  <a:srgbClr val="0F8A6A"/>
                </a:solidFill>
                <a:latin typeface="Arial"/>
                <a:ea typeface="Arial"/>
                <a:cs typeface="Arial"/>
              </a:defRPr>
            </a:pPr>
            <a:r>
              <a:rPr sz="1275" b="1" i="0">
                <a:solidFill>
                  <a:srgbClr val="0F8A6A"/>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13230AB0-0821-402B-B85F-2DDCF5FD5EDD}"/>
              </a:ext>
            </a:extLst>
          </p:cNvPr>
          <p:cNvSpPr>
            <a:spLocks xmlns:a="http://schemas.openxmlformats.org/drawingml/2006/main" noGrp="1"/>
          </p:cNvSpPr>
          <p:nvPr/>
        </p:nvSpPr>
        <p:spPr>
          <a:xfrm xmlns:a="http://schemas.openxmlformats.org/drawingml/2006/main">
            <a:off x="8420100" y="3886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12448"/>
                </a:solidFill>
                <a:latin typeface="Arial"/>
                <a:ea typeface="Arial"/>
                <a:cs typeface="Arial"/>
              </a:defRPr>
            </a:pPr>
            <a:r>
              <a:rPr sz="1425" b="1" i="0">
                <a:solidFill>
                  <a:srgbClr val="112448"/>
                </a:solidFill>
                <a:latin typeface="Arial"/>
                <a:ea typeface="Arial"/>
                <a:cs typeface="Arial"/>
              </a:rPr>
              <a:t>Có bằng chứng kiểm thử</a:t>
            </a:r>
          </a:p>
        </p:txBody>
      </p:sp>
      <p:sp>
        <p:nvSpPr>
          <p:cNvPr id="28" name="">
            <a:extLst xmlns:a="http://schemas.openxmlformats.org/drawingml/2006/main">
              <a:ext uri="{FF2B5EF4-FFF2-40B4-BE49-F238E27FC236}">
                <a16:creationId xmlns:a16="http://schemas.microsoft.com/office/drawing/2014/main" id="{1F336DF0-65F0-4542-973A-4D2D42A90FAF}"/>
              </a:ext>
            </a:extLst>
          </p:cNvPr>
          <p:cNvSpPr>
            <a:spLocks xmlns:a="http://schemas.openxmlformats.org/drawingml/2006/main" noGrp="1"/>
          </p:cNvSpPr>
          <p:nvPr/>
        </p:nvSpPr>
        <p:spPr>
          <a:xfrm xmlns:a="http://schemas.openxmlformats.org/drawingml/2006/main">
            <a:off x="8420100" y="42862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i="0">
                <a:solidFill>
                  <a:srgbClr val="617089"/>
                </a:solidFill>
                <a:latin typeface="Arial"/>
                <a:ea typeface="Arial"/>
                <a:cs typeface="Arial"/>
              </a:defRPr>
            </a:pPr>
            <a:r>
              <a:rPr sz="1125" b="0" i="0">
                <a:solidFill>
                  <a:srgbClr val="617089"/>
                </a:solidFill>
                <a:latin typeface="Arial"/>
                <a:ea typeface="Arial"/>
                <a:cs typeface="Arial"/>
              </a:rPr>
              <a:t>Kiểm thử đơn vị, tích hợp, kiến trúc và trình duyệt route thật.</a:t>
            </a:r>
          </a:p>
        </p:txBody>
      </p:sp>
      <p:sp>
        <p:nvSpPr>
          <p:cNvPr id="29" name="">
            <a:extLst xmlns:a="http://schemas.openxmlformats.org/drawingml/2006/main">
              <a:ext uri="{FF2B5EF4-FFF2-40B4-BE49-F238E27FC236}">
                <a16:creationId xmlns:a16="http://schemas.microsoft.com/office/drawing/2014/main" id="{FF844615-ECE3-4403-A35B-23ABBB4942ED}"/>
              </a:ext>
            </a:extLst>
          </p:cNvPr>
          <p:cNvSpPr>
            <a:spLocks xmlns:a="http://schemas.openxmlformats.org/drawingml/2006/main" noGrp="1"/>
          </p:cNvSpPr>
          <p:nvPr/>
        </p:nvSpPr>
        <p:spPr>
          <a:xfrm xmlns:a="http://schemas.openxmlformats.org/drawingml/2006/main">
            <a:off x="552450" y="5829300"/>
            <a:ext cx="11087100" cy="400050"/>
          </a:xfrm>
          <a:prstGeom xmlns:a="http://schemas.openxmlformats.org/drawingml/2006/main" prst="roundRect">
            <a:avLst>
              <a:gd name="adj" fmla="val 19048"/>
            </a:avLst>
          </a:prstGeom>
          <a:solidFill xmlns:a="http://schemas.openxmlformats.org/drawingml/2006/main">
            <a:srgbClr val="112448"/>
          </a:solidFill>
          <a:ln xmlns:a="http://schemas.openxmlformats.org/drawingml/2006/main" w="9525">
            <a:solidFill>
              <a:srgbClr val="112448"/>
            </a:solidFill>
            <a:prstDash val="solid"/>
          </a:ln>
        </p:spPr>
      </p:sp>
      <p:sp>
        <p:nvSpPr>
          <p:cNvPr id="30" name="">
            <a:extLst xmlns:a="http://schemas.openxmlformats.org/drawingml/2006/main">
              <a:ext uri="{FF2B5EF4-FFF2-40B4-BE49-F238E27FC236}">
                <a16:creationId xmlns:a16="http://schemas.microsoft.com/office/drawing/2014/main" id="{492B4FA8-7C8A-482A-BCA7-3EF8121B8922}"/>
              </a:ext>
            </a:extLst>
          </p:cNvPr>
          <p:cNvSpPr>
            <a:spLocks xmlns:a="http://schemas.openxmlformats.org/drawingml/2006/main" noGrp="1"/>
          </p:cNvSpPr>
          <p:nvPr/>
        </p:nvSpPr>
        <p:spPr>
          <a:xfrm xmlns:a="http://schemas.openxmlformats.org/drawingml/2006/main">
            <a:off x="762000" y="593407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Đối chiếu mục tiêu luận văn: các nhóm chức năng và cơ chế chính đều được đánh giá Đạt.</a:t>
            </a:r>
          </a:p>
        </p:txBody>
      </p:sp>
    </p:spTree>
    <p:extLst>
      <p:ext uri="{BB962C8B-B14F-4D97-AF65-F5344CB8AC3E}">
        <p14:creationId xmlns:p14="http://schemas.microsoft.com/office/powerpoint/2010/main" val="8577661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5235057-A54D-4866-A34D-9A29CAA76536}"/>
              </a:ext>
            </a:extLst>
          </p:cNvPr>
          <p:cNvSpPr>
            <a:spLocks xmlns:a="http://schemas.openxmlformats.org/drawingml/2006/main" noGrp="1"/>
          </p:cNvSpPr>
          <p:nvPr/>
        </p:nvSpPr>
        <p:spPr>
          <a:xfrm xmlns:a="http://schemas.openxmlformats.org/drawingml/2006/main">
            <a:off x="4572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078CCB"/>
                </a:solidFill>
                <a:latin typeface="Arial"/>
                <a:ea typeface="Arial"/>
                <a:cs typeface="Arial"/>
              </a:defRPr>
            </a:pPr>
            <a:r>
              <a:rPr sz="1050" b="1" i="0">
                <a:solidFill>
                  <a:srgbClr val="078CCB"/>
                </a:solidFill>
                <a:latin typeface="Arial"/>
                <a:ea typeface="Arial"/>
                <a:cs typeface="Arial"/>
              </a:rPr>
              <a:t>05 · KẾT LUẬN</a:t>
            </a:r>
          </a:p>
        </p:txBody>
      </p:sp>
      <p:sp>
        <p:nvSpPr>
          <p:cNvPr id="2" name="">
            <a:extLst xmlns:a="http://schemas.openxmlformats.org/drawingml/2006/main">
              <a:ext uri="{FF2B5EF4-FFF2-40B4-BE49-F238E27FC236}">
                <a16:creationId xmlns:a16="http://schemas.microsoft.com/office/drawing/2014/main" id="{2478BDA5-5BA2-4652-AD9E-387A8182AC7F}"/>
              </a:ext>
            </a:extLst>
          </p:cNvPr>
          <p:cNvSpPr>
            <a:spLocks xmlns:a="http://schemas.openxmlformats.org/drawingml/2006/main" noGrp="1"/>
          </p:cNvSpPr>
          <p:nvPr/>
        </p:nvSpPr>
        <p:spPr>
          <a:xfrm xmlns:a="http://schemas.openxmlformats.org/drawingml/2006/main">
            <a:off x="45720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i="0">
                <a:solidFill>
                  <a:srgbClr val="112448"/>
                </a:solidFill>
                <a:latin typeface="Arial"/>
                <a:ea typeface="Arial"/>
                <a:cs typeface="Arial"/>
              </a:defRPr>
            </a:pPr>
            <a:r>
              <a:rPr sz="2850" b="1" i="0">
                <a:solidFill>
                  <a:srgbClr val="112448"/>
                </a:solidFill>
                <a:latin typeface="Arial"/>
                <a:ea typeface="Arial"/>
                <a:cs typeface="Arial"/>
              </a:rPr>
              <a:t>Tồn đọng và hướng phát triển</a:t>
            </a:r>
          </a:p>
        </p:txBody>
      </p:sp>
      <p:sp>
        <p:nvSpPr>
          <p:cNvPr id="3" name="">
            <a:extLst xmlns:a="http://schemas.openxmlformats.org/drawingml/2006/main">
              <a:ext uri="{FF2B5EF4-FFF2-40B4-BE49-F238E27FC236}">
                <a16:creationId xmlns:a16="http://schemas.microsoft.com/office/drawing/2014/main" id="{E8410134-91E5-4BDB-A091-DCCFA276B900}"/>
              </a:ext>
            </a:extLst>
          </p:cNvPr>
          <p:cNvSpPr>
            <a:spLocks xmlns:a="http://schemas.openxmlformats.org/drawingml/2006/main" noGrp="1"/>
          </p:cNvSpPr>
          <p:nvPr/>
        </p:nvSpPr>
        <p:spPr>
          <a:xfrm xmlns:a="http://schemas.openxmlformats.org/drawingml/2006/main">
            <a:off x="11382375" y="63817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i="0">
                <a:solidFill>
                  <a:srgbClr val="617089"/>
                </a:solidFill>
                <a:latin typeface="Arial"/>
                <a:ea typeface="Arial"/>
                <a:cs typeface="Arial"/>
              </a:defRPr>
            </a:pPr>
            <a:r>
              <a:rPr sz="900" b="0" i="0">
                <a:solidFill>
                  <a:srgbClr val="617089"/>
                </a:solidFill>
                <a:latin typeface="Arial"/>
                <a:ea typeface="Arial"/>
                <a:cs typeface="Arial"/>
              </a:rPr>
              <a:t>14</a:t>
            </a:r>
          </a:p>
        </p:txBody>
      </p:sp>
      <p:cxnSp>
        <p:nvCxnSpPr>
          <p:cNvPr id="26" name=""/>
          <p:cNvCxnSpPr/>
          <p:nvPr/>
        </p:nvCxnSpPr>
        <p:spPr>
          <a:xfrm xmlns:a="http://schemas.openxmlformats.org/drawingml/2006/main">
            <a:off x="1047750" y="3181350"/>
            <a:ext cx="9620250" cy="0"/>
          </a:xfrm>
          <a:prstGeom xmlns:a="http://schemas.openxmlformats.org/drawingml/2006/main" prst="straightConnector1">
            <a:avLst/>
          </a:prstGeom>
          <a:ln xmlns:a="http://schemas.openxmlformats.org/drawingml/2006/main" w="19050">
            <a:solidFill>
              <a:srgbClr val="D7DEE8"/>
            </a:solidFill>
            <a:prstDash val="solid"/>
          </a:ln>
        </p:spPr>
      </p:cxnSp>
      <p:sp>
        <p:nvSpPr>
          <p:cNvPr id="5" name="">
            <a:extLst xmlns:a="http://schemas.openxmlformats.org/drawingml/2006/main">
              <a:ext uri="{FF2B5EF4-FFF2-40B4-BE49-F238E27FC236}">
                <a16:creationId xmlns:a16="http://schemas.microsoft.com/office/drawing/2014/main" id="{0FD8A0E2-EB8D-4F67-B8CA-02514A572829}"/>
              </a:ext>
            </a:extLst>
          </p:cNvPr>
          <p:cNvSpPr>
            <a:spLocks xmlns:a="http://schemas.openxmlformats.org/drawingml/2006/main" noGrp="1"/>
          </p:cNvSpPr>
          <p:nvPr/>
        </p:nvSpPr>
        <p:spPr>
          <a:xfrm xmlns:a="http://schemas.openxmlformats.org/drawingml/2006/main">
            <a:off x="1257300" y="2971800"/>
            <a:ext cx="419100" cy="419100"/>
          </a:xfrm>
          <a:prstGeom xmlns:a="http://schemas.openxmlformats.org/drawingml/2006/main" prst="ellipse">
            <a:avLst/>
          </a:prstGeom>
          <a:solidFill xmlns:a="http://schemas.openxmlformats.org/drawingml/2006/main">
            <a:srgbClr val="112448"/>
          </a:solidFill>
          <a:ln xmlns:a="http://schemas.openxmlformats.org/drawingml/2006/main" w="9525">
            <a:solidFill>
              <a:srgbClr val="112448"/>
            </a:solidFill>
            <a:prstDash val="solid"/>
          </a:ln>
        </p:spPr>
      </p:sp>
      <p:sp>
        <p:nvSpPr>
          <p:cNvPr id="6" name="">
            <a:extLst xmlns:a="http://schemas.openxmlformats.org/drawingml/2006/main">
              <a:ext uri="{FF2B5EF4-FFF2-40B4-BE49-F238E27FC236}">
                <a16:creationId xmlns:a16="http://schemas.microsoft.com/office/drawing/2014/main" id="{FBE8A5AB-E847-4DE6-A5E9-BB3EC8D601B6}"/>
              </a:ext>
            </a:extLst>
          </p:cNvPr>
          <p:cNvSpPr>
            <a:spLocks xmlns:a="http://schemas.openxmlformats.org/drawingml/2006/main" noGrp="1"/>
          </p:cNvSpPr>
          <p:nvPr/>
        </p:nvSpPr>
        <p:spPr>
          <a:xfrm xmlns:a="http://schemas.openxmlformats.org/drawingml/2006/main">
            <a:off x="1257300" y="30575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B4D02A24-B9F1-4244-9F17-98E8C8F896FB}"/>
              </a:ext>
            </a:extLst>
          </p:cNvPr>
          <p:cNvSpPr>
            <a:spLocks xmlns:a="http://schemas.openxmlformats.org/drawingml/2006/main" noGrp="1"/>
          </p:cNvSpPr>
          <p:nvPr/>
        </p:nvSpPr>
        <p:spPr>
          <a:xfrm xmlns:a="http://schemas.openxmlformats.org/drawingml/2006/main">
            <a:off x="571500" y="36766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i="0">
                <a:solidFill>
                  <a:srgbClr val="112448"/>
                </a:solidFill>
                <a:latin typeface="Arial"/>
                <a:ea typeface="Arial"/>
                <a:cs typeface="Arial"/>
              </a:defRPr>
            </a:pPr>
            <a:r>
              <a:rPr sz="1425" b="1" i="0">
                <a:solidFill>
                  <a:srgbClr val="112448"/>
                </a:solidFill>
                <a:latin typeface="Arial"/>
                <a:ea typeface="Arial"/>
                <a:cs typeface="Arial"/>
              </a:rPr>
              <a:t>Dữ liệu thực tế</a:t>
            </a:r>
          </a:p>
        </p:txBody>
      </p:sp>
      <p:sp>
        <p:nvSpPr>
          <p:cNvPr id="8" name="">
            <a:extLst xmlns:a="http://schemas.openxmlformats.org/drawingml/2006/main">
              <a:ext uri="{FF2B5EF4-FFF2-40B4-BE49-F238E27FC236}">
                <a16:creationId xmlns:a16="http://schemas.microsoft.com/office/drawing/2014/main" id="{B24B4DD9-E1FB-4C23-8709-139A52E6C867}"/>
              </a:ext>
            </a:extLst>
          </p:cNvPr>
          <p:cNvSpPr>
            <a:spLocks xmlns:a="http://schemas.openxmlformats.org/drawingml/2006/main" noGrp="1"/>
          </p:cNvSpPr>
          <p:nvPr/>
        </p:nvSpPr>
        <p:spPr>
          <a:xfrm xmlns:a="http://schemas.openxmlformats.org/drawingml/2006/main">
            <a:off x="571500" y="40957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i="0">
                <a:solidFill>
                  <a:srgbClr val="617089"/>
                </a:solidFill>
                <a:latin typeface="Arial"/>
                <a:ea typeface="Arial"/>
                <a:cs typeface="Arial"/>
              </a:defRPr>
            </a:pPr>
            <a:r>
              <a:rPr sz="1125" b="0" i="0">
                <a:solidFill>
                  <a:srgbClr val="617089"/>
                </a:solidFill>
                <a:latin typeface="Arial"/>
                <a:ea typeface="Arial"/>
                <a:cs typeface="Arial"/>
              </a:rPr>
              <a:t>Tích lũy dữ liệu dài hạn để đánh giá mùa vụ và mức tiêu thụ theo phòng ban.</a:t>
            </a:r>
          </a:p>
        </p:txBody>
      </p:sp>
      <p:sp>
        <p:nvSpPr>
          <p:cNvPr id="9" name="">
            <a:extLst xmlns:a="http://schemas.openxmlformats.org/drawingml/2006/main">
              <a:ext uri="{FF2B5EF4-FFF2-40B4-BE49-F238E27FC236}">
                <a16:creationId xmlns:a16="http://schemas.microsoft.com/office/drawing/2014/main" id="{6EB7E73B-5792-4FC2-822D-1EC06EBBC5D3}"/>
              </a:ext>
            </a:extLst>
          </p:cNvPr>
          <p:cNvSpPr>
            <a:spLocks xmlns:a="http://schemas.openxmlformats.org/drawingml/2006/main" noGrp="1"/>
          </p:cNvSpPr>
          <p:nvPr/>
        </p:nvSpPr>
        <p:spPr>
          <a:xfrm xmlns:a="http://schemas.openxmlformats.org/drawingml/2006/main">
            <a:off x="4057650" y="2971800"/>
            <a:ext cx="419100" cy="419100"/>
          </a:xfrm>
          <a:prstGeom xmlns:a="http://schemas.openxmlformats.org/drawingml/2006/main" prst="ellipse">
            <a:avLst/>
          </a:prstGeom>
          <a:solidFill xmlns:a="http://schemas.openxmlformats.org/drawingml/2006/main">
            <a:srgbClr val="112448"/>
          </a:solidFill>
          <a:ln xmlns:a="http://schemas.openxmlformats.org/drawingml/2006/main" w="9525">
            <a:solidFill>
              <a:srgbClr val="112448"/>
            </a:solidFill>
            <a:prstDash val="solid"/>
          </a:ln>
        </p:spPr>
      </p:sp>
      <p:sp>
        <p:nvSpPr>
          <p:cNvPr id="10" name="">
            <a:extLst xmlns:a="http://schemas.openxmlformats.org/drawingml/2006/main">
              <a:ext uri="{FF2B5EF4-FFF2-40B4-BE49-F238E27FC236}">
                <a16:creationId xmlns:a16="http://schemas.microsoft.com/office/drawing/2014/main" id="{F43BF7D9-7310-4AF0-8099-AE6265C2C626}"/>
              </a:ext>
            </a:extLst>
          </p:cNvPr>
          <p:cNvSpPr>
            <a:spLocks xmlns:a="http://schemas.openxmlformats.org/drawingml/2006/main" noGrp="1"/>
          </p:cNvSpPr>
          <p:nvPr/>
        </p:nvSpPr>
        <p:spPr>
          <a:xfrm xmlns:a="http://schemas.openxmlformats.org/drawingml/2006/main">
            <a:off x="4057650" y="30575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2A8CCA8C-E9B8-4517-9E8D-93F6A79127CF}"/>
              </a:ext>
            </a:extLst>
          </p:cNvPr>
          <p:cNvSpPr>
            <a:spLocks xmlns:a="http://schemas.openxmlformats.org/drawingml/2006/main" noGrp="1"/>
          </p:cNvSpPr>
          <p:nvPr/>
        </p:nvSpPr>
        <p:spPr>
          <a:xfrm xmlns:a="http://schemas.openxmlformats.org/drawingml/2006/main">
            <a:off x="3371850" y="36766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i="0">
                <a:solidFill>
                  <a:srgbClr val="112448"/>
                </a:solidFill>
                <a:latin typeface="Arial"/>
                <a:ea typeface="Arial"/>
                <a:cs typeface="Arial"/>
              </a:defRPr>
            </a:pPr>
            <a:r>
              <a:rPr sz="1425" b="1" i="0">
                <a:solidFill>
                  <a:srgbClr val="112448"/>
                </a:solidFill>
                <a:latin typeface="Arial"/>
                <a:ea typeface="Arial"/>
                <a:cs typeface="Arial"/>
              </a:rPr>
              <a:t>Tích hợp vận hành</a:t>
            </a:r>
          </a:p>
        </p:txBody>
      </p:sp>
      <p:sp>
        <p:nvSpPr>
          <p:cNvPr id="12" name="">
            <a:extLst xmlns:a="http://schemas.openxmlformats.org/drawingml/2006/main">
              <a:ext uri="{FF2B5EF4-FFF2-40B4-BE49-F238E27FC236}">
                <a16:creationId xmlns:a16="http://schemas.microsoft.com/office/drawing/2014/main" id="{51E40B74-5D14-47C2-85F2-3E7718268FAA}"/>
              </a:ext>
            </a:extLst>
          </p:cNvPr>
          <p:cNvSpPr>
            <a:spLocks xmlns:a="http://schemas.openxmlformats.org/drawingml/2006/main" noGrp="1"/>
          </p:cNvSpPr>
          <p:nvPr/>
        </p:nvSpPr>
        <p:spPr>
          <a:xfrm xmlns:a="http://schemas.openxmlformats.org/drawingml/2006/main">
            <a:off x="3371850" y="40957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i="0">
                <a:solidFill>
                  <a:srgbClr val="617089"/>
                </a:solidFill>
                <a:latin typeface="Arial"/>
                <a:ea typeface="Arial"/>
                <a:cs typeface="Arial"/>
              </a:defRPr>
            </a:pPr>
            <a:r>
              <a:rPr sz="1125" b="0" i="0">
                <a:solidFill>
                  <a:srgbClr val="617089"/>
                </a:solidFill>
                <a:latin typeface="Arial"/>
                <a:ea typeface="Arial"/>
                <a:cs typeface="Arial"/>
              </a:rPr>
              <a:t>Kết nối email thật, nguồn nhân sự/danh bạ và hệ thống giám sát.</a:t>
            </a:r>
          </a:p>
        </p:txBody>
      </p:sp>
      <p:sp>
        <p:nvSpPr>
          <p:cNvPr id="13" name="">
            <a:extLst xmlns:a="http://schemas.openxmlformats.org/drawingml/2006/main">
              <a:ext uri="{FF2B5EF4-FFF2-40B4-BE49-F238E27FC236}">
                <a16:creationId xmlns:a16="http://schemas.microsoft.com/office/drawing/2014/main" id="{432CC8BD-38F3-4888-B989-9A2634F202E1}"/>
              </a:ext>
            </a:extLst>
          </p:cNvPr>
          <p:cNvSpPr>
            <a:spLocks xmlns:a="http://schemas.openxmlformats.org/drawingml/2006/main" noGrp="1"/>
          </p:cNvSpPr>
          <p:nvPr/>
        </p:nvSpPr>
        <p:spPr>
          <a:xfrm xmlns:a="http://schemas.openxmlformats.org/drawingml/2006/main">
            <a:off x="6858000" y="2971800"/>
            <a:ext cx="419100" cy="419100"/>
          </a:xfrm>
          <a:prstGeom xmlns:a="http://schemas.openxmlformats.org/drawingml/2006/main" prst="ellipse">
            <a:avLst/>
          </a:prstGeom>
          <a:solidFill xmlns:a="http://schemas.openxmlformats.org/drawingml/2006/main">
            <a:srgbClr val="112448"/>
          </a:solidFill>
          <a:ln xmlns:a="http://schemas.openxmlformats.org/drawingml/2006/main" w="9525">
            <a:solidFill>
              <a:srgbClr val="112448"/>
            </a:solidFill>
            <a:prstDash val="solid"/>
          </a:ln>
        </p:spPr>
      </p:sp>
      <p:sp>
        <p:nvSpPr>
          <p:cNvPr id="14" name="">
            <a:extLst xmlns:a="http://schemas.openxmlformats.org/drawingml/2006/main">
              <a:ext uri="{FF2B5EF4-FFF2-40B4-BE49-F238E27FC236}">
                <a16:creationId xmlns:a16="http://schemas.microsoft.com/office/drawing/2014/main" id="{6AFD197C-4BF0-4776-B2D2-6449744C4ABC}"/>
              </a:ext>
            </a:extLst>
          </p:cNvPr>
          <p:cNvSpPr>
            <a:spLocks xmlns:a="http://schemas.openxmlformats.org/drawingml/2006/main" noGrp="1"/>
          </p:cNvSpPr>
          <p:nvPr/>
        </p:nvSpPr>
        <p:spPr>
          <a:xfrm xmlns:a="http://schemas.openxmlformats.org/drawingml/2006/main">
            <a:off x="6858000" y="30575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CDD6E39F-47C7-4AE4-BCCA-6178CACC6E8B}"/>
              </a:ext>
            </a:extLst>
          </p:cNvPr>
          <p:cNvSpPr>
            <a:spLocks xmlns:a="http://schemas.openxmlformats.org/drawingml/2006/main" noGrp="1"/>
          </p:cNvSpPr>
          <p:nvPr/>
        </p:nvSpPr>
        <p:spPr>
          <a:xfrm xmlns:a="http://schemas.openxmlformats.org/drawingml/2006/main">
            <a:off x="6172200" y="36766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i="0">
                <a:solidFill>
                  <a:srgbClr val="112448"/>
                </a:solidFill>
                <a:latin typeface="Arial"/>
                <a:ea typeface="Arial"/>
                <a:cs typeface="Arial"/>
              </a:defRPr>
            </a:pPr>
            <a:r>
              <a:rPr sz="1425" b="1" i="0">
                <a:solidFill>
                  <a:srgbClr val="112448"/>
                </a:solidFill>
                <a:latin typeface="Arial"/>
                <a:ea typeface="Arial"/>
                <a:cs typeface="Arial"/>
              </a:rPr>
              <a:t>Báo cáo nâng cao</a:t>
            </a:r>
          </a:p>
        </p:txBody>
      </p:sp>
      <p:sp>
        <p:nvSpPr>
          <p:cNvPr id="16" name="">
            <a:extLst xmlns:a="http://schemas.openxmlformats.org/drawingml/2006/main">
              <a:ext uri="{FF2B5EF4-FFF2-40B4-BE49-F238E27FC236}">
                <a16:creationId xmlns:a16="http://schemas.microsoft.com/office/drawing/2014/main" id="{BFE104D2-0FF5-4691-B0C3-B67739C20755}"/>
              </a:ext>
            </a:extLst>
          </p:cNvPr>
          <p:cNvSpPr>
            <a:spLocks xmlns:a="http://schemas.openxmlformats.org/drawingml/2006/main" noGrp="1"/>
          </p:cNvSpPr>
          <p:nvPr/>
        </p:nvSpPr>
        <p:spPr>
          <a:xfrm xmlns:a="http://schemas.openxmlformats.org/drawingml/2006/main">
            <a:off x="6172200" y="40957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i="0">
                <a:solidFill>
                  <a:srgbClr val="617089"/>
                </a:solidFill>
                <a:latin typeface="Arial"/>
                <a:ea typeface="Arial"/>
                <a:cs typeface="Arial"/>
              </a:defRPr>
            </a:pPr>
            <a:r>
              <a:rPr sz="1125" b="0" i="0">
                <a:solidFill>
                  <a:srgbClr val="617089"/>
                </a:solidFill>
                <a:latin typeface="Arial"/>
                <a:ea typeface="Arial"/>
                <a:cs typeface="Arial"/>
              </a:rPr>
              <a:t>Ngân sách, xu hướng tiêu thụ và cảnh báo bất thường.</a:t>
            </a:r>
          </a:p>
        </p:txBody>
      </p:sp>
      <p:sp>
        <p:nvSpPr>
          <p:cNvPr id="17" name="">
            <a:extLst xmlns:a="http://schemas.openxmlformats.org/drawingml/2006/main">
              <a:ext uri="{FF2B5EF4-FFF2-40B4-BE49-F238E27FC236}">
                <a16:creationId xmlns:a16="http://schemas.microsoft.com/office/drawing/2014/main" id="{D2514A9D-CE6C-4B2D-BFA2-E1573F445307}"/>
              </a:ext>
            </a:extLst>
          </p:cNvPr>
          <p:cNvSpPr>
            <a:spLocks xmlns:a="http://schemas.openxmlformats.org/drawingml/2006/main" noGrp="1"/>
          </p:cNvSpPr>
          <p:nvPr/>
        </p:nvSpPr>
        <p:spPr>
          <a:xfrm xmlns:a="http://schemas.openxmlformats.org/drawingml/2006/main">
            <a:off x="9658350" y="2971800"/>
            <a:ext cx="419100" cy="419100"/>
          </a:xfrm>
          <a:prstGeom xmlns:a="http://schemas.openxmlformats.org/drawingml/2006/main" prst="ellipse">
            <a:avLst/>
          </a:prstGeom>
          <a:solidFill xmlns:a="http://schemas.openxmlformats.org/drawingml/2006/main">
            <a:srgbClr val="0EA5E9"/>
          </a:solidFill>
          <a:ln xmlns:a="http://schemas.openxmlformats.org/drawingml/2006/main" w="9525">
            <a:solidFill>
              <a:srgbClr val="0EA5E9"/>
            </a:solidFill>
            <a:prstDash val="solid"/>
          </a:ln>
        </p:spPr>
      </p:sp>
      <p:sp>
        <p:nvSpPr>
          <p:cNvPr id="18" name="">
            <a:extLst xmlns:a="http://schemas.openxmlformats.org/drawingml/2006/main">
              <a:ext uri="{FF2B5EF4-FFF2-40B4-BE49-F238E27FC236}">
                <a16:creationId xmlns:a16="http://schemas.microsoft.com/office/drawing/2014/main" id="{1E9710DD-5295-4AB9-A68A-A876D48F136B}"/>
              </a:ext>
            </a:extLst>
          </p:cNvPr>
          <p:cNvSpPr>
            <a:spLocks xmlns:a="http://schemas.openxmlformats.org/drawingml/2006/main" noGrp="1"/>
          </p:cNvSpPr>
          <p:nvPr/>
        </p:nvSpPr>
        <p:spPr>
          <a:xfrm xmlns:a="http://schemas.openxmlformats.org/drawingml/2006/main">
            <a:off x="9658350" y="30575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i="0">
                <a:solidFill>
                  <a:srgbClr val="FFFFFF"/>
                </a:solidFill>
                <a:latin typeface="Arial"/>
                <a:ea typeface="Arial"/>
                <a:cs typeface="Arial"/>
              </a:defRPr>
            </a:pPr>
            <a:r>
              <a:rPr sz="1200" b="1" i="0">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9BB0101C-796D-4495-A8F4-381FE2F3324C}"/>
              </a:ext>
            </a:extLst>
          </p:cNvPr>
          <p:cNvSpPr>
            <a:spLocks xmlns:a="http://schemas.openxmlformats.org/drawingml/2006/main" noGrp="1"/>
          </p:cNvSpPr>
          <p:nvPr/>
        </p:nvSpPr>
        <p:spPr>
          <a:xfrm xmlns:a="http://schemas.openxmlformats.org/drawingml/2006/main">
            <a:off x="8972550" y="367665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i="0">
                <a:solidFill>
                  <a:srgbClr val="112448"/>
                </a:solidFill>
                <a:latin typeface="Arial"/>
                <a:ea typeface="Arial"/>
                <a:cs typeface="Arial"/>
              </a:defRPr>
            </a:pPr>
            <a:r>
              <a:rPr sz="1425" b="1" i="0">
                <a:solidFill>
                  <a:srgbClr val="112448"/>
                </a:solidFill>
                <a:latin typeface="Arial"/>
                <a:ea typeface="Arial"/>
                <a:cs typeface="Arial"/>
              </a:rPr>
              <a:t>Khả năng mở rộng</a:t>
            </a:r>
          </a:p>
        </p:txBody>
      </p:sp>
      <p:sp>
        <p:nvSpPr>
          <p:cNvPr id="20" name="">
            <a:extLst xmlns:a="http://schemas.openxmlformats.org/drawingml/2006/main">
              <a:ext uri="{FF2B5EF4-FFF2-40B4-BE49-F238E27FC236}">
                <a16:creationId xmlns:a16="http://schemas.microsoft.com/office/drawing/2014/main" id="{C5C00AEE-1944-4086-96BF-1BAE14F22BF0}"/>
              </a:ext>
            </a:extLst>
          </p:cNvPr>
          <p:cNvSpPr>
            <a:spLocks xmlns:a="http://schemas.openxmlformats.org/drawingml/2006/main" noGrp="1"/>
          </p:cNvSpPr>
          <p:nvPr/>
        </p:nvSpPr>
        <p:spPr>
          <a:xfrm xmlns:a="http://schemas.openxmlformats.org/drawingml/2006/main">
            <a:off x="8972550" y="40957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i="0">
                <a:solidFill>
                  <a:srgbClr val="617089"/>
                </a:solidFill>
                <a:latin typeface="Arial"/>
                <a:ea typeface="Arial"/>
                <a:cs typeface="Arial"/>
              </a:defRPr>
            </a:pPr>
            <a:r>
              <a:rPr sz="1125" b="0" i="0">
                <a:solidFill>
                  <a:srgbClr val="617089"/>
                </a:solidFill>
                <a:latin typeface="Arial"/>
                <a:ea typeface="Arial"/>
                <a:cs typeface="Arial"/>
              </a:rPr>
              <a:t>Kiểm thử tải, dữ liệu lớn, sao lưu/khôi phục và diễn tập quay lui.</a:t>
            </a:r>
          </a:p>
        </p:txBody>
      </p:sp>
      <p:sp>
        <p:nvSpPr>
          <p:cNvPr id="21" name="">
            <a:extLst xmlns:a="http://schemas.openxmlformats.org/drawingml/2006/main">
              <a:ext uri="{FF2B5EF4-FFF2-40B4-BE49-F238E27FC236}">
                <a16:creationId xmlns:a16="http://schemas.microsoft.com/office/drawing/2014/main" id="{9F218BC4-92AF-41ED-8B17-6361D502DC66}"/>
              </a:ext>
            </a:extLst>
          </p:cNvPr>
          <p:cNvSpPr>
            <a:spLocks xmlns:a="http://schemas.openxmlformats.org/drawingml/2006/main" noGrp="1"/>
          </p:cNvSpPr>
          <p:nvPr/>
        </p:nvSpPr>
        <p:spPr>
          <a:xfrm xmlns:a="http://schemas.openxmlformats.org/drawingml/2006/main">
            <a:off x="552450" y="5524500"/>
            <a:ext cx="11087100" cy="666750"/>
          </a:xfrm>
          <a:prstGeom xmlns:a="http://schemas.openxmlformats.org/drawingml/2006/main" prst="roundRect">
            <a:avLst>
              <a:gd name="adj" fmla="val 17143"/>
            </a:avLst>
          </a:prstGeom>
          <a:solidFill xmlns:a="http://schemas.openxmlformats.org/drawingml/2006/main">
            <a:srgbClr val="EAF5FB"/>
          </a:solidFill>
          <a:ln xmlns:a="http://schemas.openxmlformats.org/drawingml/2006/main" w="9525">
            <a:solidFill>
              <a:srgbClr val="61C8F3"/>
            </a:solidFill>
            <a:prstDash val="solid"/>
          </a:ln>
        </p:spPr>
      </p:sp>
      <p:sp>
        <p:nvSpPr>
          <p:cNvPr id="22" name="">
            <a:extLst xmlns:a="http://schemas.openxmlformats.org/drawingml/2006/main">
              <a:ext uri="{FF2B5EF4-FFF2-40B4-BE49-F238E27FC236}">
                <a16:creationId xmlns:a16="http://schemas.microsoft.com/office/drawing/2014/main" id="{370F68B8-E234-4EE0-8BF1-72328C2830FA}"/>
              </a:ext>
            </a:extLst>
          </p:cNvPr>
          <p:cNvSpPr>
            <a:spLocks xmlns:a="http://schemas.openxmlformats.org/drawingml/2006/main" noGrp="1"/>
          </p:cNvSpPr>
          <p:nvPr/>
        </p:nvSpPr>
        <p:spPr>
          <a:xfrm xmlns:a="http://schemas.openxmlformats.org/drawingml/2006/main">
            <a:off x="781050" y="5715000"/>
            <a:ext cx="1062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i="0">
                <a:solidFill>
                  <a:srgbClr val="112448"/>
                </a:solidFill>
                <a:latin typeface="Arial"/>
                <a:ea typeface="Arial"/>
                <a:cs typeface="Arial"/>
              </a:defRPr>
            </a:pPr>
            <a:r>
              <a:rPr sz="1350" b="1" i="0">
                <a:solidFill>
                  <a:srgbClr val="112448"/>
                </a:solidFill>
                <a:latin typeface="Arial"/>
                <a:ea typeface="Arial"/>
                <a:cs typeface="Arial"/>
              </a:rPr>
              <a:t>Ưu tiên tiếp theo: kiểm thử tải và dữ liệu lớn → tích hợp vận hành → phân tích nâng cao.</a:t>
            </a:r>
          </a:p>
        </p:txBody>
      </p:sp>
    </p:spTree>
    <p:extLst>
      <p:ext uri="{BB962C8B-B14F-4D97-AF65-F5344CB8AC3E}">
        <p14:creationId xmlns:p14="http://schemas.microsoft.com/office/powerpoint/2010/main" val="1777183100"/>
      </p:ext>
    </p:extLst>
  </p:cSld>
</p:sld>
</file>

<file path=ppt/slides/slide15.xml><?xml version="1.0" encoding="utf-8"?>
<p:sld xmlns:p="http://schemas.openxmlformats.org/presentationml/2006/main">
  <p:cSld>
    <p:bg>
      <p:bgPr>
        <a:solidFill xmlns:a="http://schemas.openxmlformats.org/drawingml/2006/main">
          <a:srgbClr val="11244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52BB6C-0442-4C71-8299-8746FD7DA95A}"/>
              </a:ext>
            </a:extLst>
          </p:cNvPr>
          <p:cNvSpPr>
            <a:spLocks xmlns:a="http://schemas.openxmlformats.org/drawingml/2006/main" noGrp="1"/>
          </p:cNvSpPr>
          <p:nvPr/>
        </p:nvSpPr>
        <p:spPr>
          <a:xfrm xmlns:a="http://schemas.openxmlformats.org/drawingml/2006/main">
            <a:off x="457200" y="457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61C8F3"/>
                </a:solidFill>
                <a:latin typeface="Arial"/>
                <a:ea typeface="Arial"/>
                <a:cs typeface="Arial"/>
              </a:defRPr>
            </a:pPr>
            <a:r>
              <a:rPr sz="1050" b="1" i="0">
                <a:solidFill>
                  <a:srgbClr val="61C8F3"/>
                </a:solidFill>
                <a:latin typeface="Arial"/>
                <a:ea typeface="Arial"/>
                <a:cs typeface="Arial"/>
              </a:rPr>
              <a:t>KẾT LUẬN</a:t>
            </a:r>
          </a:p>
        </p:txBody>
      </p:sp>
      <p:sp>
        <p:nvSpPr>
          <p:cNvPr id="2" name="">
            <a:extLst xmlns:a="http://schemas.openxmlformats.org/drawingml/2006/main">
              <a:ext uri="{FF2B5EF4-FFF2-40B4-BE49-F238E27FC236}">
                <a16:creationId xmlns:a16="http://schemas.microsoft.com/office/drawing/2014/main" id="{AA89ED19-3914-4B90-8727-6326790B3709}"/>
              </a:ext>
            </a:extLst>
          </p:cNvPr>
          <p:cNvSpPr>
            <a:spLocks xmlns:a="http://schemas.openxmlformats.org/drawingml/2006/main" noGrp="1"/>
          </p:cNvSpPr>
          <p:nvPr/>
        </p:nvSpPr>
        <p:spPr>
          <a:xfrm xmlns:a="http://schemas.openxmlformats.org/drawingml/2006/main">
            <a:off x="457200" y="1714500"/>
            <a:ext cx="9525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GTAS VPP khép kín quy trình</a:t>
            </a:r>
          </a:p>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yêu cầu → chốt kỳ → báo cáo</a:t>
            </a:r>
          </a:p>
        </p:txBody>
      </p:sp>
      <p:sp>
        <p:nvSpPr>
          <p:cNvPr id="3" name="">
            <a:extLst xmlns:a="http://schemas.openxmlformats.org/drawingml/2006/main">
              <a:ext uri="{FF2B5EF4-FFF2-40B4-BE49-F238E27FC236}">
                <a16:creationId xmlns:a16="http://schemas.microsoft.com/office/drawing/2014/main" id="{631FA551-1D6E-452E-B409-E4191C415851}"/>
              </a:ext>
            </a:extLst>
          </p:cNvPr>
          <p:cNvSpPr>
            <a:spLocks xmlns:a="http://schemas.openxmlformats.org/drawingml/2006/main" noGrp="1"/>
          </p:cNvSpPr>
          <p:nvPr/>
        </p:nvSpPr>
        <p:spPr>
          <a:xfrm xmlns:a="http://schemas.openxmlformats.org/drawingml/2006/main">
            <a:off x="457200" y="371475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C9D5E7"/>
                </a:solidFill>
                <a:latin typeface="Arial"/>
                <a:ea typeface="Arial"/>
                <a:cs typeface="Arial"/>
              </a:defRPr>
            </a:pPr>
            <a:r>
              <a:rPr sz="1650" b="0" i="0">
                <a:solidFill>
                  <a:srgbClr val="C9D5E7"/>
                </a:solidFill>
                <a:latin typeface="Arial"/>
                <a:ea typeface="Arial"/>
                <a:cs typeface="Arial"/>
              </a:rPr>
              <a:t>Có kiểm soát quyền · giữ lịch sử dữ liệu · có bằng chứng kiểm thử</a:t>
            </a:r>
          </a:p>
        </p:txBody>
      </p:sp>
      <p:cxnSp>
        <p:nvCxnSpPr>
          <p:cNvPr id="10" name=""/>
          <p:cNvCxnSpPr/>
          <p:nvPr/>
        </p:nvCxnSpPr>
        <p:spPr>
          <a:xfrm xmlns:a="http://schemas.openxmlformats.org/drawingml/2006/main">
            <a:off x="457200" y="4667250"/>
            <a:ext cx="6858000" cy="0"/>
          </a:xfrm>
          <a:prstGeom xmlns:a="http://schemas.openxmlformats.org/drawingml/2006/main" prst="straightConnector1">
            <a:avLst/>
          </a:prstGeom>
          <a:ln xmlns:a="http://schemas.openxmlformats.org/drawingml/2006/main" w="47625">
            <a:solidFill>
              <a:srgbClr val="0EA5E9"/>
            </a:solidFill>
            <a:prstDash val="solid"/>
          </a:ln>
        </p:spPr>
      </p:cxnSp>
      <p:sp>
        <p:nvSpPr>
          <p:cNvPr id="5" name="">
            <a:extLst xmlns:a="http://schemas.openxmlformats.org/drawingml/2006/main">
              <a:ext uri="{FF2B5EF4-FFF2-40B4-BE49-F238E27FC236}">
                <a16:creationId xmlns:a16="http://schemas.microsoft.com/office/drawing/2014/main" id="{095EFC76-E9A1-4B31-91A8-7D0FE6D60F1A}"/>
              </a:ext>
            </a:extLst>
          </p:cNvPr>
          <p:cNvSpPr>
            <a:spLocks xmlns:a="http://schemas.openxmlformats.org/drawingml/2006/main" noGrp="1"/>
          </p:cNvSpPr>
          <p:nvPr/>
        </p:nvSpPr>
        <p:spPr>
          <a:xfrm xmlns:a="http://schemas.openxmlformats.org/drawingml/2006/main">
            <a:off x="457200" y="5162550"/>
            <a:ext cx="7620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i="0">
                <a:solidFill>
                  <a:srgbClr val="FFFFFF"/>
                </a:solidFill>
                <a:latin typeface="Arial"/>
                <a:ea typeface="Arial"/>
                <a:cs typeface="Arial"/>
              </a:defRPr>
            </a:pPr>
            <a:r>
              <a:rPr sz="2100" b="1" i="0">
                <a:solidFill>
                  <a:srgbClr val="FFFFFF"/>
                </a:solidFill>
                <a:latin typeface="Arial"/>
                <a:ea typeface="Arial"/>
                <a:cs typeface="Arial"/>
              </a:rPr>
              <a:t>CẢM ƠN QUÝ THẦY CÔ  ·  Q&amp;A</a:t>
            </a:r>
          </a:p>
        </p:txBody>
      </p:sp>
      <p:sp>
        <p:nvSpPr>
          <p:cNvPr id="6" name="">
            <a:extLst xmlns:a="http://schemas.openxmlformats.org/drawingml/2006/main">
              <a:ext uri="{FF2B5EF4-FFF2-40B4-BE49-F238E27FC236}">
                <a16:creationId xmlns:a16="http://schemas.microsoft.com/office/drawing/2014/main" id="{2161E2C3-35E3-4DE8-9F67-90AA190DD3A4}"/>
              </a:ext>
            </a:extLst>
          </p:cNvPr>
          <p:cNvSpPr>
            <a:spLocks xmlns:a="http://schemas.openxmlformats.org/drawingml/2006/main" noGrp="1"/>
          </p:cNvSpPr>
          <p:nvPr/>
        </p:nvSpPr>
        <p:spPr>
          <a:xfrm xmlns:a="http://schemas.openxmlformats.org/drawingml/2006/main">
            <a:off x="457200" y="60960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61C8F3"/>
                </a:solidFill>
                <a:latin typeface="Arial"/>
                <a:ea typeface="Arial"/>
                <a:cs typeface="Arial"/>
              </a:defRPr>
            </a:pPr>
            <a:r>
              <a:rPr sz="1050" b="1" i="0">
                <a:solidFill>
                  <a:srgbClr val="61C8F3"/>
                </a:solidFill>
                <a:latin typeface="Arial"/>
                <a:ea typeface="Arial"/>
                <a:cs typeface="Arial"/>
              </a:rPr>
              <a:t>NGUYỄN AN NAM · DH52201078</a:t>
            </a:r>
          </a:p>
        </p:txBody>
      </p:sp>
    </p:spTree>
    <p:extLst>
      <p:ext uri="{BB962C8B-B14F-4D97-AF65-F5344CB8AC3E}">
        <p14:creationId xmlns:p14="http://schemas.microsoft.com/office/powerpoint/2010/main" val="3260056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2026-08-04T11:50:42.0790000Z</dcterms:created>
  <dcterms:modified xsi:type="dcterms:W3CDTF">2026-08-04T11:50:42.0800000Z</dcterms:modified>
</coreProperties>
</file>