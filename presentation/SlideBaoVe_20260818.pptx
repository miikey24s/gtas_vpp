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1c01e757da4eab" /><Relationship Type="http://schemas.openxmlformats.org/officeDocument/2006/relationships/extended-properties" Target="/docProps/app.xml" Id="R65caba92b45e43f1" /><Relationship Type="http://schemas.openxmlformats.org/officeDocument/2006/relationships/officeDocument" Target="/ppt/presentation.xml" Id="Rab7abfe9aeb64fb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821f654cf8a4578"/>
  </p:sldMasterIdLst>
  <p:notesMasterIdLst>
    <p:notesMasterId xmlns:r="http://schemas.openxmlformats.org/officeDocument/2006/relationships" r:id="R3e0e188acd7b4086"/>
  </p:notesMasterIdLst>
  <p:sldIdLst>
    <p:sldId xmlns:r="http://schemas.openxmlformats.org/officeDocument/2006/relationships" id="256" r:id="Ra6208a6ac0534987"/>
    <p:sldId xmlns:r="http://schemas.openxmlformats.org/officeDocument/2006/relationships" id="257" r:id="R3b370c42adde4d6a"/>
    <p:sldId xmlns:r="http://schemas.openxmlformats.org/officeDocument/2006/relationships" id="258" r:id="Rb0b37955ac6b4653"/>
    <p:sldId xmlns:r="http://schemas.openxmlformats.org/officeDocument/2006/relationships" id="259" r:id="R48ea113532b44d4a"/>
    <p:sldId xmlns:r="http://schemas.openxmlformats.org/officeDocument/2006/relationships" id="260" r:id="R0daec1ec3654490f"/>
    <p:sldId xmlns:r="http://schemas.openxmlformats.org/officeDocument/2006/relationships" id="261" r:id="Rf88d0100dae1468f"/>
    <p:sldId xmlns:r="http://schemas.openxmlformats.org/officeDocument/2006/relationships" id="262" r:id="R354b3d046ce144ae"/>
    <p:sldId xmlns:r="http://schemas.openxmlformats.org/officeDocument/2006/relationships" id="263" r:id="R59de2e8106984f33"/>
    <p:sldId xmlns:r="http://schemas.openxmlformats.org/officeDocument/2006/relationships" id="264" r:id="R1e63709efa454bf9"/>
    <p:sldId xmlns:r="http://schemas.openxmlformats.org/officeDocument/2006/relationships" id="265" r:id="Ra87f42de3369482b"/>
    <p:sldId xmlns:r="http://schemas.openxmlformats.org/officeDocument/2006/relationships" id="266" r:id="R1248919431a94501"/>
    <p:sldId xmlns:r="http://schemas.openxmlformats.org/officeDocument/2006/relationships" id="267" r:id="R7c021df92118464f"/>
    <p:sldId xmlns:r="http://schemas.openxmlformats.org/officeDocument/2006/relationships" id="268" r:id="R0f7d61c255224ddb"/>
    <p:sldId xmlns:r="http://schemas.openxmlformats.org/officeDocument/2006/relationships" id="269" r:id="R790ed5ecdf884d9c"/>
    <p:sldId xmlns:r="http://schemas.openxmlformats.org/officeDocument/2006/relationships" id="270" r:id="Ra6c54ac7304e4046"/>
  </p:sldIdLst>
  <p:sldSz cx="9144000" cy="5143500"/>
  <p:notesSz cx="6858000" cy="9144000"/>
  <p:embeddedFontLst>
    <p:embeddedFont>
      <p:font typeface="Inter"/>
      <p:regular xmlns:r="http://schemas.openxmlformats.org/officeDocument/2006/relationships" r:id="Rdf37a834deb343da"/>
    </p:embeddedFont>
    <p:embeddedFont>
      <p:font typeface="Space Grotesk"/>
      <p:regular xmlns:r="http://schemas.openxmlformats.org/officeDocument/2006/relationships" r:id="Rc8c3e4c0ded041d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fb11d859e34b9c" /><Relationship Type="http://schemas.openxmlformats.org/officeDocument/2006/relationships/slideMaster" Target="/ppt/slideMasters/slideMaster1.xml" Id="R7821f654cf8a4578" /><Relationship Type="http://schemas.openxmlformats.org/officeDocument/2006/relationships/notesMaster" Target="/ppt/notesMasters/notesMaster1.xml" Id="R3e0e188acd7b4086" /><Relationship Type="http://schemas.openxmlformats.org/officeDocument/2006/relationships/presProps" Target="/ppt/presProps.xml" Id="R0be435e2f9284fec" /><Relationship Type="http://schemas.openxmlformats.org/officeDocument/2006/relationships/viewProps" Target="/ppt/viewProps.xml" Id="Rac50435dfd7f48d7" /><Relationship Type="http://schemas.openxmlformats.org/officeDocument/2006/relationships/tableStyles" Target="/ppt/tableStyles.xml" Id="R9f8d76c93d2f49e1" /><Relationship Type="http://schemas.openxmlformats.org/officeDocument/2006/relationships/font" Target="/ppt/fonts/font.dat" Id="Rdf37a834deb343da" /><Relationship Type="http://schemas.openxmlformats.org/officeDocument/2006/relationships/font" Target="/ppt/fonts/font2.dat" Id="Rc8c3e4c0ded041dc" /><Relationship Type="http://schemas.openxmlformats.org/officeDocument/2006/relationships/slide" Target="/ppt/slides/slide1.xml" Id="Ra6208a6ac0534987" /><Relationship Type="http://schemas.openxmlformats.org/officeDocument/2006/relationships/slide" Target="/ppt/slides/slide2.xml" Id="R3b370c42adde4d6a" /><Relationship Type="http://schemas.openxmlformats.org/officeDocument/2006/relationships/slide" Target="/ppt/slides/slide3.xml" Id="Rb0b37955ac6b4653" /><Relationship Type="http://schemas.openxmlformats.org/officeDocument/2006/relationships/slide" Target="/ppt/slides/slide4.xml" Id="R48ea113532b44d4a" /><Relationship Type="http://schemas.openxmlformats.org/officeDocument/2006/relationships/slide" Target="/ppt/slides/slide5.xml" Id="R0daec1ec3654490f" /><Relationship Type="http://schemas.openxmlformats.org/officeDocument/2006/relationships/slide" Target="/ppt/slides/slide6.xml" Id="Rf88d0100dae1468f" /><Relationship Type="http://schemas.openxmlformats.org/officeDocument/2006/relationships/slide" Target="/ppt/slides/slide7.xml" Id="R354b3d046ce144ae" /><Relationship Type="http://schemas.openxmlformats.org/officeDocument/2006/relationships/slide" Target="/ppt/slides/slide8.xml" Id="R59de2e8106984f33" /><Relationship Type="http://schemas.openxmlformats.org/officeDocument/2006/relationships/slide" Target="/ppt/slides/slide9.xml" Id="R1e63709efa454bf9" /><Relationship Type="http://schemas.openxmlformats.org/officeDocument/2006/relationships/slide" Target="/ppt/slides/slide10.xml" Id="Ra87f42de3369482b" /><Relationship Type="http://schemas.openxmlformats.org/officeDocument/2006/relationships/slide" Target="/ppt/slides/slide11.xml" Id="R1248919431a94501" /><Relationship Type="http://schemas.openxmlformats.org/officeDocument/2006/relationships/slide" Target="/ppt/slides/slide12.xml" Id="R7c021df92118464f" /><Relationship Type="http://schemas.openxmlformats.org/officeDocument/2006/relationships/slide" Target="/ppt/slides/slide13.xml" Id="R0f7d61c255224ddb" /><Relationship Type="http://schemas.openxmlformats.org/officeDocument/2006/relationships/slide" Target="/ppt/slides/slide14.xml" Id="R790ed5ecdf884d9c" /><Relationship Type="http://schemas.openxmlformats.org/officeDocument/2006/relationships/slide" Target="/ppt/slides/slide15.xml" Id="Ra6c54ac7304e40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e2027503ab44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54faf205ec4ca6" /><Relationship Type="http://schemas.openxmlformats.org/officeDocument/2006/relationships/notesMaster" Target="/ppt/notesMasters/notesMaster1.xml" Id="R14d0f9ff6e1946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ed094f8de5457f" /><Relationship Type="http://schemas.openxmlformats.org/officeDocument/2006/relationships/notesMaster" Target="/ppt/notesMasters/notesMaster1.xml" Id="R19c29620063b46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62ec7faef342f3" /><Relationship Type="http://schemas.openxmlformats.org/officeDocument/2006/relationships/notesMaster" Target="/ppt/notesMasters/notesMaster1.xml" Id="Rf00a1b27f9224e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d5d0457e98482c" /><Relationship Type="http://schemas.openxmlformats.org/officeDocument/2006/relationships/notesMaster" Target="/ppt/notesMasters/notesMaster1.xml" Id="Ra67f87cbfe5541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71ab4a519e4586" /><Relationship Type="http://schemas.openxmlformats.org/officeDocument/2006/relationships/notesMaster" Target="/ppt/notesMasters/notesMaster1.xml" Id="R944b9437560647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219a4a72264e67" /><Relationship Type="http://schemas.openxmlformats.org/officeDocument/2006/relationships/notesMaster" Target="/ppt/notesMasters/notesMaster1.xml" Id="Ra6d6ff6234f446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a795ca40654c41" /><Relationship Type="http://schemas.openxmlformats.org/officeDocument/2006/relationships/notesMaster" Target="/ppt/notesMasters/notesMaster1.xml" Id="R9c104e34e3b844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132e0f2beb4c4f" /><Relationship Type="http://schemas.openxmlformats.org/officeDocument/2006/relationships/notesMaster" Target="/ppt/notesMasters/notesMaster1.xml" Id="R4518757499264b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8a24c7a06d4650" /><Relationship Type="http://schemas.openxmlformats.org/officeDocument/2006/relationships/notesMaster" Target="/ppt/notesMasters/notesMaster1.xml" Id="R0447f1a9cdc646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9ed9bfd63047a9" /><Relationship Type="http://schemas.openxmlformats.org/officeDocument/2006/relationships/notesMaster" Target="/ppt/notesMasters/notesMaster1.xml" Id="Rdf0abc26d15049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82d83889a646e9" /><Relationship Type="http://schemas.openxmlformats.org/officeDocument/2006/relationships/notesMaster" Target="/ppt/notesMasters/notesMaster1.xml" Id="R96e4da0c36874d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3a028966dd4b63" /><Relationship Type="http://schemas.openxmlformats.org/officeDocument/2006/relationships/notesMaster" Target="/ppt/notesMasters/notesMaster1.xml" Id="R17a47ea6ca8d4e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1acfd98bcb4dcf" /><Relationship Type="http://schemas.openxmlformats.org/officeDocument/2006/relationships/notesMaster" Target="/ppt/notesMasters/notesMaster1.xml" Id="R4e3677722fe549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071de19b694ee9" /><Relationship Type="http://schemas.openxmlformats.org/officeDocument/2006/relationships/notesMaster" Target="/ppt/notesMasters/notesMaster1.xml" Id="R806f41e835f545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782d8299174efb" /><Relationship Type="http://schemas.openxmlformats.org/officeDocument/2006/relationships/notesMaster" Target="/ppt/notesMasters/notesMaster1.xml" Id="Re3a63533a3e645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đề tài và phạm vi trình bày.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LVTN/NguyenAnNam_DH52201078.docx</a:t>
            </a:r>
            <a:endParaRPr/>
          </a:p>
          <a:p xmlns:a="http://schemas.openxmlformats.org/drawingml/2006/main">
            <a:r>
              <a:t>- 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Hiện trạng dùng bảng tính làm dữ liệu phân tán, khó theo dõi thay đổi và tổng hợp theo kỳ.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LVTN/NguyenAnNam_DH52201078.docx</a:t>
            </a:r>
            <a:endParaRPr/>
          </a:p>
          <a:p xmlns:a="http://schemas.openxmlformats.org/drawingml/2006/main">
            <a:r>
              <a:t>- LVTN/screenshots/ch01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GTAS VPP được trình bày theo bốn nhóm chức năng, nhưng dùng chung kỳ đặt hàng, đơn và lịch sử.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LVTN/diagrams/ch02/functional-decomposition.puml</a:t>
            </a:r>
            <a:endParaRPr/>
          </a:p>
          <a:p xmlns:a="http://schemas.openxmlformats.org/drawingml/2006/main">
            <a:r>
              <a:t>- src/Frontend/Blazor/Components/Pages/Dashboard</a:t>
            </a:r>
            <a:endParaRPr/>
          </a:p>
          <a:p xmlns:a="http://schemas.openxmlformats.org/drawingml/2006/main">
            <a:r>
              <a:t>- src/Backend/Application/Services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chỉ giữ các quan hệ quan trọng để trình chiếu. Chi tiết bảng và khóa ngoại nằm trong các sơ đồ logic của luận văn.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LVTN/diagrams/ch03/data-models/01-conceptual-overview.puml</a:t>
            </a:r>
            <a:endParaRPr/>
          </a:p>
          <a:p xmlns:a="http://schemas.openxmlformats.org/drawingml/2006/main">
            <a:r>
              <a:t>- LVTN/diagrams/ch03/data-models/05-logical-period-requests.puml</a:t>
            </a:r>
            <a:endParaRPr/>
          </a:p>
          <a:p xmlns:a="http://schemas.openxmlformats.org/drawingml/2006/main">
            <a:r>
              <a:t>- LVTN/diagrams/ch03/data-models/06-logical-settlement.puml</a:t>
            </a:r>
            <a:endParaRPr/>
          </a:p>
          <a:p xmlns:a="http://schemas.openxmlformats.org/drawingml/2006/main">
            <a:r>
              <a:t>- src/Backend/Domain/VPP/VppPeriod.cs</a:t>
            </a:r>
            <a:endParaRPr/>
          </a:p>
          <a:p xmlns:a="http://schemas.openxmlformats.org/drawingml/2006/main">
            <a:r>
              <a:t>- src/Backend/Domain/VPP/Settlement.cs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Luồng chính đi từ tạo nhu cầu, xử lý ngoại lệ đến chốt kỳ. Mỗi bước giữ trạng thái và lịch sử riêng để truy vết.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LVTN/screenshots/ch03/ui-order-create.png</a:t>
            </a:r>
            <a:endParaRPr/>
          </a:p>
          <a:p xmlns:a="http://schemas.openxmlformats.org/drawingml/2006/main">
            <a:r>
              <a:t>- LVTN/screenshots/ch03/atlas/07-supplement-approval.png</a:t>
            </a:r>
            <a:endParaRPr/>
          </a:p>
          <a:p xmlns:a="http://schemas.openxmlformats.org/drawingml/2006/main">
            <a:r>
              <a:t>- src/Frontend/Blazor/Components/Pages/Dashboard/Periods</a:t>
            </a:r>
            <a:endParaRPr/>
          </a:p>
          <a:p xmlns:a="http://schemas.openxmlformats.org/drawingml/2006/main">
            <a:r>
              <a:t>- src/Backend/Application/Services/Settlement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Mỗi kỳ đặt hàng có lịch riêng; hệ thống có thể mở trước nhiều kỳ nhưng vẫn quản lý trạng thái độc lập.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src/Backend/Domain/VPP/VppPeriod.cs</a:t>
            </a:r>
            <a:endParaRPr/>
          </a:p>
          <a:p xmlns:a="http://schemas.openxmlformats.org/drawingml/2006/main">
            <a:r>
              <a:t>- src/Frontend/Blazor/Components/Pages/Dashboard/Periods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Đơn bổ sung và điều chỉnh sau chốt đi qua luồng phê duyệt riêng, không ghi đè lịch sử đã xác nhận.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src/Backend/Application/Services</a:t>
            </a:r>
            <a:endParaRPr/>
          </a:p>
          <a:p xmlns:a="http://schemas.openxmlformats.org/drawingml/2006/main">
            <a:r>
              <a:t>- src/Frontend/Blazor/Components/Pages/Dashboard/Periods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Kiến trúc tách trình duyệt, Blazor, Web API, Application và SQL Server để giữ trách nhiệm rõ ràng.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docs/architecture/ARCH-001-MODULE-MAP.md</a:t>
            </a:r>
            <a:endParaRPr/>
          </a:p>
          <a:p xmlns:a="http://schemas.openxmlformats.org/drawingml/2006/main">
            <a:r>
              <a:t>- src/Backend</a:t>
            </a:r>
            <a:endParaRPr/>
          </a:p>
          <a:p xmlns:a="http://schemas.openxmlformats.org/drawingml/2006/main">
            <a:r>
              <a:t>- src/Frontend/Blazor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Quyền truy cập, ràng buộc dữ liệu, dòng sự kiện và phiên bản bản chốt cùng bảo vệ tính toàn vẹn.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src/Backend/Infrastructure/Persistence</a:t>
            </a:r>
            <a:endParaRPr/>
          </a:p>
          <a:p xmlns:a="http://schemas.openxmlformats.org/drawingml/2006/main">
            <a:r>
              <a:t>- src/Backend/Domain</a:t>
            </a:r>
            <a:endParaRPr/>
          </a:p>
          <a:p xmlns:a="http://schemas.openxmlformats.org/drawingml/2006/main">
            <a:r>
              <a:t>- tests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dùng chọn kỳ đang mở hoặc kỳ được phép đặt trước, thay vì phụ thuộc một kỳ cố định.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src/Frontend/Blazor/Components/Pages/Dashboard</a:t>
            </a:r>
            <a:endParaRPr/>
          </a:p>
          <a:p xmlns:a="http://schemas.openxmlformats.org/drawingml/2006/main">
            <a:r>
              <a:t>- src/Backend/Application/Services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Chốt kỳ tổng hợp đơn, áp bảng giá và tính trước VAT, VAT, tổng giá trị trước khi xác nhận.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src/Backend/Domain/VPP/Settlement.cs</a:t>
            </a:r>
            <a:endParaRPr/>
          </a:p>
          <a:p xmlns:a="http://schemas.openxmlformats.org/drawingml/2006/main">
            <a:r>
              <a:t>- src/Backend/Application/Services</a:t>
            </a:r>
            <a:endParaRPr/>
          </a:p>
          <a:p xmlns:a="http://schemas.openxmlformats.org/drawingml/2006/main">
            <a:r>
              <a:t>- src/Frontend/Blazor/Components/Pages/Dashboard/Periods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Cấu hình mới chỉ áp dụng cho kỳ tạo sau đó; mỗi kỳ đã tạo giữ nguyên lịch để bảo toàn lịch sử.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src/Backend/Domain/VPP/VppPeriod.cs</a:t>
            </a:r>
            <a:endParaRPr/>
          </a:p>
          <a:p xmlns:a="http://schemas.openxmlformats.org/drawingml/2006/main">
            <a:r>
              <a:t>- src/Backend/Application/Services</a:t>
            </a:r>
            <a:endParaRPr/>
          </a:p>
          <a:p xmlns:a="http://schemas.openxmlformats.org/drawingml/2006/main">
            <a:r>
              <a:t>- src/Frontend/Blazor/Components/Pages/Admin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quả chuyển dữ liệu bảng tính sang luồng dữ liệu có trạng thái, lịch sử và báo cáo tập trung.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LVTN/NguyenAnNam_DH52201078.docx</a:t>
            </a:r>
            <a:endParaRPr/>
          </a:p>
          <a:p xmlns:a="http://schemas.openxmlformats.org/drawingml/2006/main">
            <a:r>
              <a:t>- src/Frontend/Blazor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Đánh giá kết quả hiện tại và các hướng phát triển ngoài phạm vi chức năng đã hoàn thành.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LVTN/NguyenAnNam_DH52201078.docx</a:t>
            </a:r>
            <a:endParaRPr/>
          </a:p>
          <a:p xmlns:a="http://schemas.openxmlformats.org/drawingml/2006/main">
            <a:r>
              <a:t>- docs/execution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Thứ tự demo: đặt hàng theo kỳ, duyệt đơn bổ sung, chốt kỳ và xuất báo cáo.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src/Frontend/Blazor/Components/Pages/Dashboard</a:t>
            </a:r>
            <a:endParaRPr/>
          </a:p>
          <a:p xmlns:a="http://schemas.openxmlformats.org/drawingml/2006/main">
            <a:r>
              <a:t>- src/Frontend/Blazor/Components/Pages/Library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31789d4a347e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9b84653a824054" /><Relationship Type="http://schemas.openxmlformats.org/officeDocument/2006/relationships/slideLayout" Target="/ppt/slideLayouts/slideLayout1.xml" Id="R839975d7e38b431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975d7e38b431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7ba5abf384abe" /><Relationship Type="http://schemas.openxmlformats.org/officeDocument/2006/relationships/notesSlide" Target="/ppt/notesSlides/notesSlide1.xml" Id="Rafe9c8792f6a43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78e1598954571" /><Relationship Type="http://schemas.openxmlformats.org/officeDocument/2006/relationships/image" Target="/ppt/media/image.png" Id="Rfebd2958db3747b7" /><Relationship Type="http://schemas.openxmlformats.org/officeDocument/2006/relationships/image" Target="/ppt/media/image2.png" Id="Rac89907597ae4d0d" /><Relationship Type="http://schemas.openxmlformats.org/officeDocument/2006/relationships/notesSlide" Target="/ppt/notesSlides/notesSlide2.xml" Id="Rcf6d397af44b40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4bff4ca15405c" /><Relationship Type="http://schemas.openxmlformats.org/officeDocument/2006/relationships/notesSlide" Target="/ppt/notesSlides/notesSlide3.xml" Id="R1c0bc720827148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08f48d1364623" /><Relationship Type="http://schemas.openxmlformats.org/officeDocument/2006/relationships/image" Target="/ppt/media/image3.png" Id="Rb6d71804145b45f8" /><Relationship Type="http://schemas.openxmlformats.org/officeDocument/2006/relationships/notesSlide" Target="/ppt/notesSlides/notesSlide4.xml" Id="Rba04ffd1d21446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fd892cec14731" /><Relationship Type="http://schemas.openxmlformats.org/officeDocument/2006/relationships/image" Target="/ppt/media/image4.png" Id="R7a75211ccb5d4260" /><Relationship Type="http://schemas.openxmlformats.org/officeDocument/2006/relationships/image" Target="/ppt/media/image5.png" Id="R7709b0bb927b49b0" /><Relationship Type="http://schemas.openxmlformats.org/officeDocument/2006/relationships/image" Target="/ppt/media/image6.png" Id="R7ed25f86c8ad44ad" /><Relationship Type="http://schemas.openxmlformats.org/officeDocument/2006/relationships/notesSlide" Target="/ppt/notesSlides/notesSlide5.xml" Id="R87b94602ea174f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75aedd68b40c5" /><Relationship Type="http://schemas.openxmlformats.org/officeDocument/2006/relationships/notesSlide" Target="/ppt/notesSlides/notesSlide6.xml" Id="R74dd37ff3a5a41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e2495e2ac4844" /><Relationship Type="http://schemas.openxmlformats.org/officeDocument/2006/relationships/notesSlide" Target="/ppt/notesSlides/notesSlide7.xml" Id="Rf7de351dc50f48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ae19998dd4334" /><Relationship Type="http://schemas.openxmlformats.org/officeDocument/2006/relationships/notesSlide" Target="/ppt/notesSlides/notesSlide8.xml" Id="Rcd00916ce2594f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af938b7534723" /><Relationship Type="http://schemas.openxmlformats.org/officeDocument/2006/relationships/notesSlide" Target="/ppt/notesSlides/notesSlide9.xml" Id="R958c934828f442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1ad5e31f644a6" /><Relationship Type="http://schemas.openxmlformats.org/officeDocument/2006/relationships/image" Target="/ppt/media/image7.png" Id="R531838d35f5a4eb7" /><Relationship Type="http://schemas.openxmlformats.org/officeDocument/2006/relationships/notesSlide" Target="/ppt/notesSlides/notesSlide10.xml" Id="R96be0bd04ebf4b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d7c1806ed4886" /><Relationship Type="http://schemas.openxmlformats.org/officeDocument/2006/relationships/image" Target="/ppt/media/image8.png" Id="R6d90458b5e3a438f" /><Relationship Type="http://schemas.openxmlformats.org/officeDocument/2006/relationships/notesSlide" Target="/ppt/notesSlides/notesSlide11.xml" Id="Rce03521ffdf941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bc768f2a34b2b" /><Relationship Type="http://schemas.openxmlformats.org/officeDocument/2006/relationships/notesSlide" Target="/ppt/notesSlides/notesSlide12.xml" Id="Rcf0039a00c7b4d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93ecb4e98441a" /><Relationship Type="http://schemas.openxmlformats.org/officeDocument/2006/relationships/image" Target="/ppt/media/image9.png" Id="Rad54c8e769b2486a" /><Relationship Type="http://schemas.openxmlformats.org/officeDocument/2006/relationships/image" Target="/ppt/media/image10.png" Id="Rb2e893f590e6482f" /><Relationship Type="http://schemas.openxmlformats.org/officeDocument/2006/relationships/image" Target="/ppt/media/image11.png" Id="R59b7c25ac6d74e21" /><Relationship Type="http://schemas.openxmlformats.org/officeDocument/2006/relationships/notesSlide" Target="/ppt/notesSlides/notesSlide13.xml" Id="R15aaa1dd39a94c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3deb459b545f5" /><Relationship Type="http://schemas.openxmlformats.org/officeDocument/2006/relationships/notesSlide" Target="/ppt/notesSlides/notesSlide14.xml" Id="R1a9ddf548ba543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ebf180e874eab" /><Relationship Type="http://schemas.openxmlformats.org/officeDocument/2006/relationships/notesSlide" Target="/ppt/notesSlides/notesSlide15.xml" Id="R1db7226134df4b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2619AF5A-8B07-4F20-99F0-D54BBC25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25908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502C465-6C22-4268-950E-1D2AC967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0"/>
            <a:ext cx="857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AB88BD7-F4A6-45B7-B648-8C5C4256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-857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10BDA20-8F19-42EF-BA10-7FD1FDCE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62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5C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380D0E8-6424-4108-AB2C-BEE55427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4286250" cy="123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41"/>
              </a:lnSpc>
              <a:buNone/>
            </a:pPr>
            <a:r>
              <a:rPr sz="855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LUẬN VĂN TỐT NGHIỆP  ·  2026</a:t>
            </a:r>
            <a:endParaRPr sz="855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A4DD9A4-6203-4831-88DC-D279157A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95375"/>
            <a:ext cx="5524500" cy="1185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3064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XÂY DỰNG WEBSITE</a:t>
            </a:r>
          </a:p>
          <a:p xmlns:a="http://schemas.openxmlformats.org/drawingml/2006/main">
            <a:pPr marL="0" algn="l">
              <a:buNone/>
            </a:pPr>
            <a:r>
              <a:rPr sz="3064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QUẢN LÝ VĂN PHÒNG PHẨM</a:t>
            </a:r>
          </a:p>
          <a:p xmlns:a="http://schemas.openxmlformats.org/drawingml/2006/main">
            <a:pPr marL="0" algn="l">
              <a:buNone/>
            </a:pPr>
            <a:r>
              <a:rPr sz="3064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PHONG PHÚ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C067249-DB2A-4B8E-9DFB-2D4F1AEA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428625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19"/>
              </a:lnSpc>
              <a:buNone/>
            </a:pPr>
            <a:r>
              <a:rPr sz="926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NGUYỄN AN NAM  ·  DH52201078</a:t>
            </a:r>
            <a:endParaRPr sz="926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076CA12-CC12-4646-9443-D0521D49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428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862"/>
              </a:lnSpc>
              <a:buNone/>
            </a:pPr>
            <a:r>
              <a:rPr sz="784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GVHD: ThS. VIÊN THANH NHÃ</a:t>
            </a:r>
            <a:endParaRPr sz="784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5BD79F1-B43B-4B10-9E18-1F86DD1B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72025"/>
            <a:ext cx="5715000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784"/>
              </a:lnSpc>
              <a:buNone/>
            </a:pPr>
            <a:r>
              <a:rPr sz="713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TRƯỜNG ĐẠI HỌC CÔNG NGHỆ SÀI GÒN  ·  KHOA CNTT</a:t>
            </a:r>
            <a:endParaRPr sz="713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9E9A7A-C58D-4FBB-AB27-0E30F9F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32"/>
              </a:lnSpc>
              <a:buNone/>
            </a:pPr>
            <a:r>
              <a:rPr sz="2423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GTAS</a:t>
            </a:r>
            <a:endParaRPr sz="2423"/>
          </a:p>
          <a:p xmlns:a="http://schemas.openxmlformats.org/drawingml/2006/main">
            <a:pPr marL="0" indent="0" algn="l">
              <a:lnSpc>
                <a:spcPts val="2132"/>
              </a:lnSpc>
              <a:buNone/>
            </a:pPr>
            <a:r>
              <a:rPr sz="2423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VPP</a:t>
            </a:r>
            <a:endParaRPr sz="2423"/>
          </a:p>
        </p:txBody>
      </p:sp>
    </p:spTree>
    <p:extLst>
      <p:ext uri="{BB962C8B-B14F-4D97-AF65-F5344CB8AC3E}">
        <p14:creationId xmlns:p14="http://schemas.microsoft.com/office/powerpoint/2010/main" val="1903488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7579522-837B-4480-B33C-4A9C4F04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-12382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5C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54EE601-426F-4A0D-B55B-0E9AE9EB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2F07452-64C0-4993-AA4A-BDCD3234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3333750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862"/>
              </a:lnSpc>
              <a:buNone/>
            </a:pPr>
            <a:r>
              <a:rPr sz="784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01  ·  BÀI TOÁN THỰC TẾ</a:t>
            </a:r>
            <a:endParaRPr sz="784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1C03B8B-9D66-4A8F-9E5F-1E5FA8F1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"/>
            <a:ext cx="723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280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Một quy trình đang bị chia</a:t>
            </a:r>
          </a:p>
          <a:p xmlns:a="http://schemas.openxmlformats.org/drawingml/2006/main">
            <a:pPr marL="0" algn="l">
              <a:buNone/>
            </a:pPr>
            <a:r>
              <a:rPr sz="2280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thành hàng chục bảng tính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77FB15D-138F-4C87-8326-7BFA37AE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905500" cy="1476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13"/>
              </a:lnSpc>
              <a:buNone/>
            </a:pPr>
            <a:r>
              <a:rPr sz="89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Nhập liệu vẫn chạy — nhưng trạng thái, quyền và lịch sử thay đổi không có một nguồn chung.</a:t>
            </a:r>
            <a:endParaRPr sz="891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9E5878B-2EE3-42FB-A4CE-A6B2E5A4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1238250" cy="481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591"/>
              </a:lnSpc>
              <a:buNone/>
            </a:pPr>
            <a:r>
              <a:rPr sz="3990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53</a:t>
            </a:r>
            <a:endParaRPr sz="399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7AC68B4-F4A4-492A-9AF4-C457EFC1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95563"/>
            <a:ext cx="1571625" cy="119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01"/>
              </a:lnSpc>
              <a:buNone/>
            </a:pPr>
            <a:r>
              <a:rPr sz="819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trang tính theo đơn vị</a:t>
            </a:r>
            <a:endParaRPr sz="819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B501CB9-EF89-4C63-B68D-01545279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28950"/>
            <a:ext cx="1238250" cy="481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591"/>
              </a:lnSpc>
              <a:buNone/>
            </a:pPr>
            <a:r>
              <a:rPr sz="3990" b="1">
                <a:solidFill>
                  <a:srgbClr val="F7D75C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04</a:t>
            </a:r>
            <a:endParaRPr sz="399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4173323-0C08-4D8C-A103-6D3123F5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6638"/>
            <a:ext cx="1714500" cy="119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01"/>
              </a:lnSpc>
              <a:buNone/>
            </a:pPr>
            <a:r>
              <a:rPr sz="819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biểu mẫu theo tháng</a:t>
            </a:r>
            <a:endParaRPr sz="819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4336394-AD9E-4DF3-A684-A15FA817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076"/>
              </a:lnSpc>
              <a:buNone/>
            </a:pPr>
            <a:r>
              <a:rPr sz="2209" b="1">
                <a:solidFill>
                  <a:srgbClr val="FF4D3D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#REF!</a:t>
            </a:r>
            <a:endParaRPr sz="2209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294815D-FA9E-4292-B8CF-8228DBEB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95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35"/>
              </a:lnSpc>
              <a:buNone/>
            </a:pPr>
            <a:r>
              <a:rPr sz="748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Một công thức lỗi có thể lan sang bảng tổng hợp.</a:t>
            </a:r>
            <a:endParaRPr sz="748"/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d2958db3747b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62250" y="2238375"/>
            <a:ext cx="5810250" cy="1571625"/>
          </a:xfrm>
          <a:prstGeom xmlns:a="http://schemas.openxmlformats.org/drawingml/2006/main" prst="rect">
            <a:avLst/>
          </a:prstGeom>
        </p:spPr>
      </p:pic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9907597ae4d0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62250" y="3905250"/>
            <a:ext cx="5810250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261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26D3FFB-1ED2-43FE-8624-5029A115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02  ·  SƠ ĐỒ CHỨC NĂNG</a:t>
            </a:r>
            <a:endParaRPr sz="819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C6459A1-9C49-4BE7-BA20-AB12D3F9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636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Bốn nhóm chức năng</a:t>
            </a:r>
          </a:p>
          <a:p xmlns:a="http://schemas.openxmlformats.org/drawingml/2006/main">
            <a:pPr marL="0" algn="l">
              <a:buNone/>
            </a:pPr>
            <a:r>
              <a:rPr sz="2636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cùng dùng một vòng đời dữ liệu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6701DDE-2437-4BCB-BD91-1BFA904A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-809625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7E559D2-05D7-4A86-862B-41AF4FF1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3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55"/>
              </a:lnSpc>
              <a:buNone/>
            </a:pPr>
            <a:r>
              <a:rPr sz="1140" b="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TRONG</a:t>
            </a:r>
            <a:endParaRPr sz="1140"/>
          </a:p>
          <a:p xmlns:a="http://schemas.openxmlformats.org/drawingml/2006/main">
            <a:pPr marL="0" indent="0" algn="l">
              <a:lnSpc>
                <a:spcPts val="1455"/>
              </a:lnSpc>
              <a:buNone/>
            </a:pPr>
            <a:r>
              <a:rPr sz="1140" b="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PHẠM VI</a:t>
            </a:r>
            <a:endParaRPr sz="114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165ED7F-2708-4019-A28E-CA339DB0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9"/>
              </a:lnSpc>
              <a:buNone/>
            </a:pPr>
            <a:r>
              <a:rPr sz="1496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01</a:t>
            </a:r>
            <a:endParaRPr sz="1496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C28809B-B789-496F-A299-C9E9056B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6693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7"/>
              </a:lnSpc>
              <a:buNone/>
            </a:pPr>
            <a:r>
              <a:rPr sz="1104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Đặt hàng</a:t>
            </a:r>
            <a:endParaRPr sz="1104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1A13D7F-05A8-45BD-96D1-7C51168F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78"/>
              </a:lnSpc>
              <a:buNone/>
            </a:pPr>
            <a:r>
              <a:rPr sz="89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chọn kỳ · tạo hoặc sao chép · sửa/hủy</a:t>
            </a:r>
            <a:endParaRPr sz="891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257BBE2-9363-4882-A1C8-92CCCC14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1928813"/>
            <a:ext cx="9525" cy="738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0C3F283-39FF-4A7A-8BDA-BA595349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57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9"/>
              </a:lnSpc>
              <a:buNone/>
            </a:pPr>
            <a:r>
              <a:rPr sz="1496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02</a:t>
            </a:r>
            <a:endParaRPr sz="1496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A56C6D5-763A-4322-8E1F-EDDFBE39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6693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7"/>
              </a:lnSpc>
              <a:buNone/>
            </a:pPr>
            <a:r>
              <a:rPr sz="1104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Duyệt ngoại lệ</a:t>
            </a:r>
            <a:endParaRPr sz="1104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A65BB2-1449-4A15-89E7-17C89F7B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1935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78"/>
              </a:lnSpc>
              <a:buNone/>
            </a:pPr>
            <a:r>
              <a:rPr sz="89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đơn bổ sung · phê duyệt · theo dõi</a:t>
            </a:r>
            <a:endParaRPr sz="891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1B0E198-69AE-4F64-98D7-0CC9664A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28813"/>
            <a:ext cx="9525" cy="738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0A274BF-EBA2-4786-B64B-1D34FA92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57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9"/>
              </a:lnSpc>
              <a:buNone/>
            </a:pPr>
            <a:r>
              <a:rPr sz="1496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03</a:t>
            </a:r>
            <a:endParaRPr sz="1496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05C25ED-3923-43A3-9881-9F61359A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6693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7"/>
              </a:lnSpc>
              <a:buNone/>
            </a:pPr>
            <a:r>
              <a:rPr sz="1104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Vận hành kỳ</a:t>
            </a:r>
            <a:endParaRPr sz="1104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86815E5-CADA-40F3-8B64-D4D89393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mở/đóng lịch · rà soát · chốt kỳ</a:t>
            </a:r>
            <a:endParaRPr sz="855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2336CB7-96B5-4438-B67E-0E0613C4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8" y="1928813"/>
            <a:ext cx="9525" cy="738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F9430CD-34CA-4F6A-969C-83D76F7F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9"/>
              </a:lnSpc>
              <a:buNone/>
            </a:pPr>
            <a:r>
              <a:rPr sz="1496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04</a:t>
            </a:r>
            <a:endParaRPr sz="1496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BE9807E-AC6D-496F-9F2E-9F659B8D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6693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37"/>
              </a:lnSpc>
              <a:buNone/>
            </a:pPr>
            <a:r>
              <a:rPr sz="1104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Dữ liệu &amp; kiểm soát</a:t>
            </a:r>
            <a:endParaRPr sz="1104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BBC95B4-49F0-47A2-BC3E-C88BF404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78"/>
              </a:lnSpc>
              <a:buNone/>
            </a:pPr>
            <a:r>
              <a:rPr sz="89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danh mục · bảng giá · quyền · báo cáo</a:t>
            </a:r>
            <a:endParaRPr sz="891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BB42577-DA83-4C9B-A5BF-621D2194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71875"/>
            <a:ext cx="9144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BF9163-B49A-4245-96DF-E78D587F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952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BA VAI TRÒ</a:t>
            </a:r>
            <a:endParaRPr sz="855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8A5FAE9-477F-4B16-BFA6-0DF4AD38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547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773"/>
              </a:lnSpc>
              <a:buNone/>
            </a:pPr>
            <a:r>
              <a:rPr sz="1389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Nhân viên   ·   Quản lý   ·   Quản trị hệ thống</a:t>
            </a:r>
            <a:endParaRPr sz="1389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FC789A-3569-4A6D-8F2B-8F452852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F7D75C">
                    <a:alpha val="99000"/>
                  </a:srgbClr>
                </a:solidFill>
                <a:latin typeface="Inter"/>
                <a:ea typeface="Inter"/>
                <a:cs typeface="Inter"/>
              </a:rPr>
              <a:t>MỘT NGUỒN DỮ LIỆU</a:t>
            </a:r>
            <a:endParaRPr sz="819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BD79726-82EA-4D1A-B4A2-A0060A93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Tách quyền theo vai trò</a:t>
            </a:r>
            <a:endParaRPr sz="819"/>
          </a:p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Lưu trạng thái và lịch sử</a:t>
            </a:r>
            <a:endParaRPr sz="819"/>
          </a:p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Không ghi đè bản chốt</a:t>
            </a:r>
            <a:endParaRPr sz="819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5F93E53-1C3C-4013-81D9-3E45F3AE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sz="748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14FCB84-2238-43AD-B451-935A53F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</p:spTree>
    <p:extLst>
      <p:ext uri="{BB962C8B-B14F-4D97-AF65-F5344CB8AC3E}">
        <p14:creationId xmlns:p14="http://schemas.microsoft.com/office/powerpoint/2010/main" val="1089238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F9E1358-0F54-4852-8163-9A1B0E96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428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03  ·  MÔ HÌNH DỮ LIỆU</a:t>
            </a:r>
            <a:endParaRPr sz="819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3D08DB4-2800-4D12-89FA-81B2A059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100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Dữ liệu xoay quanh</a:t>
            </a:r>
          </a:p>
          <a:p xmlns:a="http://schemas.openxmlformats.org/drawingml/2006/main">
            <a:pPr marL="0" algn="l">
              <a:buNone/>
            </a:pPr>
            <a:r>
              <a:rPr sz="2100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kỳ, đơn và bản chốt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AC262C-AD90-42C9-8030-0992280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0688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82"/>
              </a:lnSpc>
              <a:buNone/>
            </a:pPr>
            <a:r>
              <a:rPr sz="1710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01</a:t>
            </a:r>
            <a:endParaRPr sz="171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202789A-0E8A-4BA2-AADD-BD172CCC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1728788"/>
            <a:ext cx="24765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Tổ chức &amp; quyền</a:t>
            </a:r>
            <a:endParaRPr sz="1033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71914A6-B9CA-4AE7-A838-3E370B57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82"/>
              </a:lnSpc>
              <a:buNone/>
            </a:pPr>
            <a:r>
              <a:rPr sz="1710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02</a:t>
            </a:r>
            <a:endParaRPr sz="171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180FE92-D19C-49A2-BE1C-461382D0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2324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Kỳ, đơn và chi tiết</a:t>
            </a:r>
            <a:endParaRPr sz="1033"/>
          </a:p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được liên kết xuyên suốt</a:t>
            </a:r>
            <a:endParaRPr sz="1033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73C5BC-A717-4A90-8529-F4D7C8D9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4188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82"/>
              </a:lnSpc>
              <a:buNone/>
            </a:pPr>
            <a:r>
              <a:rPr sz="1710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03</a:t>
            </a:r>
            <a:endParaRPr sz="171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65B828B-9760-43F8-B490-8DC23180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3062288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Nhà cung cấp, bảng giá</a:t>
            </a:r>
            <a:endParaRPr sz="1033"/>
          </a:p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được lưu tại lúc chốt</a:t>
            </a:r>
            <a:endParaRPr sz="1033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899692A-E4DA-4994-B3E0-9CEB6413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7" y="500063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75C"/>
          </a:solidFill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53D4177-9789-407B-B6C9-680AF1C0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13" y="528638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091"/>
              </a:lnSpc>
              <a:buNone/>
            </a:pPr>
            <a:r>
              <a:rPr sz="855" b="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ERD KHÁI NIỆM</a:t>
            </a:r>
            <a:endParaRPr sz="855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AC8B358-101B-4B82-B28A-CF1F5D8F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3690937"/>
            <a:ext cx="466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Bản chốt liên kết ngược tới kỳ, đơn và bảng giá đã dùng.</a:t>
            </a:r>
            <a:endParaRPr sz="855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C44E44B-46C1-4231-935E-3698EAF2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sz="748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FA0B335-01EA-44C3-B691-32C73399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71804145b45f8"/>
          <a:stretch xmlns:a="http://schemas.openxmlformats.org/drawingml/2006/main"/>
        </p:blipFill>
        <p:spPr>
          <a:xfrm xmlns:a="http://schemas.openxmlformats.org/drawingml/2006/main">
            <a:off x="3929063" y="919559"/>
            <a:ext cx="4810125" cy="24852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026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2AD4D0C-CEDE-4761-8EEF-C957505B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F6F2E9"/>
            </a:solidFill>
            <a:prstDash val="solid"/>
          </a:ln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830032D-6171-4084-A8A1-DC89B66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04925"/>
            <a:ext cx="819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4F4609D-19DF-4D43-ABC2-0BAD1B4B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862"/>
              </a:lnSpc>
              <a:buNone/>
            </a:pPr>
            <a:r>
              <a:rPr sz="784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04  ·  LUỒNG NGHIỆP VỤ</a:t>
            </a:r>
            <a:endParaRPr sz="784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0133EE5-1958-435C-B887-6D435DA8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1959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Từ nhu cầu đến bản chốt</a:t>
            </a:r>
          </a:p>
          <a:p xmlns:a="http://schemas.openxmlformats.org/drawingml/2006/main">
            <a:pPr marL="0" algn="l">
              <a:buNone/>
            </a:pPr>
            <a:r>
              <a:rPr sz="1959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có thể truy vết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2AC7C62-62E9-47E5-A554-FEBA01E3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862"/>
              </a:lnSpc>
              <a:buNone/>
            </a:pPr>
            <a:r>
              <a:rPr sz="784" b="1">
                <a:solidFill>
                  <a:srgbClr val="00A67E"/>
                </a:solidFill>
                <a:latin typeface="Inter"/>
                <a:ea typeface="Inter"/>
                <a:cs typeface="Inter"/>
              </a:rPr>
              <a:t>01 · ĐẶT ĐƠN</a:t>
            </a:r>
            <a:endParaRPr sz="784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73B623-73E8-4F8B-85DF-4A8DEE3A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8"/>
              </a:lnSpc>
              <a:buNone/>
            </a:pPr>
            <a:r>
              <a:rPr sz="121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Nhân viên chọn kỳ và lập nhu cầu.</a:t>
            </a:r>
            <a:endParaRPr sz="1211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80AEAEB-8F4E-4D1D-AD10-9593196A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0495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F6F2E9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6D518DF-8F9F-4F53-802A-EB6DA65C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04950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97"/>
              </a:lnSpc>
              <a:buNone/>
            </a:pPr>
            <a:r>
              <a:rPr sz="900" b="1">
                <a:solidFill>
                  <a:srgbClr val="00A67E"/>
                </a:solidFill>
                <a:latin typeface="Space Grotesk"/>
                <a:ea typeface="Space Grotesk"/>
                <a:cs typeface="Space Grotesk"/>
              </a:rPr>
              <a:t>02 · DUYỆT BỔ SUNG</a:t>
            </a:r>
            <a:endParaRPr sz="998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84935CF-4EDE-4C97-878B-5142F66B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F6F2E9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50E4B61-F452-4690-AC7C-EA5B6814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308"/>
              </a:lnSpc>
              <a:buNone/>
            </a:pPr>
            <a:r>
              <a:rPr sz="900" b="0">
                <a:solidFill>
                  <a:srgbClr val="0B2235"/>
                </a:solidFill>
                <a:latin typeface="Space Grotesk"/>
                <a:ea typeface="Space Grotesk"/>
                <a:cs typeface="Space Grotesk"/>
              </a:rPr>
              <a:t>Quản lý xử lý ngoại lệ sau ngày đóng.</a:t>
            </a:r>
            <a:endParaRPr sz="2565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BA562CB4-8F3A-4690-8691-EACB0110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862"/>
              </a:lnSpc>
              <a:buNone/>
            </a:pPr>
            <a:r>
              <a:rPr sz="784" b="1">
                <a:solidFill>
                  <a:srgbClr val="00A67E"/>
                </a:solidFill>
                <a:latin typeface="Inter"/>
                <a:ea typeface="Inter"/>
                <a:cs typeface="Inter"/>
              </a:rPr>
              <a:t>03 · CHỐT KỲ</a:t>
            </a:r>
            <a:endParaRPr sz="784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5BD9546-2730-427B-8BBB-BD107068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8"/>
              </a:lnSpc>
              <a:buNone/>
            </a:pPr>
            <a:r>
              <a:rPr sz="121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Rà đơn, áp bảng giá và xác nhận bản chốt.</a:t>
            </a:r>
            <a:endParaRPr sz="1211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3E25B5BB-0F65-4440-9AAB-3D181362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05</a:t>
            </a:r>
            <a:endParaRPr sz="748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A22D9882-5A31-441E-83E7-FA31AF25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5211ccb5d4260"/>
          <a:srcRect xmlns:a="http://schemas.openxmlformats.org/drawingml/2006/main" l="15186" t="0" r="151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209800"/>
            <a:ext cx="2476500" cy="200025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9b0bb927b49b0"/>
          <a:srcRect xmlns:a="http://schemas.openxmlformats.org/drawingml/2006/main" l="7211" t="0" r="72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209800"/>
            <a:ext cx="2476500" cy="200025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25f86c8ad44ad"/>
          <a:srcRect xmlns:a="http://schemas.openxmlformats.org/drawingml/2006/main" l="16726" t="0" r="167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209800"/>
            <a:ext cx="2476500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28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0BDC50-D058-46A0-BF60-79395856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05  ·  KỲ ĐẶT HÀNG</a:t>
            </a:r>
            <a:endParaRPr sz="819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10958F7-14BE-4F1A-8D29-BCFC347E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4762500" cy="4524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779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Mỗi kỳ có lịch riêng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E5C56B8-C2AE-4506-8E9D-044B3D4C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Mặc định mở trước 3 kỳ · có thể cấu hình từ 0 đến 12</a:t>
            </a:r>
            <a:endParaRPr sz="1033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77ACC30-EC48-496F-AC3F-973F37F8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1975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4637"/>
              </a:lnSpc>
              <a:buNone/>
            </a:pPr>
            <a:r>
              <a:rPr sz="3634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0–12</a:t>
            </a:r>
            <a:endParaRPr sz="3634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283AA5-B3E2-44BC-A68E-698497C5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133475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92"/>
              </a:lnSpc>
              <a:buNone/>
            </a:pPr>
            <a:r>
              <a:rPr sz="819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SỐ KỲ MỞ TRƯỚC</a:t>
            </a:r>
            <a:endParaRPr sz="819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06DE264-21E7-412E-9A2C-80E738A8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719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C0BF4F4-64A8-4280-A777-1BA925E3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265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3D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3BCA722-53C3-4DA4-A5B7-91AC9F44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504825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955"/>
              </a:lnSpc>
              <a:buNone/>
            </a:pPr>
            <a:r>
              <a:rPr sz="1532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08</a:t>
            </a:r>
            <a:endParaRPr sz="1532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C4EB657-E332-49B5-AD36-57AB5343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280987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82"/>
              </a:lnSpc>
              <a:buNone/>
            </a:pPr>
            <a:r>
              <a:rPr sz="1710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08/2026</a:t>
            </a:r>
            <a:endParaRPr sz="171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7DDC594-8B1A-4E9C-8DD0-2DCF763A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MỞ 05/08</a:t>
            </a:r>
            <a:endParaRPr sz="855"/>
          </a:p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ĐÓNG 05/09</a:t>
            </a:r>
            <a:endParaRPr sz="855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6464B05-6122-4CEC-9FBB-81EFF120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7931299-725C-4387-B4A0-4004315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19325"/>
            <a:ext cx="504825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955"/>
              </a:lnSpc>
              <a:buNone/>
            </a:pPr>
            <a:r>
              <a:rPr sz="1532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09</a:t>
            </a:r>
            <a:endParaRPr sz="1532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50DD63-7EF1-4123-BD51-204BC440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280987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82"/>
              </a:lnSpc>
              <a:buNone/>
            </a:pPr>
            <a:r>
              <a:rPr sz="1710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09/2026</a:t>
            </a:r>
            <a:endParaRPr sz="171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32B0A4B-6040-4219-B045-C3198651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MỞ 05/08</a:t>
            </a:r>
            <a:endParaRPr sz="855"/>
          </a:p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ĐÓNG 05/10</a:t>
            </a:r>
            <a:endParaRPr sz="855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A02A928-5FED-4034-AA18-2005EE76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5265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6EBBEA2-3646-44EA-BBCB-7E012635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19325"/>
            <a:ext cx="504825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955"/>
              </a:lnSpc>
              <a:buNone/>
            </a:pPr>
            <a:r>
              <a:rPr sz="1532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10</a:t>
            </a:r>
            <a:endParaRPr sz="1532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9FE347F-DD1F-453A-9F54-704CDD10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313" y="280987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82"/>
              </a:lnSpc>
              <a:buNone/>
            </a:pPr>
            <a:r>
              <a:rPr sz="1710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10/2026</a:t>
            </a:r>
            <a:endParaRPr sz="171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8AB56CA-A7B8-460E-A09F-DA31317A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81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MỞ 05/08</a:t>
            </a:r>
            <a:endParaRPr sz="855"/>
          </a:p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ĐÓNG 05/11</a:t>
            </a:r>
            <a:endParaRPr sz="855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5C716CB-87E4-42CF-AFB9-6192103C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24313"/>
            <a:ext cx="9144000" cy="1119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7F4C599-CE90-456B-83B8-15200B95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4340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SẮP MỞ</a:t>
            </a:r>
            <a:endParaRPr sz="819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92F5A46-18D4-4F97-99CF-E697A0DB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0063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64"/>
              </a:lnSpc>
              <a:buNone/>
            </a:pPr>
            <a:r>
              <a:rPr sz="1069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069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459D0DC-D144-4E8C-97ED-B68EADAB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43400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ĐANG MỞ</a:t>
            </a:r>
            <a:endParaRPr sz="819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48231C8-AD74-41CA-9AE7-DDAAEB02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10063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64"/>
              </a:lnSpc>
              <a:buNone/>
            </a:pPr>
            <a:r>
              <a:rPr sz="1069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069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D6B7FF1-CE6E-432F-A97A-C50155A7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43400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ĐÃ ĐÓNG</a:t>
            </a:r>
            <a:endParaRPr sz="819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4255D13-F535-48EF-AFCD-1D7B3B1D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10063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64"/>
              </a:lnSpc>
              <a:buNone/>
            </a:pPr>
            <a:r>
              <a:rPr sz="1069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069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4C9B310-C130-4D2E-8A3B-57FF49F6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43400"/>
            <a:ext cx="114300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ĐANG CHỐT</a:t>
            </a:r>
            <a:endParaRPr sz="819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8BBDAAF-E04C-42A3-8107-A4AAAA74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10063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64"/>
              </a:lnSpc>
              <a:buNone/>
            </a:pPr>
            <a:r>
              <a:rPr sz="1069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069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69B034C-4C3D-4D18-BBC2-CEA494EF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43400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ĐÃ CHỐT</a:t>
            </a:r>
            <a:endParaRPr sz="819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B4DDFA4-9C95-496D-8A7F-41207EBD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06</a:t>
            </a:r>
            <a:endParaRPr sz="748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A55B6D1D-C841-4423-BA3B-80803704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</p:spTree>
    <p:extLst>
      <p:ext uri="{BB962C8B-B14F-4D97-AF65-F5344CB8AC3E}">
        <p14:creationId xmlns:p14="http://schemas.microsoft.com/office/powerpoint/2010/main" val="324180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E6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30ED7E9-C512-415F-A0D3-58DFED39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06  ·  NGOẠI LỆ</a:t>
            </a:r>
            <a:endParaRPr sz="819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6BE13F5-D84E-4119-8F14-65D3DA14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8"/>
            <a:ext cx="6334125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70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Ngoại lệ đi qua luồng riêng,</a:t>
            </a:r>
          </a:p>
          <a:p xmlns:a="http://schemas.openxmlformats.org/drawingml/2006/main">
            <a:pPr marL="0" algn="l">
              <a:buNone/>
            </a:pPr>
            <a:r>
              <a:rPr sz="270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không sửa lịch sử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6B83356-685A-4837-A5CA-D5B3FF2A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571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3D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4DE3A6E-E026-446A-8873-8F5EFB7E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46"/>
              </a:lnSpc>
              <a:buNone/>
            </a:pPr>
            <a:r>
              <a:rPr sz="1211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ĐƠN BỔ SUNG</a:t>
            </a:r>
            <a:endParaRPr sz="1211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BDCBB39-54C8-46FA-AC7A-E3E275D7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66938"/>
            <a:ext cx="452438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637"/>
              </a:lnSpc>
              <a:buNone/>
            </a:pPr>
            <a:r>
              <a:rPr sz="2066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01</a:t>
            </a:r>
            <a:endParaRPr sz="2066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AA8B4E6-0F7C-47EB-9344-D96CCFA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4563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07"/>
              </a:lnSpc>
              <a:buNone/>
            </a:pPr>
            <a:r>
              <a:rPr sz="998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Ghi lý do</a:t>
            </a:r>
            <a:endParaRPr sz="998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94C4A20-F9FB-4B10-B751-021EE72B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90813"/>
            <a:ext cx="452438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637"/>
              </a:lnSpc>
              <a:buNone/>
            </a:pPr>
            <a:r>
              <a:rPr sz="2066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02</a:t>
            </a:r>
            <a:endParaRPr sz="2066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2CE5271-9526-45FB-AE4D-2070DB04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8438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07"/>
              </a:lnSpc>
              <a:buNone/>
            </a:pPr>
            <a:r>
              <a:rPr sz="998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Chờ quản lý duyệt</a:t>
            </a:r>
            <a:endParaRPr sz="998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FC4B305-A585-43A8-B412-4AA3582C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14688"/>
            <a:ext cx="452438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637"/>
              </a:lnSpc>
              <a:buNone/>
            </a:pPr>
            <a:r>
              <a:rPr sz="2066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03</a:t>
            </a:r>
            <a:endParaRPr sz="2066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231DB48-6199-4A58-966E-78A60E0A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2313"/>
            <a:ext cx="22860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07"/>
              </a:lnSpc>
              <a:buNone/>
            </a:pPr>
            <a:r>
              <a:rPr sz="998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Hạn mặc định: 5 ngày sau đóng</a:t>
            </a:r>
            <a:endParaRPr sz="998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A9CABDE-28E9-499B-A147-53A0DAF8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812" y="1690688"/>
            <a:ext cx="14288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33D0B5A-1A9F-4AFE-8A07-87BDBCB0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46"/>
              </a:lnSpc>
              <a:buNone/>
            </a:pPr>
            <a:r>
              <a:rPr sz="1211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ĐIỀU CHỈNH SAU CHỐT</a:t>
            </a:r>
            <a:endParaRPr sz="1211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8B400EC-70C4-4B28-A612-8B880E90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66938"/>
            <a:ext cx="452438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637"/>
              </a:lnSpc>
              <a:buNone/>
            </a:pPr>
            <a:r>
              <a:rPr sz="2066" b="1">
                <a:solidFill>
                  <a:srgbClr val="FF4D3D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01</a:t>
            </a:r>
            <a:endParaRPr sz="2066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521CAE0-B33A-42E1-8AD3-7F0C7494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4563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07"/>
              </a:lnSpc>
              <a:buNone/>
            </a:pPr>
            <a:r>
              <a:rPr sz="998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Quản lý gửi yêu cầu có lý do</a:t>
            </a:r>
            <a:endParaRPr sz="998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659E3A-746C-41E2-B8C1-BC7E2AE1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90813"/>
            <a:ext cx="452438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637"/>
              </a:lnSpc>
              <a:buNone/>
            </a:pPr>
            <a:r>
              <a:rPr sz="2066" b="1">
                <a:solidFill>
                  <a:srgbClr val="FF4D3D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02</a:t>
            </a:r>
            <a:endParaRPr sz="2066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7F09ACA-A156-4D57-9BC9-56017A58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8438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07"/>
              </a:lnSpc>
              <a:buNone/>
            </a:pPr>
            <a:r>
              <a:rPr sz="998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Một quản lý khác xác nhận</a:t>
            </a:r>
            <a:endParaRPr sz="998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FC31652-6A7E-44C2-B7A9-22DD6475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4688"/>
            <a:ext cx="452438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637"/>
              </a:lnSpc>
              <a:buNone/>
            </a:pPr>
            <a:r>
              <a:rPr sz="2066" b="1">
                <a:solidFill>
                  <a:srgbClr val="FF4D3D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03</a:t>
            </a:r>
            <a:endParaRPr sz="2066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9D19425-6C3C-41DC-9174-3EB46223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62313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07"/>
              </a:lnSpc>
              <a:buNone/>
            </a:pPr>
            <a:r>
              <a:rPr sz="998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Tạo bản chốt mới, giữ bản cũ</a:t>
            </a:r>
            <a:endParaRPr sz="998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C8C5F66-1C89-4CF9-B1B4-3FD50669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24313"/>
            <a:ext cx="9144000" cy="1119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C2300EA-E794-4E73-B354-96AA4B21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481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773"/>
              </a:lnSpc>
              <a:buNone/>
            </a:pPr>
            <a:r>
              <a:rPr sz="1389" b="1">
                <a:solidFill>
                  <a:srgbClr val="F7D75C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KHÔNG MỞ LẠI  ·  KHÔNG GHI ĐÈ</a:t>
            </a:r>
            <a:endParaRPr sz="1389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4C92441-82ED-454D-89C9-D5E85246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78"/>
              </a:lnSpc>
              <a:buNone/>
            </a:pPr>
            <a:r>
              <a:rPr sz="89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Mọi thay đổi quan trọng đều để lại dấu vết kiểm tra.</a:t>
            </a:r>
            <a:endParaRPr sz="891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82225EF-7EB2-45C5-BCE2-2E2426A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07</a:t>
            </a:r>
            <a:endParaRPr sz="748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BF5C246-D37F-4C43-AD56-4F5511CB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</p:spTree>
    <p:extLst>
      <p:ext uri="{BB962C8B-B14F-4D97-AF65-F5344CB8AC3E}">
        <p14:creationId xmlns:p14="http://schemas.microsoft.com/office/powerpoint/2010/main" val="928416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FEC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6FF95B3-DA47-4C01-9A40-9C5519C7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428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07  ·  KIẾN TRÚC</a:t>
            </a:r>
            <a:endParaRPr sz="819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9DD1C8C-841A-4D33-A83B-C4BB17A3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779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Một kiến trúc đủ gọn</a:t>
            </a:r>
          </a:p>
          <a:p xmlns:a="http://schemas.openxmlformats.org/drawingml/2006/main">
            <a:pPr marL="0" algn="l">
              <a:buNone/>
            </a:pPr>
            <a:r>
              <a:rPr sz="2779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để vận hành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5779874-298C-4417-AEB9-1E9F9477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-762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5C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6BD8D3-B5F3-4585-8643-C255ED1E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2438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9"/>
              </a:lnSpc>
              <a:buNone/>
            </a:pPr>
            <a:r>
              <a:rPr sz="1104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NGUYÊN KHỐI</a:t>
            </a:r>
            <a:endParaRPr sz="1104"/>
          </a:p>
          <a:p xmlns:a="http://schemas.openxmlformats.org/drawingml/2006/main">
            <a:pPr marL="0" indent="0" algn="l">
              <a:lnSpc>
                <a:spcPts val="1409"/>
              </a:lnSpc>
              <a:buNone/>
            </a:pPr>
            <a:r>
              <a:rPr sz="1104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THEO MÔ-ĐUN</a:t>
            </a:r>
            <a:endParaRPr sz="1104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64D8F46-49D7-4392-AF18-5B82FF49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73"/>
              </a:lnSpc>
              <a:buNone/>
            </a:pPr>
            <a:r>
              <a:rPr sz="998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TRÌNH DUYỆT</a:t>
            </a:r>
            <a:endParaRPr sz="998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C8F2C84-C51B-4141-AE95-D171570A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00313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992"/>
              </a:lnSpc>
              <a:buNone/>
            </a:pPr>
            <a:r>
              <a:rPr sz="819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Người dùng</a:t>
            </a:r>
            <a:endParaRPr sz="819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F15AF9A-C7D8-449E-AEF0-88CC75AC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190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363307E-D0F3-4A7A-AF28-AD9B3601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2286000"/>
            <a:ext cx="214313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27"/>
              </a:lnSpc>
              <a:buNone/>
            </a:pPr>
            <a:r>
              <a:rPr sz="1354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354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F534C3E-B36A-44C0-AF9B-7C39A503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383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73"/>
              </a:lnSpc>
              <a:buNone/>
            </a:pPr>
            <a:r>
              <a:rPr sz="998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BLAZOR</a:t>
            </a:r>
            <a:endParaRPr sz="998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97DF06-F3C3-4D9B-8000-13E37862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00313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992"/>
              </a:lnSpc>
              <a:buNone/>
            </a:pPr>
            <a:r>
              <a:rPr sz="819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Interactive Server</a:t>
            </a:r>
            <a:endParaRPr sz="819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92710A-46EA-4F9E-98B6-A960DB91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57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C63946C-BB14-4631-BD3B-35D633DC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286000"/>
            <a:ext cx="214313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27"/>
              </a:lnSpc>
              <a:buNone/>
            </a:pPr>
            <a:r>
              <a:rPr sz="1354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354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84BF16-E1A9-454F-BFE8-D7C9365E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383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73"/>
              </a:lnSpc>
              <a:buNone/>
            </a:pPr>
            <a:r>
              <a:rPr sz="998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WEB API</a:t>
            </a:r>
            <a:endParaRPr sz="998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04315D3-42AA-46CA-A98C-284D488C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00313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992"/>
              </a:lnSpc>
              <a:buNone/>
            </a:pPr>
            <a:r>
              <a:rPr sz="819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ASP.NET Core</a:t>
            </a:r>
            <a:endParaRPr sz="819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E494996-BBCB-4AE5-9582-E8089D2E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0"/>
            <a:ext cx="1476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3D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8739E2E-3C08-42F9-BA5B-220FBE7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2286000"/>
            <a:ext cx="214313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27"/>
              </a:lnSpc>
              <a:buNone/>
            </a:pPr>
            <a:r>
              <a:rPr sz="1354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354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6137A4D-F408-40AE-AFE6-0B302D55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73"/>
              </a:lnSpc>
              <a:buNone/>
            </a:pPr>
            <a:r>
              <a:rPr sz="998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APPLICATION</a:t>
            </a:r>
            <a:endParaRPr sz="998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F2D7E2F-FE8A-4BEC-A73D-5688EF53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00313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992"/>
              </a:lnSpc>
              <a:buNone/>
            </a:pPr>
            <a:r>
              <a:rPr sz="819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Điều phối nghiệp vụ</a:t>
            </a:r>
            <a:endParaRPr sz="819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EAAA6F4-3C51-4583-8C4B-5AB66EE8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57500"/>
            <a:ext cx="157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31C3488-01F0-47CA-9C5B-20D875C7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2286000"/>
            <a:ext cx="214313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27"/>
              </a:lnSpc>
              <a:buNone/>
            </a:pPr>
            <a:r>
              <a:rPr sz="1354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354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461CCF6-FF2F-485A-B8C7-167C5156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38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73"/>
              </a:lnSpc>
              <a:buNone/>
            </a:pPr>
            <a:r>
              <a:rPr sz="998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SQL SERVER</a:t>
            </a:r>
            <a:endParaRPr sz="998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F44B007-A33C-477C-8ADE-DA5EEFB8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00313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992"/>
              </a:lnSpc>
              <a:buNone/>
            </a:pPr>
            <a:r>
              <a:rPr sz="819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EF Core</a:t>
            </a:r>
            <a:endParaRPr sz="819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6B434EA2-12FA-46FD-93B5-FE1E9D27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CA8B929-E96B-4829-9A80-AAB89909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914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C7146B9-A84F-41F4-A421-913B9B93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34290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93"/>
              </a:lnSpc>
              <a:buNone/>
            </a:pPr>
            <a:r>
              <a:rPr sz="1069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Vì sao không chọn microservices?</a:t>
            </a:r>
            <a:endParaRPr sz="1069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72C55B3-35CE-4935-B13C-35CF3156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81475"/>
            <a:ext cx="7239000" cy="3095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727"/>
              </a:lnSpc>
              <a:buNone/>
            </a:pPr>
            <a:r>
              <a:rPr sz="1354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Triển khai gọn  ·  dữ liệu nhất quán  ·  trách nhiệm vẫn tách rõ</a:t>
            </a:r>
            <a:endParaRPr sz="1354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23CC85C-BE17-475A-B9EB-6764CB97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Aspire khi phát triển · Docker Compose và Nginx khi triển khai</a:t>
            </a:r>
            <a:endParaRPr sz="819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CB20A5B-1D54-44EC-AA31-5913DAD3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08</a:t>
            </a:r>
            <a:endParaRPr sz="748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C5AF9333-E261-4905-8F0E-B8721DB1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</p:spTree>
    <p:extLst>
      <p:ext uri="{BB962C8B-B14F-4D97-AF65-F5344CB8AC3E}">
        <p14:creationId xmlns:p14="http://schemas.microsoft.com/office/powerpoint/2010/main" val="854153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61FAC52-3966-413B-AAB7-6068B11F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428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08  ·  TOÀN VẸN DỮ LIỆU</a:t>
            </a:r>
            <a:endParaRPr sz="819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D426DDA-A029-43AB-847F-2C74E2D2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8"/>
            <a:ext cx="6334125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636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Quyền thật và ràng buộc thật</a:t>
            </a:r>
          </a:p>
          <a:p xmlns:a="http://schemas.openxmlformats.org/drawingml/2006/main">
            <a:pPr marL="0" algn="l">
              <a:buNone/>
            </a:pPr>
            <a:r>
              <a:rPr sz="2636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không nằm ở nút bấm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48AE1EF-7B93-403C-8BB8-854DC99C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-619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D5CE553-628F-423C-A17A-57D2EB8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33563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3889691-769E-4204-B108-1DAF9C5E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7863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568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01</a:t>
            </a:r>
            <a:endParaRPr sz="1568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652D725-BC6A-446C-836D-F40B7C19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KIỂM TRA QUYỀN</a:t>
            </a:r>
            <a:endParaRPr sz="1033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B9432E3-6B89-4A26-BE50-CFBE7B16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9313"/>
            <a:ext cx="285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21"/>
              </a:lnSpc>
              <a:buNone/>
            </a:pPr>
            <a:r>
              <a:rPr sz="926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Không tin phạm vi</a:t>
            </a:r>
            <a:endParaRPr sz="926"/>
          </a:p>
          <a:p xmlns:a="http://schemas.openxmlformats.org/drawingml/2006/main">
            <a:pPr marL="0" indent="0" algn="l">
              <a:lnSpc>
                <a:spcPts val="1121"/>
              </a:lnSpc>
              <a:buNone/>
            </a:pPr>
            <a:r>
              <a:rPr sz="926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do giao diện tự gửi.</a:t>
            </a:r>
            <a:endParaRPr sz="926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D9D58B4-F25E-49EC-B294-7DA4A6D9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33563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180A1FA-4000-440F-936F-FAEF45BD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863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568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02</a:t>
            </a:r>
            <a:endParaRPr sz="1568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218B5A5-CD24-4A75-8521-31B3EEF2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573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RÀNG BUỘC DỮ LIỆU</a:t>
            </a:r>
            <a:endParaRPr sz="1033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991D8D2-7344-4030-B374-7512399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19313"/>
            <a:ext cx="285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21"/>
              </a:lnSpc>
              <a:buNone/>
            </a:pPr>
            <a:r>
              <a:rPr sz="926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Chặn trùng và</a:t>
            </a:r>
            <a:endParaRPr sz="926"/>
          </a:p>
          <a:p xmlns:a="http://schemas.openxmlformats.org/drawingml/2006/main">
            <a:pPr marL="0" indent="0" algn="l">
              <a:lnSpc>
                <a:spcPts val="1121"/>
              </a:lnSpc>
              <a:buNone/>
            </a:pPr>
            <a:r>
              <a:rPr sz="926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dữ liệu không hợp lệ.</a:t>
            </a:r>
            <a:endParaRPr sz="926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6D13AC8-ECFB-43AC-AE8E-1B9E7B18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F6B5CBF-88A4-4420-B542-76FE864C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528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568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03</a:t>
            </a:r>
            <a:endParaRPr sz="1568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A726DE6-8A67-4F4F-80E9-1034490E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62313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ĐỒNG BỘ KHI GHI</a:t>
            </a:r>
            <a:endParaRPr sz="1033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E97375C-E7EF-420A-870B-8770DDD4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285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21"/>
              </a:lnSpc>
              <a:buNone/>
            </a:pPr>
            <a:r>
              <a:rPr sz="926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Lưu đồng bộ, phát hiện</a:t>
            </a:r>
            <a:endParaRPr sz="926"/>
          </a:p>
          <a:p xmlns:a="http://schemas.openxmlformats.org/drawingml/2006/main">
            <a:pPr marL="0" indent="0" algn="l">
              <a:lnSpc>
                <a:spcPts val="1121"/>
              </a:lnSpc>
              <a:buNone/>
            </a:pPr>
            <a:r>
              <a:rPr sz="926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ghi đè đồng thời.</a:t>
            </a:r>
            <a:endParaRPr sz="92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08021D3-0600-4C28-8631-78197757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3D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113F597-DC3E-4E46-8036-851BC989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2000"/>
              </a:lnSpc>
              <a:buNone/>
            </a:pPr>
            <a:r>
              <a:rPr sz="1568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04</a:t>
            </a:r>
            <a:endParaRPr sz="1568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1E72D85-7061-495F-9FDF-CD5681C8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62313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CHỐNG LẶP + LƯU PHIÊN BẢN</a:t>
            </a:r>
            <a:endParaRPr sz="1033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70E835F-AE49-40DA-89BD-D5F39E46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24250"/>
            <a:ext cx="285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21"/>
              </a:lnSpc>
              <a:buNone/>
            </a:pPr>
            <a:r>
              <a:rPr sz="926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Chống xử lý lặp,</a:t>
            </a:r>
            <a:endParaRPr sz="926"/>
          </a:p>
          <a:p xmlns:a="http://schemas.openxmlformats.org/drawingml/2006/main">
            <a:pPr marL="0" indent="0" algn="l">
              <a:lnSpc>
                <a:spcPts val="1121"/>
              </a:lnSpc>
              <a:buNone/>
            </a:pPr>
            <a:r>
              <a:rPr sz="926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giữ nguyên lịch sử.</a:t>
            </a:r>
            <a:endParaRPr sz="92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50993FF-02E0-481D-B094-A47C400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57375"/>
            <a:ext cx="14288" cy="207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7EB6157-3E47-4525-94CE-1DD959C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10088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78"/>
              </a:lnSpc>
              <a:buNone/>
            </a:pPr>
            <a:r>
              <a:rPr sz="891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Hai yêu cầu đồng thời vẫn không thể tạo hai đơn thường trong cùng một kỳ.</a:t>
            </a:r>
            <a:endParaRPr sz="891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5AEFD9D-7140-4944-88BB-52764E1D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09</a:t>
            </a:r>
            <a:endParaRPr sz="748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53CB98D-3D44-4D55-82AA-B96049BB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</p:spTree>
    <p:extLst>
      <p:ext uri="{BB962C8B-B14F-4D97-AF65-F5344CB8AC3E}">
        <p14:creationId xmlns:p14="http://schemas.microsoft.com/office/powerpoint/2010/main" val="1635829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F9E1358-0F54-4852-8163-9A1B0E96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428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09  ·  TRẢI NGHIỆM NHÂN VIÊN</a:t>
            </a:r>
            <a:endParaRPr sz="819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3D08DB4-2800-4D12-89FA-81B2A059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8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70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Chọn đúng kỳ trước</a:t>
            </a:r>
          </a:p>
          <a:p xmlns:a="http://schemas.openxmlformats.org/drawingml/2006/main">
            <a:pPr marL="0" algn="l">
              <a:buNone/>
            </a:pPr>
            <a:r>
              <a:rPr sz="270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khi tạo đơn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AC262C-AD90-42C9-8030-0992280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0688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82"/>
              </a:lnSpc>
              <a:buNone/>
            </a:pPr>
            <a:r>
              <a:rPr sz="1710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01</a:t>
            </a:r>
            <a:endParaRPr sz="171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202789A-0E8A-4BA2-AADD-BD172CCC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1728788"/>
            <a:ext cx="24765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Chọn một kỳ đang mở</a:t>
            </a:r>
            <a:endParaRPr sz="1033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71914A6-B9CA-4AE7-A838-3E370B57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82"/>
              </a:lnSpc>
              <a:buNone/>
            </a:pPr>
            <a:r>
              <a:rPr sz="1710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02</a:t>
            </a:r>
            <a:endParaRPr sz="171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180FE92-D19C-49A2-BE1C-461382D0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2324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Tạo mới hoặc sao chép</a:t>
            </a:r>
            <a:endParaRPr sz="1033"/>
          </a:p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đơn gần nhất</a:t>
            </a:r>
            <a:endParaRPr sz="1033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73C5BC-A717-4A90-8529-F4D7C8D9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4188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82"/>
              </a:lnSpc>
              <a:buNone/>
            </a:pPr>
            <a:r>
              <a:rPr sz="1710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03</a:t>
            </a:r>
            <a:endParaRPr sz="171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65B828B-9760-43F8-B490-8DC23180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3062288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Theo dõi đơn thường,</a:t>
            </a:r>
            <a:endParaRPr sz="1033"/>
          </a:p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đơn bổ sung và lịch sử</a:t>
            </a:r>
            <a:endParaRPr sz="1033"/>
          </a:p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838d35f5a4eb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29063" y="809625"/>
            <a:ext cx="4810125" cy="2705100"/>
          </a:xfrm>
          <a:prstGeom xmlns:a="http://schemas.openxmlformats.org/drawingml/2006/main" prst="rect">
            <a:avLst/>
          </a:prstGeom>
        </p:spPr>
      </p:pic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899692A-E4DA-4994-B3E0-9CEB6413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7" y="500063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75C"/>
          </a:solidFill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53D4177-9789-407B-B6C9-680AF1C0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13" y="528638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091"/>
              </a:lnSpc>
              <a:buNone/>
            </a:pPr>
            <a:r>
              <a:rPr sz="855" b="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KỲ 08/2026</a:t>
            </a:r>
            <a:endParaRPr sz="855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AC8B358-101B-4B82-B28A-CF1F5D8F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3690937"/>
            <a:ext cx="466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Kỳ và lịch riêng được hệ thống kiểm tra lại trước khi lưu.</a:t>
            </a:r>
            <a:endParaRPr sz="855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C44E44B-46C1-4231-935E-3698EAF2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10</a:t>
            </a:r>
            <a:endParaRPr sz="748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FA0B335-01EA-44C3-B691-32C73399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</p:spTree>
    <p:extLst>
      <p:ext uri="{BB962C8B-B14F-4D97-AF65-F5344CB8AC3E}">
        <p14:creationId xmlns:p14="http://schemas.microsoft.com/office/powerpoint/2010/main" val="19530261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43E8FB1-0B80-4121-9CE9-06BEC768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428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10  ·  CHỐT KỲ</a:t>
            </a:r>
            <a:endParaRPr sz="819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4EC2700-48B5-4A76-862C-FFF418C9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8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70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Chốt kỳ bắt đầu từ</a:t>
            </a:r>
          </a:p>
          <a:p xmlns:a="http://schemas.openxmlformats.org/drawingml/2006/main">
            <a:pPr marL="0" algn="l">
              <a:buNone/>
            </a:pPr>
            <a:r>
              <a:rPr sz="270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dữ liệu đã rà soát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739A1A6-F118-471E-A95E-F9957172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-714375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3D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0458b5e3a438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3875" y="1738313"/>
            <a:ext cx="5619750" cy="1690688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053A8F4-DA2C-4C9F-B75F-9CF38AF0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1857375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49"/>
              </a:lnSpc>
              <a:buNone/>
            </a:pPr>
            <a:r>
              <a:rPr sz="784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GIÁ TRỊ TRƯỚC VAT</a:t>
            </a:r>
            <a:endParaRPr sz="784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B3899E4-4BCA-41B5-A381-0FDF5A7A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5740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091"/>
              </a:lnSpc>
              <a:buNone/>
            </a:pPr>
            <a:r>
              <a:rPr sz="1639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129.741.750</a:t>
            </a:r>
            <a:endParaRPr sz="1639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9B632A1-AF80-476C-8924-73C5FE3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24125"/>
            <a:ext cx="1857375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49"/>
              </a:lnSpc>
              <a:buNone/>
            </a:pPr>
            <a:r>
              <a:rPr sz="784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THUẾ VAT</a:t>
            </a:r>
            <a:endParaRPr sz="784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BE2F3CA7-A384-412B-BE63-19BC22CB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241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091"/>
              </a:lnSpc>
              <a:buNone/>
            </a:pPr>
            <a:r>
              <a:rPr sz="1639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10.379.339</a:t>
            </a:r>
            <a:endParaRPr sz="1639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D1788A4-6B67-4DED-9916-AB874E6A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24200"/>
            <a:ext cx="1857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45698CA-A388-4246-AC0E-CE4FB64F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1857375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49"/>
              </a:lnSpc>
              <a:buNone/>
            </a:pPr>
            <a:r>
              <a:rPr sz="784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TỔNG GIÁ TRỊ</a:t>
            </a:r>
            <a:endParaRPr sz="784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C5BC3F3-5279-4CE3-A9F4-4B609C59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3852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2182"/>
              </a:lnSpc>
              <a:buNone/>
            </a:pPr>
            <a:r>
              <a:rPr sz="1710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140.121.089</a:t>
            </a:r>
            <a:endParaRPr sz="171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3E99AD3-3C39-4D81-8609-2E452D78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190625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Theo dõi kỳ</a:t>
            </a:r>
            <a:endParaRPr sz="855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5DC7B2D-5537-4DC5-9EFC-132A630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401002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55"/>
              </a:lnSpc>
              <a:buNone/>
            </a:pPr>
            <a:r>
              <a:rPr sz="1140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14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2B77EA6-64B5-4DA7-8986-2BC80E5A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2" y="4048125"/>
            <a:ext cx="133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Duyệt bổ sung</a:t>
            </a:r>
            <a:endParaRPr sz="855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FC0BEEC-2358-4BED-9DFE-959A5053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002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55"/>
              </a:lnSpc>
              <a:buNone/>
            </a:pPr>
            <a:r>
              <a:rPr sz="1140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14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7FE9CFC-3D09-46F3-8F1E-B1728728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338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49"/>
              </a:lnSpc>
              <a:buNone/>
            </a:pPr>
            <a:r>
              <a:rPr sz="784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Chọn nhà cung cấp</a:t>
            </a:r>
            <a:endParaRPr sz="784"/>
          </a:p>
          <a:p xmlns:a="http://schemas.openxmlformats.org/drawingml/2006/main">
            <a:pPr marL="0" indent="0" algn="l">
              <a:lnSpc>
                <a:spcPts val="949"/>
              </a:lnSpc>
              <a:buNone/>
            </a:pPr>
            <a:r>
              <a:rPr sz="784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+ bảng giá</a:t>
            </a:r>
            <a:endParaRPr sz="784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43452E2-2812-47F9-B197-B722794D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1002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55"/>
              </a:lnSpc>
              <a:buNone/>
            </a:pPr>
            <a:r>
              <a:rPr sz="1140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114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EDAC63F-6C42-449D-9D09-C3536AAA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48125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Xác nhận chốt</a:t>
            </a:r>
            <a:endParaRPr sz="855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A0C3098-8683-43DC-AC19-F3650E1E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05313"/>
            <a:ext cx="638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Có thể chốt sớm khi kỳ đã đóng và không còn đơn bổ sung chờ duyệt.</a:t>
            </a:r>
            <a:endParaRPr sz="855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76A1739-9118-433F-B1FE-7084800B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11</a:t>
            </a:r>
            <a:endParaRPr sz="748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64C47E61-544D-49E7-B3A4-C39DB040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</p:spTree>
    <p:extLst>
      <p:ext uri="{BB962C8B-B14F-4D97-AF65-F5344CB8AC3E}">
        <p14:creationId xmlns:p14="http://schemas.microsoft.com/office/powerpoint/2010/main" val="12230337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DA58BDC-594A-4A5A-BE65-F69DCDDE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428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11  ·  CẤU HÌNH HỆ THỐNG</a:t>
            </a:r>
            <a:endParaRPr sz="819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CC387C1-A7FF-4F9F-AA70-E76EA69C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8"/>
            <a:ext cx="652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70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Chính sách mới chỉ áp dụng</a:t>
            </a:r>
          </a:p>
          <a:p xmlns:a="http://schemas.openxmlformats.org/drawingml/2006/main">
            <a:pPr marL="0" algn="l">
              <a:buNone/>
            </a:pPr>
            <a:r>
              <a:rPr sz="270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cho các kỳ tương lai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7E7AB30-1205-4E50-A1B5-FE6196F5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-666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5C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855E97D-5C89-41C4-ABD6-697A03A9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8813"/>
            <a:ext cx="1428750" cy="595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4728"/>
              </a:lnSpc>
              <a:buNone/>
            </a:pPr>
            <a:r>
              <a:rPr sz="3705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3</a:t>
            </a:r>
            <a:endParaRPr sz="3705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CE9B338-189B-413B-97B6-E4AFA8C0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95563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78"/>
              </a:lnSpc>
              <a:buNone/>
            </a:pPr>
            <a:r>
              <a:rPr sz="891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KỲ MỞ TRƯỚC</a:t>
            </a:r>
            <a:endParaRPr sz="891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57CAD2E-4491-490E-9C3E-5181F8D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571625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cấu hình 0–12</a:t>
            </a:r>
            <a:endParaRPr sz="855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F1A5118-50F5-4DC4-95C5-C43109B0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14288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D43D916-1D02-4406-921D-4E9ED640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8813"/>
            <a:ext cx="1428750" cy="595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4728"/>
              </a:lnSpc>
              <a:buNone/>
            </a:pPr>
            <a:r>
              <a:rPr sz="3705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5</a:t>
            </a:r>
            <a:endParaRPr sz="3705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751726D-1CCE-466A-BF9D-40F5056B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95563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78"/>
              </a:lnSpc>
              <a:buNone/>
            </a:pPr>
            <a:r>
              <a:rPr sz="891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NGÀY MỞ / ĐÓNG</a:t>
            </a:r>
            <a:endParaRPr sz="891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59BBBA5-C2C5-4FAD-85D6-3E9429D2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571625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cấu hình 1–31</a:t>
            </a:r>
            <a:endParaRPr sz="855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1F49670-7AF5-4FEC-B66C-7EC6B7DB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14288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010A4BC-897D-48D2-9FDD-711B155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8813"/>
            <a:ext cx="1428750" cy="595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4728"/>
              </a:lnSpc>
              <a:buNone/>
            </a:pPr>
            <a:r>
              <a:rPr sz="3705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5</a:t>
            </a:r>
            <a:endParaRPr sz="3705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D78DB2-3185-4804-BA26-51507A1A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95563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78"/>
              </a:lnSpc>
              <a:buNone/>
            </a:pPr>
            <a:r>
              <a:rPr sz="891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NGÀY DUYỆT BỔ SUNG</a:t>
            </a:r>
            <a:endParaRPr sz="891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7AC9C5F-0AE1-493F-9F4C-76368F0C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1571625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sau ngày đóng</a:t>
            </a:r>
            <a:endParaRPr sz="855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A41A7A7-6562-465A-90A0-DCEE5C7D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14288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B6B84B1-667F-4AC0-B96D-A0B3ED74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8813"/>
            <a:ext cx="1428750" cy="595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4728"/>
              </a:lnSpc>
              <a:buNone/>
            </a:pPr>
            <a:r>
              <a:rPr sz="3705" b="1">
                <a:solidFill>
                  <a:srgbClr val="FF4D3D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10</a:t>
            </a:r>
            <a:endParaRPr sz="3705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2B84CF1-967F-4ADE-868D-09978E6D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95563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78"/>
              </a:lnSpc>
              <a:buNone/>
            </a:pPr>
            <a:r>
              <a:rPr sz="891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NGÀY ĐIỀU CHỈNH</a:t>
            </a:r>
            <a:endParaRPr sz="891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1C6D594-FA6B-4F77-BE14-5609FF2E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1571625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35"/>
              </a:lnSpc>
              <a:buNone/>
            </a:pPr>
            <a:r>
              <a:rPr sz="855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kể từ ngày đóng</a:t>
            </a:r>
            <a:endParaRPr sz="855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59439BE-474C-42AD-A3B0-D17A1CCB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914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47B0C47-1D94-463C-B17D-C37216C0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71938"/>
            <a:ext cx="500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727"/>
              </a:lnSpc>
              <a:buNone/>
            </a:pPr>
            <a:r>
              <a:rPr sz="1354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Mỗi lần thay đổi được lưu thành một phiên bản mới.</a:t>
            </a:r>
            <a:endParaRPr sz="1354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B18981F-36CC-4813-9D62-7133BE38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05313"/>
            <a:ext cx="600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078"/>
              </a:lnSpc>
              <a:buNone/>
            </a:pPr>
            <a:r>
              <a:rPr sz="891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Kỳ đã tồn tại giữ nguyên lịch và dữ liệu — không bị sửa ngược.</a:t>
            </a:r>
            <a:endParaRPr sz="891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FCEE1E3-A9CC-451F-86E8-31E7BCEE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12</a:t>
            </a:r>
            <a:endParaRPr sz="748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0152BB5A-75B7-43F3-877D-E3D8C89F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</p:spTree>
    <p:extLst>
      <p:ext uri="{BB962C8B-B14F-4D97-AF65-F5344CB8AC3E}">
        <p14:creationId xmlns:p14="http://schemas.microsoft.com/office/powerpoint/2010/main" val="3785022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2AD4D0C-CEDE-4761-8EEF-C957505B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0"/>
            <a:ext cx="471487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2E9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830032D-6171-4084-A8A1-DC89B66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0"/>
            <a:ext cx="6667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4F4609D-19DF-4D43-ABC2-0BAD1B4B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"/>
            <a:ext cx="2381250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862"/>
              </a:lnSpc>
              <a:buNone/>
            </a:pPr>
            <a:r>
              <a:rPr sz="784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12  ·  KẾT QUẢ</a:t>
            </a:r>
            <a:endParaRPr sz="784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0133EE5-1958-435C-B887-6D435DA8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714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1959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Từ nhiều bảng tính đến</a:t>
            </a:r>
          </a:p>
          <a:p xmlns:a="http://schemas.openxmlformats.org/drawingml/2006/main">
            <a:pPr marL="0" algn="l">
              <a:buNone/>
            </a:pPr>
            <a:r>
              <a:rPr sz="1959" b="1">
                <a:solidFill>
                  <a:srgbClr val="111315">
                    <a:alpha val="99000"/>
                  </a:srgbClr>
                </a:solidFill>
                <a:latin typeface="Inter"/>
                <a:ea typeface="Inter"/>
                <a:cs typeface="Inter"/>
              </a:rPr>
              <a:t>một luồng dữ liệu có kiểm soát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2AC7C62-62E9-47E5-A554-FEBA01E3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14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862"/>
              </a:lnSpc>
              <a:buNone/>
            </a:pPr>
            <a:r>
              <a:rPr sz="784" b="1">
                <a:solidFill>
                  <a:srgbClr val="FF4D3D">
                    <a:alpha val="99000"/>
                  </a:srgbClr>
                </a:solidFill>
                <a:latin typeface="Inter"/>
                <a:ea typeface="Inter"/>
                <a:cs typeface="Inter"/>
              </a:rPr>
              <a:t>TRƯỚC</a:t>
            </a:r>
            <a:endParaRPr sz="784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73B623-73E8-4F8B-85DF-4A8DEE3A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47825"/>
            <a:ext cx="3190875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8"/>
              </a:lnSpc>
              <a:buNone/>
            </a:pPr>
            <a:r>
              <a:rPr sz="121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Mỗi đơn vị, mỗi tháng</a:t>
            </a:r>
            <a:endParaRPr sz="1211"/>
          </a:p>
          <a:p xmlns:a="http://schemas.openxmlformats.org/drawingml/2006/main">
            <a:pPr marL="0" indent="0" algn="l">
              <a:lnSpc>
                <a:spcPts val="1308"/>
              </a:lnSpc>
              <a:buNone/>
            </a:pPr>
            <a:r>
              <a:rPr sz="121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là một biểu mẫu riêng.</a:t>
            </a:r>
            <a:endParaRPr sz="1211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4c8e769b2486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0" y="2476500"/>
            <a:ext cx="2905125" cy="2262188"/>
          </a:xfrm>
          <a:prstGeom xmlns:a="http://schemas.openxmlformats.org/drawingml/2006/main" prst="rect">
            <a:avLst/>
          </a:prstGeom>
        </p:spPr>
      </p:pic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80AEAEB-8F4E-4D1D-AD10-9593196A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714375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4D3D"/>
          </a:solidFill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6D518DF-8F9F-4F53-802A-EB6DA65C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8" y="2343150"/>
            <a:ext cx="523875" cy="1476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097"/>
              </a:lnSpc>
              <a:buNone/>
            </a:pPr>
            <a:r>
              <a:rPr sz="998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#REF!</a:t>
            </a:r>
            <a:endParaRPr sz="998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84935CF-4EDE-4C97-878B-5142F66B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28850"/>
            <a:ext cx="809625" cy="809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50E4B61-F452-4690-AC7C-EA5B6814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2" y="2366963"/>
            <a:ext cx="590550" cy="3095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2308"/>
              </a:lnSpc>
              <a:buNone/>
            </a:pPr>
            <a:r>
              <a:rPr sz="2565" b="1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→</a:t>
            </a:r>
            <a:endParaRPr sz="2565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BA562CB4-8F3A-4690-8691-EACB0110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38275"/>
            <a:ext cx="114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862"/>
              </a:lnSpc>
              <a:buNone/>
            </a:pPr>
            <a:r>
              <a:rPr sz="784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SAU</a:t>
            </a:r>
            <a:endParaRPr sz="784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5BD9546-2730-427B-8BBB-BD107068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4782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08"/>
              </a:lnSpc>
              <a:buNone/>
            </a:pPr>
            <a:r>
              <a:rPr sz="121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Kỳ, trạng thái và giá trị</a:t>
            </a:r>
            <a:endParaRPr sz="1211"/>
          </a:p>
          <a:p xmlns:a="http://schemas.openxmlformats.org/drawingml/2006/main">
            <a:pPr marL="0" indent="0" algn="l">
              <a:lnSpc>
                <a:spcPts val="1308"/>
              </a:lnSpc>
              <a:buNone/>
            </a:pPr>
            <a:r>
              <a:rPr sz="121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được kiểm soát tập trung.</a:t>
            </a:r>
            <a:endParaRPr sz="1211"/>
          </a:p>
        </p:txBody>
      </p:sp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893f590e6482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53000" y="2476500"/>
            <a:ext cx="3619500" cy="1438275"/>
          </a:xfrm>
          <a:prstGeom xmlns:a="http://schemas.openxmlformats.org/drawingml/2006/main" prst="rect">
            <a:avLst/>
          </a:prstGeom>
        </p:spPr>
      </p:pic>
      <p:pic>
        <p:nvPicPr>
          <p:cNvPr id="3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7c25ac6d74e2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53000" y="4029075"/>
            <a:ext cx="3619500" cy="709613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3E25B5BB-0F65-4440-9AAB-3D181362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13</a:t>
            </a:r>
            <a:endParaRPr sz="748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A22D9882-5A31-441E-83E7-FA31AF25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</p:spTree>
    <p:extLst>
      <p:ext uri="{BB962C8B-B14F-4D97-AF65-F5344CB8AC3E}">
        <p14:creationId xmlns:p14="http://schemas.microsoft.com/office/powerpoint/2010/main" val="103122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8FFF50A-99FE-4CBD-91B8-5DA9DA10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428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5A615F">
                    <a:alpha val="99000"/>
                  </a:srgbClr>
                </a:solidFill>
                <a:latin typeface="Inter"/>
                <a:ea typeface="Inter"/>
                <a:cs typeface="Inter"/>
              </a:rPr>
              <a:t>13  ·  KẾT QUẢ VÀ GIỚI HẠN</a:t>
            </a:r>
            <a:endParaRPr sz="819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32BF2D9-781F-4651-B65A-4671B0EB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"/>
            <a:ext cx="600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270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Mục tiêu chính đã hoàn thành,</a:t>
            </a:r>
          </a:p>
          <a:p xmlns:a="http://schemas.openxmlformats.org/drawingml/2006/main">
            <a:pPr marL="0" algn="l">
              <a:buNone/>
            </a:pPr>
            <a:r>
              <a:rPr sz="2708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hướng phát triển vẫn rõ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B059B67-02BC-47E7-A42A-6D005286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528637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7833EA9-7878-4646-BF4D-313685B9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76438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ĐÃ HOÀN THÀNH</a:t>
            </a:r>
            <a:endParaRPr sz="1033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7E72820-BAA9-49D5-BDF7-2A69953A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55"/>
              </a:lnSpc>
              <a:buNone/>
            </a:pPr>
            <a:r>
              <a:rPr sz="1532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01</a:t>
            </a:r>
            <a:endParaRPr sz="1532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C540DD8-E314-4783-B17D-42938FEF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14588"/>
            <a:ext cx="361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64"/>
              </a:lnSpc>
              <a:buNone/>
            </a:pPr>
            <a:r>
              <a:rPr sz="962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Nhiều kỳ và lịch riêng</a:t>
            </a:r>
            <a:endParaRPr sz="962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E4D2017-B8F3-4B1A-B9B7-1AEA86D4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00338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766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A22BB83-3D32-438E-8AB9-EBD8F246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55"/>
              </a:lnSpc>
              <a:buNone/>
            </a:pPr>
            <a:r>
              <a:rPr sz="1532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02</a:t>
            </a:r>
            <a:endParaRPr sz="1532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4335E75-993D-4A2F-AB60-A0D23BEC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90838"/>
            <a:ext cx="361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64"/>
              </a:lnSpc>
              <a:buNone/>
            </a:pPr>
            <a:r>
              <a:rPr sz="962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Đơn thường · bổ sung · điều chỉnh</a:t>
            </a:r>
            <a:endParaRPr sz="962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B5C17D7-71DB-486F-9C74-0E4BC1B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6588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766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4E26011-0ACD-46EB-8750-D3B582A5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55"/>
              </a:lnSpc>
              <a:buNone/>
            </a:pPr>
            <a:r>
              <a:rPr sz="1532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03</a:t>
            </a:r>
            <a:endParaRPr sz="1532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C9A02B5-2335-4792-86BA-EDCB14EB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67088"/>
            <a:ext cx="361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64"/>
              </a:lnSpc>
              <a:buNone/>
            </a:pPr>
            <a:r>
              <a:rPr sz="962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Bảng giá · chốt kỳ · phân quyền</a:t>
            </a:r>
            <a:endParaRPr sz="962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F188EF7-D346-413B-AFC0-9C88DF5B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52838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766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33251B0-E6CE-4C38-B653-AF377751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55"/>
              </a:lnSpc>
              <a:buNone/>
            </a:pPr>
            <a:r>
              <a:rPr sz="1532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04</a:t>
            </a:r>
            <a:endParaRPr sz="1532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7CD1EC9-C651-470F-BB43-96B8F195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43338"/>
            <a:ext cx="361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64"/>
              </a:lnSpc>
              <a:buNone/>
            </a:pPr>
            <a:r>
              <a:rPr sz="962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Tra cứu · báo cáo · xuất dữ liệu</a:t>
            </a:r>
            <a:endParaRPr sz="962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3018E98-7B38-48E9-B35A-D05E1A8C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76438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250"/>
              </a:lnSpc>
              <a:buNone/>
            </a:pPr>
            <a:r>
              <a:rPr sz="1033" b="1">
                <a:solidFill>
                  <a:srgbClr val="FF4D3D">
                    <a:alpha val="99000"/>
                  </a:srgbClr>
                </a:solidFill>
                <a:latin typeface="Inter"/>
                <a:ea typeface="Inter"/>
                <a:cs typeface="Inter"/>
              </a:rPr>
              <a:t>HƯỚNG PHÁT TRIỂN</a:t>
            </a:r>
            <a:endParaRPr sz="1033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AC47FE5-B5EF-4785-AFAC-5A6C862E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28875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64"/>
              </a:lnSpc>
              <a:buNone/>
            </a:pPr>
            <a:r>
              <a:rPr sz="1069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Dữ liệu vận hành dài hạn</a:t>
            </a:r>
            <a:endParaRPr sz="1069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AFEB55-DA6E-42C9-A35A-A9CBA345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57500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64"/>
              </a:lnSpc>
              <a:buNone/>
            </a:pPr>
            <a:r>
              <a:rPr sz="1069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Đơn mua hàng · hợp đồng · vận chuyển</a:t>
            </a:r>
            <a:endParaRPr sz="1069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0415417-D3DF-4A3D-A109-A10F4E05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86125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364"/>
              </a:lnSpc>
              <a:buNone/>
            </a:pPr>
            <a:r>
              <a:rPr sz="1069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So sánh nhiều nhà cung cấp</a:t>
            </a:r>
            <a:endParaRPr sz="1069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88EC12D-BA00-482E-878B-6EF8F35A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33812"/>
            <a:ext cx="2143125" cy="2143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07424C2-A63F-4FE5-8311-CD491E7A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86250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73"/>
              </a:lnSpc>
              <a:buNone/>
            </a:pPr>
            <a:r>
              <a:rPr sz="998" b="1">
                <a:solidFill>
                  <a:srgbClr val="11131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TƯƠNG LAI</a:t>
            </a:r>
            <a:endParaRPr sz="998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6F1F157-B13F-4134-B800-97C11444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14</a:t>
            </a:r>
            <a:endParaRPr sz="748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E7ECF6A-E1EE-46E4-ACBB-4CBBFCC7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6286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</p:spTree>
    <p:extLst>
      <p:ext uri="{BB962C8B-B14F-4D97-AF65-F5344CB8AC3E}">
        <p14:creationId xmlns:p14="http://schemas.microsoft.com/office/powerpoint/2010/main" val="19418997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4FD3CC9-2F68-4956-9986-111456EE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0125" y="-104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8FD4E88-85BC-41C1-84DB-DCA4B825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-571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75C"/>
          </a:solidFill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D38AF6B-10C7-4E3E-B14C-E66FCB17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182"/>
              </a:lnSpc>
              <a:buNone/>
            </a:pPr>
            <a:r>
              <a:rPr sz="926" b="1">
                <a:solidFill>
                  <a:srgbClr val="0B2235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GTAS VPP</a:t>
            </a:r>
            <a:endParaRPr sz="926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42224DD-4F40-46D6-AE4B-E0C9F756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57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algn="l">
              <a:buNone/>
            </a:pPr>
            <a:r>
              <a:rPr sz="3349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Tập trung dữ liệu.</a:t>
            </a:r>
          </a:p>
          <a:p xmlns:a="http://schemas.openxmlformats.org/drawingml/2006/main">
            <a:pPr marL="0" algn="l">
              <a:buNone/>
            </a:pPr>
            <a:r>
              <a:rPr sz="3349" b="1">
                <a:solidFill>
                  <a:srgbClr val="0B2235">
                    <a:alpha val="99000"/>
                  </a:srgbClr>
                </a:solidFill>
                <a:latin typeface="Inter"/>
                <a:ea typeface="Inter"/>
                <a:cs typeface="Inter"/>
              </a:rPr>
              <a:t>Kiểm soát thay đổi.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50C255C-76F9-42E2-83C9-047456BE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8" y="2381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91"/>
              </a:lnSpc>
              <a:buNone/>
            </a:pPr>
            <a:r>
              <a:rPr sz="1247" b="1">
                <a:solidFill>
                  <a:srgbClr val="00A67E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YÊU CẦU  →  CHỐT KỲ  →  BÁO CÁO</a:t>
            </a:r>
            <a:endParaRPr sz="1247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69AF0B3-A41B-415C-A25A-F71B5CFB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9144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88EEB0-5BB7-480F-ADF9-62F06CD6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DEMO 01</a:t>
            </a:r>
            <a:endParaRPr sz="819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5CBCBD4-DC09-483D-B509-8F21608B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9"/>
              </a:lnSpc>
              <a:buNone/>
            </a:pPr>
            <a:r>
              <a:rPr sz="1104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Đặt hàng theo kỳ</a:t>
            </a:r>
            <a:endParaRPr sz="1104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4F9A72A-7056-4AAD-8077-028BC5F8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DEMO 02</a:t>
            </a:r>
            <a:endParaRPr sz="819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94DEF9-FBCA-4CC2-B1D1-48A42F3A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9"/>
              </a:lnSpc>
              <a:buNone/>
            </a:pPr>
            <a:r>
              <a:rPr sz="1104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Duyệt đơn bổ sung</a:t>
            </a:r>
            <a:endParaRPr sz="1104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C47A928-B44D-4FC7-8032-14412FFC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00A67E">
                    <a:alpha val="99000"/>
                  </a:srgbClr>
                </a:solidFill>
                <a:latin typeface="Inter"/>
                <a:ea typeface="Inter"/>
                <a:cs typeface="Inter"/>
              </a:rPr>
              <a:t>DEMO 03</a:t>
            </a:r>
            <a:endParaRPr sz="819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D91A43B-2F65-4C7A-AFF7-A2F39B04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409"/>
              </a:lnSpc>
              <a:buNone/>
            </a:pPr>
            <a:r>
              <a:rPr sz="1104">
                <a:solidFill>
                  <a:srgbClr val="FFFFFF">
                    <a:alpha val="99000"/>
                  </a:srgbClr>
                </a:solidFill>
                <a:latin typeface="Space Grotesk"/>
                <a:ea typeface="Space Grotesk"/>
                <a:cs typeface="Space Grotesk"/>
              </a:rPr>
              <a:t>Chốt kỳ và báo cáo</a:t>
            </a:r>
            <a:endParaRPr sz="1104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D86B895-A88F-42E6-A20F-EC760315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5813"/>
            <a:ext cx="3095625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992"/>
              </a:lnSpc>
              <a:buNone/>
            </a:pPr>
            <a:r>
              <a:rPr sz="819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NGUYỄN AN NAM  ·  DH52201078</a:t>
            </a:r>
            <a:endParaRPr sz="819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CE1B6CB-89D9-4F5E-86E8-0D5169D6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ts val="905"/>
              </a:lnSpc>
              <a:buNone/>
            </a:pPr>
            <a:r>
              <a:rPr sz="748" b="1">
                <a:solidFill>
                  <a:srgbClr val="FFFFFF">
                    <a:alpha val="99000"/>
                  </a:srgbClr>
                </a:solidFill>
                <a:latin typeface="Inter"/>
                <a:ea typeface="Inter"/>
                <a:cs typeface="Inter"/>
              </a:rPr>
              <a:t>15</a:t>
            </a:r>
            <a:endParaRPr sz="748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D835643-0D5D-4E93-BB33-DEE684FA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</p:spPr>
      </p:sp>
    </p:spTree>
    <p:extLst>
      <p:ext uri="{BB962C8B-B14F-4D97-AF65-F5344CB8AC3E}">
        <p14:creationId xmlns:p14="http://schemas.microsoft.com/office/powerpoint/2010/main" val="14494559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2026-08-18T07:36:07.9760000Z</dcterms:created>
  <dcterms:modified xsi:type="dcterms:W3CDTF">2026-08-18T07:36:07.9760000Z</dcterms:modified>
</coreProperties>
</file>